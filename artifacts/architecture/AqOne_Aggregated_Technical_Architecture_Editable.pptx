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f4aa1f57624ed6" /><Relationship Type="http://schemas.openxmlformats.org/officeDocument/2006/relationships/extended-properties" Target="/docProps/app.xml" Id="Rd1c2bf7b1baf4c75" /><Relationship Type="http://schemas.openxmlformats.org/officeDocument/2006/relationships/officeDocument" Target="/ppt/presentation.xml" Id="R6c616372c20a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7fc6401a6546b4"/>
  </p:sldMasterIdLst>
  <p:notesMasterIdLst>
    <p:notesMasterId xmlns:r="http://schemas.openxmlformats.org/officeDocument/2006/relationships" r:id="R5d6095117d204271"/>
  </p:notesMasterIdLst>
  <p:sldIdLst>
    <p:sldId xmlns:r="http://schemas.openxmlformats.org/officeDocument/2006/relationships" id="256" r:id="R8e3d08f6467f45bb"/>
  </p:sldIdLst>
  <p:sldSz cx="49530000" cy="3238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c983673afc48cc" /><Relationship Type="http://schemas.openxmlformats.org/officeDocument/2006/relationships/slideMaster" Target="/ppt/slideMasters/slideMaster1.xml" Id="R9a7fc6401a6546b4" /><Relationship Type="http://schemas.openxmlformats.org/officeDocument/2006/relationships/notesMaster" Target="/ppt/notesMasters/notesMaster1.xml" Id="R5d6095117d204271" /><Relationship Type="http://schemas.openxmlformats.org/officeDocument/2006/relationships/presProps" Target="/ppt/presProps.xml" Id="Recbb840cf9b04248" /><Relationship Type="http://schemas.openxmlformats.org/officeDocument/2006/relationships/tableStyles" Target="/ppt/tableStyles.xml" Id="Rf0f344226e184e58" /><Relationship Type="http://schemas.openxmlformats.org/officeDocument/2006/relationships/slide" Target="/ppt/slides/slide1.xml" Id="R8e3d08f6467f45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9ccfa7c02f4c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931e3fb460437f" /><Relationship Type="http://schemas.openxmlformats.org/officeDocument/2006/relationships/notesMaster" Target="/ppt/notesMasters/notesMaster1.xml" Id="Rab18feca094b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docs/00_START_HERE.md; docs/02_LOAM_PACKET_SPEC.md; docs/03_PHONE_BUOY_WIFI.md; docs/04_INGEST_API.md; docs/05_PUBLIC_API.md; docs/06_DELIVERY_STATES.md; docs/07_SCOPE_OUT.md; docs/17_AI_EXPLAINED_SIMPLY.md; docs/45_AI_PROSPECTIVE_EVALUATION_AND_CLAIMS.md; docs/55_HYBRID_TRANSPORT_ARCHITECTURE_DECISION.md; Aqone_PRD (2).md; current backend, mobile, gateway and firmware implementation. The diagram distinguishes active software paths from optional or field-dependent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e6affab954c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a857b3af5d4c93" /><Relationship Type="http://schemas.openxmlformats.org/officeDocument/2006/relationships/slideLayout" Target="/ppt/slideLayouts/slideLayout1.xml" Id="Ree564d8e57cb43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564d8e57cb43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287e256934967" /><Relationship Type="http://schemas.openxmlformats.org/officeDocument/2006/relationships/notesSlide" Target="/ppt/notesSlides/notesSlide1.xml" Id="Rd44194c88af740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9" name="title">
            <a:extLst xmlns:a="http://schemas.openxmlformats.org/drawingml/2006/main">
              <a:ext uri="{FF2B5EF4-FFF2-40B4-BE49-F238E27FC236}">
                <a16:creationId xmlns:a16="http://schemas.microsoft.com/office/drawing/2014/main" id="{E008EF25-D2A4-4BF3-9D29-A6B0605C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143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AqOne Aggregated Technical Architecture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7B01EC-0170-48EC-BC4F-699C1875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Offline SOS transport, safety intelligence, storage, privacy controls and human response</a:t>
            </a:r>
          </a:p>
        </p:txBody>
      </p:sp>
      <p:sp>
        <p:nvSpPr>
          <p:cNvPr id="3" name="status">
            <a:extLst xmlns:a="http://schemas.openxmlformats.org/drawingml/2006/main">
              <a:ext uri="{FF2B5EF4-FFF2-40B4-BE49-F238E27FC236}">
                <a16:creationId xmlns:a16="http://schemas.microsoft.com/office/drawing/2014/main" id="{4C67DDBD-8562-421B-9C98-B4F84830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0" y="457200"/>
            <a:ext cx="11049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22860">
            <a:solidFill>
              <a:srgbClr val="C39A13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CURRENT IMPLEMENTATION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Software paths tested locally; public deployment and field validation remain pending</a:t>
            </a:r>
          </a:p>
        </p:txBody>
      </p:sp>
      <p:sp>
        <p:nvSpPr>
          <p:cNvPr id="4" name="phase-source">
            <a:extLst xmlns:a="http://schemas.openxmlformats.org/drawingml/2006/main">
              <a:ext uri="{FF2B5EF4-FFF2-40B4-BE49-F238E27FC236}">
                <a16:creationId xmlns:a16="http://schemas.microsoft.com/office/drawing/2014/main" id="{F3F41736-1ED5-425A-A962-35D6D11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907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AD2DD"/>
            </a:solidFill>
            <a:prstDash val="solid"/>
          </a:ln>
        </p:spPr>
      </p:sp>
      <p:sp>
        <p:nvSpPr>
          <p:cNvPr id="5" name="phase-source-label">
            <a:extLst xmlns:a="http://schemas.openxmlformats.org/drawingml/2006/main">
              <a:ext uri="{FF2B5EF4-FFF2-40B4-BE49-F238E27FC236}">
                <a16:creationId xmlns:a16="http://schemas.microsoft.com/office/drawing/2014/main" id="{3FE350EA-241B-4EE6-9C22-6696512B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05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SOURCE AND DATA</a:t>
            </a:r>
          </a:p>
        </p:txBody>
      </p:sp>
      <p:sp>
        <p:nvSpPr>
          <p:cNvPr id="6" name="phase-edge">
            <a:extLst xmlns:a="http://schemas.openxmlformats.org/drawingml/2006/main">
              <a:ext uri="{FF2B5EF4-FFF2-40B4-BE49-F238E27FC236}">
                <a16:creationId xmlns:a16="http://schemas.microsoft.com/office/drawing/2014/main" id="{DB30DA84-1511-43A4-A56A-BD86F494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907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7"/>
          </a:solidFill>
          <a:ln xmlns:a="http://schemas.openxmlformats.org/drawingml/2006/main" w="9525">
            <a:solidFill>
              <a:srgbClr val="CAD2DD"/>
            </a:solidFill>
            <a:prstDash val="solid"/>
          </a:ln>
        </p:spPr>
      </p:sp>
      <p:sp>
        <p:nvSpPr>
          <p:cNvPr id="7" name="phase-edge-label">
            <a:extLst xmlns:a="http://schemas.openxmlformats.org/drawingml/2006/main">
              <a:ext uri="{FF2B5EF4-FFF2-40B4-BE49-F238E27FC236}">
                <a16:creationId xmlns:a16="http://schemas.microsoft.com/office/drawing/2014/main" id="{43362B9A-00B4-415E-996D-F712A11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905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EDGE DEVICE</a:t>
            </a:r>
          </a:p>
        </p:txBody>
      </p:sp>
      <p:sp>
        <p:nvSpPr>
          <p:cNvPr id="8" name="phase-transport">
            <a:extLst xmlns:a="http://schemas.openxmlformats.org/drawingml/2006/main">
              <a:ext uri="{FF2B5EF4-FFF2-40B4-BE49-F238E27FC236}">
                <a16:creationId xmlns:a16="http://schemas.microsoft.com/office/drawing/2014/main" id="{A3AB44B2-ED20-49CA-8C66-B4914EED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0" y="17907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AD2DD"/>
            </a:solidFill>
            <a:prstDash val="solid"/>
          </a:ln>
        </p:spPr>
      </p:sp>
      <p:sp>
        <p:nvSpPr>
          <p:cNvPr id="9" name="phase-transport-label">
            <a:extLst xmlns:a="http://schemas.openxmlformats.org/drawingml/2006/main">
              <a:ext uri="{FF2B5EF4-FFF2-40B4-BE49-F238E27FC236}">
                <a16:creationId xmlns:a16="http://schemas.microsoft.com/office/drawing/2014/main" id="{ED705F1E-217F-48CF-9FF8-CDACFED2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875" y="1905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0" name="phase-backend">
            <a:extLst xmlns:a="http://schemas.openxmlformats.org/drawingml/2006/main">
              <a:ext uri="{FF2B5EF4-FFF2-40B4-BE49-F238E27FC236}">
                <a16:creationId xmlns:a16="http://schemas.microsoft.com/office/drawing/2014/main" id="{728C8711-7547-4704-944C-42E42050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0" y="17907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CAD2DD"/>
            </a:solidFill>
            <a:prstDash val="solid"/>
          </a:ln>
        </p:spPr>
      </p:sp>
      <p:sp>
        <p:nvSpPr>
          <p:cNvPr id="11" name="phase-backend-label">
            <a:extLst xmlns:a="http://schemas.openxmlformats.org/drawingml/2006/main">
              <a:ext uri="{FF2B5EF4-FFF2-40B4-BE49-F238E27FC236}">
                <a16:creationId xmlns:a16="http://schemas.microsoft.com/office/drawing/2014/main" id="{E080F9CC-3440-4C18-9A40-112FA5B8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375" y="1905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INGRESS AND STORAGE</a:t>
            </a:r>
          </a:p>
        </p:txBody>
      </p:sp>
      <p:sp>
        <p:nvSpPr>
          <p:cNvPr id="12" name="phase-decision">
            <a:extLst xmlns:a="http://schemas.openxmlformats.org/drawingml/2006/main">
              <a:ext uri="{FF2B5EF4-FFF2-40B4-BE49-F238E27FC236}">
                <a16:creationId xmlns:a16="http://schemas.microsoft.com/office/drawing/2014/main" id="{63BF1D28-F228-4E64-B141-3CEF64BD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0" y="17907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FB"/>
          </a:solidFill>
          <a:ln xmlns:a="http://schemas.openxmlformats.org/drawingml/2006/main" w="9525">
            <a:solidFill>
              <a:srgbClr val="CAD2DD"/>
            </a:solidFill>
            <a:prstDash val="solid"/>
          </a:ln>
        </p:spPr>
      </p:sp>
      <p:sp>
        <p:nvSpPr>
          <p:cNvPr id="13" name="phase-decision-label">
            <a:extLst xmlns:a="http://schemas.openxmlformats.org/drawingml/2006/main">
              <a:ext uri="{FF2B5EF4-FFF2-40B4-BE49-F238E27FC236}">
                <a16:creationId xmlns:a16="http://schemas.microsoft.com/office/drawing/2014/main" id="{E682AC0F-7010-40D1-BC1F-030F846F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75" y="1905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PROCESSING AND DECISION</a:t>
            </a:r>
          </a:p>
        </p:txBody>
      </p:sp>
      <p:sp>
        <p:nvSpPr>
          <p:cNvPr id="14" name="phase-output">
            <a:extLst xmlns:a="http://schemas.openxmlformats.org/drawingml/2006/main">
              <a:ext uri="{FF2B5EF4-FFF2-40B4-BE49-F238E27FC236}">
                <a16:creationId xmlns:a16="http://schemas.microsoft.com/office/drawing/2014/main" id="{163372C4-F991-49E1-AD58-2CB19E60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0" y="1790700"/>
            <a:ext cx="733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B"/>
          </a:solidFill>
          <a:ln xmlns:a="http://schemas.openxmlformats.org/drawingml/2006/main" w="9525">
            <a:solidFill>
              <a:srgbClr val="CAD2DD"/>
            </a:solidFill>
            <a:prstDash val="solid"/>
          </a:ln>
        </p:spPr>
      </p:sp>
      <p:sp>
        <p:nvSpPr>
          <p:cNvPr id="15" name="phase-output-label">
            <a:extLst xmlns:a="http://schemas.openxmlformats.org/drawingml/2006/main">
              <a:ext uri="{FF2B5EF4-FFF2-40B4-BE49-F238E27FC236}">
                <a16:creationId xmlns:a16="http://schemas.microsoft.com/office/drawing/2014/main" id="{9F9C6428-4CE9-469E-B523-523D15C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75" y="1905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OUTPUT AND HUMAN ACTION</a:t>
            </a:r>
          </a:p>
        </p:txBody>
      </p:sp>
      <p:sp>
        <p:nvSpPr>
          <p:cNvPr id="16" name="EMERGENCY SOS-lane">
            <a:extLst xmlns:a="http://schemas.openxmlformats.org/drawingml/2006/main">
              <a:ext uri="{FF2B5EF4-FFF2-40B4-BE49-F238E27FC236}">
                <a16:creationId xmlns:a16="http://schemas.microsoft.com/office/drawing/2014/main" id="{C1A2407F-AE9B-44BF-A494-B3A78BF7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0"/>
            <a:ext cx="489966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74A"/>
            </a:solidFill>
            <a:prstDash val="solid"/>
          </a:ln>
        </p:spPr>
      </p:sp>
      <p:sp>
        <p:nvSpPr>
          <p:cNvPr id="17" name="EMERGENCY SOS-tag">
            <a:extLst xmlns:a="http://schemas.openxmlformats.org/drawingml/2006/main">
              <a:ext uri="{FF2B5EF4-FFF2-40B4-BE49-F238E27FC236}">
                <a16:creationId xmlns:a16="http://schemas.microsoft.com/office/drawing/2014/main" id="{7E215E46-CA56-48F2-9A1B-B1C2E0C6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E1E5"/>
          </a:solidFill>
          <a:ln xmlns:a="http://schemas.openxmlformats.org/drawingml/2006/main" w="19050">
            <a:solidFill>
              <a:srgbClr val="C7374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37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374A"/>
                </a:solidFill>
                <a:latin typeface="Arial"/>
                <a:ea typeface="Arial"/>
                <a:cs typeface="Arial"/>
              </a:rPr>
              <a:t>EMERGENCY SOS</a:t>
            </a:r>
          </a:p>
        </p:txBody>
      </p:sp>
      <p:sp>
        <p:nvSpPr>
          <p:cNvPr id="18" name="EMERGENCY SOS-subtitle">
            <a:extLst xmlns:a="http://schemas.openxmlformats.org/drawingml/2006/main">
              <a:ext uri="{FF2B5EF4-FFF2-40B4-BE49-F238E27FC236}">
                <a16:creationId xmlns:a16="http://schemas.microsoft.com/office/drawing/2014/main" id="{C4177652-B315-488C-BD4D-4FF2BB01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Manual distress path</a:t>
            </a:r>
          </a:p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Independent of every AI model</a:t>
            </a:r>
          </a:p>
        </p:txBody>
      </p:sp>
      <p:sp>
        <p:nvSpPr>
          <p:cNvPr id="19" name="s-start">
            <a:extLst xmlns:a="http://schemas.openxmlformats.org/drawingml/2006/main">
              <a:ext uri="{FF2B5EF4-FFF2-40B4-BE49-F238E27FC236}">
                <a16:creationId xmlns:a16="http://schemas.microsoft.com/office/drawing/2014/main" id="{1A349393-494F-4CB4-A90F-35D06A3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33875"/>
            <a:ext cx="2476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5"/>
          </a:solidFill>
          <a:ln xmlns:a="http://schemas.openxmlformats.org/drawingml/2006/main" w="22860">
            <a:solidFill>
              <a:srgbClr val="C737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Fisher presses SOS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or pod button</a:t>
            </a:r>
          </a:p>
        </p:txBody>
      </p:sp>
      <p:sp>
        <p:nvSpPr>
          <p:cNvPr id="20" name="s-payload">
            <a:extLst xmlns:a="http://schemas.openxmlformats.org/drawingml/2006/main">
              <a:ext uri="{FF2B5EF4-FFF2-40B4-BE49-F238E27FC236}">
                <a16:creationId xmlns:a16="http://schemas.microsoft.com/office/drawing/2014/main" id="{4D1FB4F8-AA95-4886-ACFF-E5AEC308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2857500" cy="123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E1E5"/>
          </a:solidFill>
          <a:ln xmlns:a="http://schemas.openxmlformats.org/drawingml/2006/main" w="22860">
            <a:solidFill>
              <a:srgbClr val="C737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SOS payload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local_id, vessel_id, time, GPS, note</a:t>
            </a:r>
          </a:p>
        </p:txBody>
      </p:sp>
      <p:sp>
        <p:nvSpPr>
          <p:cNvPr id="21" name="s-internet">
            <a:extLst xmlns:a="http://schemas.openxmlformats.org/drawingml/2006/main">
              <a:ext uri="{FF2B5EF4-FFF2-40B4-BE49-F238E27FC236}">
                <a16:creationId xmlns:a16="http://schemas.microsoft.com/office/drawing/2014/main" id="{C1071E3F-8481-4852-9410-C9BDC982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2860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C737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Internet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available?</a:t>
            </a:r>
          </a:p>
        </p:txBody>
      </p:sp>
      <p:sp>
        <p:nvSpPr>
          <p:cNvPr id="22" name="s-direct-post">
            <a:extLst xmlns:a="http://schemas.openxmlformats.org/drawingml/2006/main">
              <a:ext uri="{FF2B5EF4-FFF2-40B4-BE49-F238E27FC236}">
                <a16:creationId xmlns:a16="http://schemas.microsoft.com/office/drawing/2014/main" id="{5350102A-22CE-4A79-8058-AACBC302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9337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Direct HTTPS</a:t>
            </a:r>
          </a:p>
          <a:p xmlns:a="http://schemas.openxmlformats.org/drawingml/2006/main">
            <a:pPr algn="ctr">
              <a:defRPr sz="16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POST /api/sos</a:t>
            </a:r>
          </a:p>
        </p:txBody>
      </p:sp>
      <p:sp>
        <p:nvSpPr>
          <p:cNvPr id="23" name="s-direct-out">
            <a:extLst xmlns:a="http://schemas.openxmlformats.org/drawingml/2006/main">
              <a:ext uri="{FF2B5EF4-FFF2-40B4-BE49-F238E27FC236}">
                <a16:creationId xmlns:a16="http://schemas.microsoft.com/office/drawing/2014/main" id="{FF5796A9-9A5D-4794-82E0-AF34F9A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200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65DB5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24" name="s-pod-reach">
            <a:extLst xmlns:a="http://schemas.openxmlformats.org/drawingml/2006/main">
              <a:ext uri="{FF2B5EF4-FFF2-40B4-BE49-F238E27FC236}">
                <a16:creationId xmlns:a16="http://schemas.microsoft.com/office/drawing/2014/main" id="{4CBDC8BC-7B23-4EB7-A44F-13477FCA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95750"/>
            <a:ext cx="22860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C737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reachable?</a:t>
            </a:r>
          </a:p>
        </p:txBody>
      </p:sp>
      <p:sp>
        <p:nvSpPr>
          <p:cNvPr id="25" name="s-outbox">
            <a:extLst xmlns:a="http://schemas.openxmlformats.org/drawingml/2006/main">
              <a:ext uri="{FF2B5EF4-FFF2-40B4-BE49-F238E27FC236}">
                <a16:creationId xmlns:a16="http://schemas.microsoft.com/office/drawing/2014/main" id="{DCF1C586-78E1-4DBD-BAE5-4E514311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981700"/>
            <a:ext cx="2571750" cy="11239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C737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Phone SQLite outbox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State: SAVED; retry later</a:t>
            </a:r>
          </a:p>
        </p:txBody>
      </p:sp>
      <p:sp>
        <p:nvSpPr>
          <p:cNvPr id="26" name="s-retry-end">
            <a:extLst xmlns:a="http://schemas.openxmlformats.org/drawingml/2006/main">
              <a:ext uri="{FF2B5EF4-FFF2-40B4-BE49-F238E27FC236}">
                <a16:creationId xmlns:a16="http://schemas.microsoft.com/office/drawing/2014/main" id="{CE09F5D2-0B82-4F75-BC42-7F9F66AC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6153150"/>
            <a:ext cx="2238375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C737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Wait for a valid path</a:t>
            </a:r>
          </a:p>
        </p:txBody>
      </p:sp>
      <p:sp>
        <p:nvSpPr>
          <p:cNvPr id="27" name="s-pod-queue">
            <a:extLst xmlns:a="http://schemas.openxmlformats.org/drawingml/2006/main">
              <a:ext uri="{FF2B5EF4-FFF2-40B4-BE49-F238E27FC236}">
                <a16:creationId xmlns:a16="http://schemas.microsoft.com/office/drawing/2014/main" id="{B0DA8917-DC63-4300-9226-FD2BDCCA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38625"/>
            <a:ext cx="2714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2286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Boat pod queues first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Flash queue; state: RELAYED</a:t>
            </a:r>
          </a:p>
        </p:txBody>
      </p:sp>
      <p:sp>
        <p:nvSpPr>
          <p:cNvPr id="28" name="s-lora">
            <a:extLst xmlns:a="http://schemas.openxmlformats.org/drawingml/2006/main">
              <a:ext uri="{FF2B5EF4-FFF2-40B4-BE49-F238E27FC236}">
                <a16:creationId xmlns:a16="http://schemas.microsoft.com/office/drawing/2014/main" id="{E710A4E4-A3A8-49D2-9935-3D2EBC19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75" y="4095750"/>
            <a:ext cx="22860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Direct LoRa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reaches shore?</a:t>
            </a:r>
          </a:p>
        </p:txBody>
      </p:sp>
      <p:sp>
        <p:nvSpPr>
          <p:cNvPr id="29" name="s-relay">
            <a:extLst xmlns:a="http://schemas.openxmlformats.org/drawingml/2006/main">
              <a:ext uri="{FF2B5EF4-FFF2-40B4-BE49-F238E27FC236}">
                <a16:creationId xmlns:a16="http://schemas.microsoft.com/office/drawing/2014/main" id="{EB34AE51-8146-422D-8951-EB134853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5981700"/>
            <a:ext cx="2714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22860">
            <a:solidFill>
              <a:srgbClr val="177A78"/>
            </a:solidFill>
            <a:prstDash val="dash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Optional relay buoy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TTL and seen-set forwarding</a:t>
            </a:r>
          </a:p>
        </p:txBody>
      </p:sp>
      <p:sp>
        <p:nvSpPr>
          <p:cNvPr id="30" name="s-gateway">
            <a:extLst xmlns:a="http://schemas.openxmlformats.org/drawingml/2006/main">
              <a:ext uri="{FF2B5EF4-FFF2-40B4-BE49-F238E27FC236}">
                <a16:creationId xmlns:a16="http://schemas.microsoft.com/office/drawing/2014/main" id="{365769E6-C971-4DD3-80F3-281670B6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0" y="4238625"/>
            <a:ext cx="2714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2286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Tall shore gateway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Verify HMAC; map identity</a:t>
            </a:r>
          </a:p>
        </p:txBody>
      </p:sp>
      <p:sp>
        <p:nvSpPr>
          <p:cNvPr id="31" name="s-https">
            <a:extLst xmlns:a="http://schemas.openxmlformats.org/drawingml/2006/main">
              <a:ext uri="{FF2B5EF4-FFF2-40B4-BE49-F238E27FC236}">
                <a16:creationId xmlns:a16="http://schemas.microsoft.com/office/drawing/2014/main" id="{0BF4602E-5CB8-43AB-9F80-E9447476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0" y="4238625"/>
            <a:ext cx="2714625" cy="123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Authenticated HTTPS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Signed frame becomes ingest request</a:t>
            </a:r>
          </a:p>
        </p:txBody>
      </p:sp>
      <p:sp>
        <p:nvSpPr>
          <p:cNvPr id="32" name="s-direct-in">
            <a:extLst xmlns:a="http://schemas.openxmlformats.org/drawingml/2006/main">
              <a:ext uri="{FF2B5EF4-FFF2-40B4-BE49-F238E27FC236}">
                <a16:creationId xmlns:a16="http://schemas.microsoft.com/office/drawing/2014/main" id="{0D7EE312-4EE0-4F59-98DE-C6DD7CF0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25" y="3390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65DB5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33" name="s-backend">
            <a:extLst xmlns:a="http://schemas.openxmlformats.org/drawingml/2006/main">
              <a:ext uri="{FF2B5EF4-FFF2-40B4-BE49-F238E27FC236}">
                <a16:creationId xmlns:a16="http://schemas.microsoft.com/office/drawing/2014/main" id="{1FDAB33C-CCF7-4CA8-AA52-61936882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0" y="4238625"/>
            <a:ext cx="2714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FastAPI intake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Validate, deduplicate, persist</a:t>
            </a:r>
          </a:p>
        </p:txBody>
      </p:sp>
      <p:sp>
        <p:nvSpPr>
          <p:cNvPr id="34" name="s-store">
            <a:extLst xmlns:a="http://schemas.openxmlformats.org/drawingml/2006/main">
              <a:ext uri="{FF2B5EF4-FFF2-40B4-BE49-F238E27FC236}">
                <a16:creationId xmlns:a16="http://schemas.microsoft.com/office/drawing/2014/main" id="{62A65D4D-8771-4F5C-8710-7CB3F13F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0" y="4143375"/>
            <a:ext cx="2714625" cy="1428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SOS, delivery state, audit trail</a:t>
            </a:r>
          </a:p>
        </p:txBody>
      </p:sp>
      <p:sp>
        <p:nvSpPr>
          <p:cNvPr id="35" name="s-dashboard">
            <a:extLst xmlns:a="http://schemas.openxmlformats.org/drawingml/2006/main">
              <a:ext uri="{FF2B5EF4-FFF2-40B4-BE49-F238E27FC236}">
                <a16:creationId xmlns:a16="http://schemas.microsoft.com/office/drawing/2014/main" id="{21264855-B058-43E6-87A9-00738C8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0" y="4238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MDRRMO dashboard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Protected REST poll every 3 seconds</a:t>
            </a:r>
          </a:p>
        </p:txBody>
      </p:sp>
      <p:sp>
        <p:nvSpPr>
          <p:cNvPr id="36" name="s-ack">
            <a:extLst xmlns:a="http://schemas.openxmlformats.org/drawingml/2006/main">
              <a:ext uri="{FF2B5EF4-FFF2-40B4-BE49-F238E27FC236}">
                <a16:creationId xmlns:a16="http://schemas.microsoft.com/office/drawing/2014/main" id="{D8566941-137A-4550-88EC-4B8EE6E0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75" y="4238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EAC8"/>
          </a:solidFill>
          <a:ln xmlns:a="http://schemas.openxmlformats.org/drawingml/2006/main" w="22860">
            <a:solidFill>
              <a:srgbClr val="B679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Responder acknowledges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ETA, note and response status</a:t>
            </a:r>
          </a:p>
        </p:txBody>
      </p:sp>
      <p:sp>
        <p:nvSpPr>
          <p:cNvPr id="37" name="s-return">
            <a:extLst xmlns:a="http://schemas.openxmlformats.org/drawingml/2006/main">
              <a:ext uri="{FF2B5EF4-FFF2-40B4-BE49-F238E27FC236}">
                <a16:creationId xmlns:a16="http://schemas.microsoft.com/office/drawing/2014/main" id="{F6F8AFCD-72EB-410B-B32C-3D66B840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0" y="4095750"/>
            <a:ext cx="22860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Return path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available?</a:t>
            </a:r>
          </a:p>
        </p:txBody>
      </p:sp>
      <p:sp>
        <p:nvSpPr>
          <p:cNvPr id="38" name="s-ack-data">
            <a:extLst xmlns:a="http://schemas.openxmlformats.org/drawingml/2006/main">
              <a:ext uri="{FF2B5EF4-FFF2-40B4-BE49-F238E27FC236}">
                <a16:creationId xmlns:a16="http://schemas.microsoft.com/office/drawing/2014/main" id="{3CDE6075-61F4-4230-B902-FCCBDA31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0" y="3257550"/>
            <a:ext cx="2857500" cy="123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Ack + ETA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Phone state: ACKNOWLEDGED</a:t>
            </a:r>
          </a:p>
        </p:txBody>
      </p:sp>
      <p:sp>
        <p:nvSpPr>
          <p:cNvPr id="39" name="s-last-state">
            <a:extLst xmlns:a="http://schemas.openxmlformats.org/drawingml/2006/main">
              <a:ext uri="{FF2B5EF4-FFF2-40B4-BE49-F238E27FC236}">
                <a16:creationId xmlns:a16="http://schemas.microsoft.com/office/drawing/2014/main" id="{AB54B601-7450-494A-9C7B-C3ABE5E2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0" y="5715000"/>
            <a:ext cx="2857500" cy="123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9213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Last proven phone state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No invented delivery or acknowledgement</a:t>
            </a:r>
          </a:p>
        </p:txBody>
      </p:sp>
      <p:sp>
        <p:nvSpPr>
          <p:cNvPr id="40" name="s-end">
            <a:extLst xmlns:a="http://schemas.openxmlformats.org/drawingml/2006/main">
              <a:ext uri="{FF2B5EF4-FFF2-40B4-BE49-F238E27FC236}">
                <a16:creationId xmlns:a16="http://schemas.microsoft.com/office/drawing/2014/main" id="{79099B72-E9E3-4C62-86DC-40FADD54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0" y="3448050"/>
            <a:ext cx="23336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Incident response continues</a:t>
            </a:r>
          </a:p>
        </p:txBody>
      </p:sp>
      <p:sp>
        <p:nvSpPr>
          <p:cNvPr id="41" name="s-no-return-end">
            <a:extLst xmlns:a="http://schemas.openxmlformats.org/drawingml/2006/main">
              <a:ext uri="{FF2B5EF4-FFF2-40B4-BE49-F238E27FC236}">
                <a16:creationId xmlns:a16="http://schemas.microsoft.com/office/drawing/2014/main" id="{535D9865-24C6-476A-B668-8D17B98A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0" y="5905500"/>
            <a:ext cx="23336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Reconcile later</a:t>
            </a:r>
          </a:p>
        </p:txBody>
      </p:sp>
      <p:cxnSp>
        <p:nvCxnSpPr>
          <p:cNvPr id="290" name="s-1"/>
          <p:cNvCxnSpPr>
            <a:stCxn xmlns:a="http://schemas.openxmlformats.org/drawingml/2006/main" id="19" idx="6"/>
            <a:endCxn xmlns:a="http://schemas.openxmlformats.org/drawingml/2006/main" id="20" idx="5"/>
          </p:cNvCxnSpPr>
          <p:nvPr/>
        </p:nvCxnSpPr>
        <p:spPr>
          <a:xfrm xmlns:a="http://schemas.openxmlformats.org/drawingml/2006/main">
            <a:off x="5429250" y="4857750"/>
            <a:ext cx="631031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C737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1" name="s-2"/>
          <p:cNvCxnSpPr>
            <a:stCxn xmlns:a="http://schemas.openxmlformats.org/drawingml/2006/main" id="20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08219" y="4857750"/>
            <a:ext cx="631031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C737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2" name="s-yes-internet"/>
          <p:cNvCxnSpPr>
            <a:stCxn xmlns:a="http://schemas.openxmlformats.org/drawingml/2006/main" id="21" idx="0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10382250" y="3429000"/>
            <a:ext cx="1619250" cy="6667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3" name="s-direct-id"/>
          <p:cNvCxnSpPr>
            <a:stCxn xmlns:a="http://schemas.openxmlformats.org/drawingml/2006/main" id="22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14478000" y="3429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4" name="s-no-internet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1525250" y="4857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C737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5" name="s-no-pod"/>
          <p:cNvCxnSpPr>
            <a:stCxn xmlns:a="http://schemas.openxmlformats.org/drawingml/2006/main" id="24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3144500" y="5619750"/>
            <a:ext cx="4762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C737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6" name="s-retry"/>
          <p:cNvCxnSpPr>
            <a:stCxn xmlns:a="http://schemas.openxmlformats.org/drawingml/2006/main" id="25" idx="4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14478000" y="65436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C7374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97" name="s-yes-pod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4287500" y="4857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C737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8" name="s-queue-lora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764125" y="4857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A7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9" name="s-yes-lora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0526375" y="4857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00" name="s-no-lora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9383375" y="5619750"/>
            <a:ext cx="261938" cy="36195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01" name="s-relay-gateway"/>
          <p:cNvCxnSpPr>
            <a:stCxn xmlns:a="http://schemas.openxmlformats.org/drawingml/2006/main" id="29" idx="3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21002625" y="5476875"/>
            <a:ext cx="1785938" cy="1066800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02" name="s-gateway-https"/>
          <p:cNvCxnSpPr>
            <a:stCxn xmlns:a="http://schemas.openxmlformats.org/drawingml/2006/main" id="30" idx="3"/>
            <a:endCxn xmlns:a="http://schemas.openxmlformats.org/drawingml/2006/main" id="31" idx="5"/>
          </p:cNvCxnSpPr>
          <p:nvPr/>
        </p:nvCxnSpPr>
        <p:spPr>
          <a:xfrm xmlns:a="http://schemas.openxmlformats.org/drawingml/2006/main">
            <a:off x="24145875" y="4857750"/>
            <a:ext cx="583406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3" name="s-https-backend"/>
          <p:cNvCxnSpPr>
            <a:stCxn xmlns:a="http://schemas.openxmlformats.org/drawingml/2006/main" id="31" idx="2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27134344" y="4857750"/>
            <a:ext cx="583406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4" name="s-direct-continue"/>
          <p:cNvCxnSpPr>
            <a:stCxn xmlns:a="http://schemas.openxmlformats.org/drawingml/2006/main" id="32" idx="6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25841325" y="3619500"/>
            <a:ext cx="3233738" cy="61912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5" name="s-backend-store"/>
          <p:cNvCxnSpPr>
            <a:stCxn xmlns:a="http://schemas.openxmlformats.org/drawingml/2006/main" id="33" idx="3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30432375" y="4857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6" name="s-store-dashboard"/>
          <p:cNvCxnSpPr>
            <a:stCxn xmlns:a="http://schemas.openxmlformats.org/drawingml/2006/main" id="34" idx="4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3575625" y="4857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C737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7" name="s-dashboard-ack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36861750" y="4857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C7374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8" name="s-ack-return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40147875" y="4857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-return-yes"/>
          <p:cNvCxnSpPr>
            <a:stCxn xmlns:a="http://schemas.openxmlformats.org/drawingml/2006/main" id="37" idx="3"/>
            <a:endCxn xmlns:a="http://schemas.openxmlformats.org/drawingml/2006/main" id="38" idx="5"/>
          </p:cNvCxnSpPr>
          <p:nvPr/>
        </p:nvCxnSpPr>
        <p:spPr>
          <a:xfrm xmlns:a="http://schemas.openxmlformats.org/drawingml/2006/main" flipV="1">
            <a:off x="42862500" y="3876675"/>
            <a:ext cx="631031" cy="981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-return-no"/>
          <p:cNvCxnSpPr>
            <a:stCxn xmlns:a="http://schemas.openxmlformats.org/drawingml/2006/main" id="37" idx="2"/>
            <a:endCxn xmlns:a="http://schemas.openxmlformats.org/drawingml/2006/main" id="39" idx="5"/>
          </p:cNvCxnSpPr>
          <p:nvPr/>
        </p:nvCxnSpPr>
        <p:spPr>
          <a:xfrm xmlns:a="http://schemas.openxmlformats.org/drawingml/2006/main">
            <a:off x="41719500" y="5619750"/>
            <a:ext cx="1774031" cy="7143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30480">
            <a:solidFill>
              <a:srgbClr val="177E8D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11" name="s-ack-end"/>
          <p:cNvCxnSpPr>
            <a:stCxn xmlns:a="http://schemas.openxmlformats.org/drawingml/2006/main" id="38" idx="2"/>
            <a:endCxn xmlns:a="http://schemas.openxmlformats.org/drawingml/2006/main" id="40" idx="2"/>
          </p:cNvCxnSpPr>
          <p:nvPr/>
        </p:nvCxnSpPr>
        <p:spPr>
          <a:xfrm xmlns:a="http://schemas.openxmlformats.org/drawingml/2006/main">
            <a:off x="46041469" y="3876675"/>
            <a:ext cx="535781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-last-end"/>
          <p:cNvCxnSpPr>
            <a:stCxn xmlns:a="http://schemas.openxmlformats.org/drawingml/2006/main" id="39" idx="2"/>
            <a:endCxn xmlns:a="http://schemas.openxmlformats.org/drawingml/2006/main" id="41" idx="2"/>
          </p:cNvCxnSpPr>
          <p:nvPr/>
        </p:nvCxnSpPr>
        <p:spPr>
          <a:xfrm xmlns:a="http://schemas.openxmlformats.org/drawingml/2006/main">
            <a:off x="46041469" y="6334125"/>
            <a:ext cx="535781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65" name="s-l1">
            <a:extLst xmlns:a="http://schemas.openxmlformats.org/drawingml/2006/main">
              <a:ext uri="{FF2B5EF4-FFF2-40B4-BE49-F238E27FC236}">
                <a16:creationId xmlns:a16="http://schemas.microsoft.com/office/drawing/2014/main" id="{949D1313-2A2D-4AFA-8E1A-589C1C53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8671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7374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C7374A"/>
                </a:solidFill>
                <a:latin typeface="Arial"/>
                <a:ea typeface="Arial"/>
                <a:cs typeface="Arial"/>
              </a:rPr>
              <a:t>WiFi HTTP</a:t>
            </a:r>
          </a:p>
        </p:txBody>
      </p:sp>
      <p:sp>
        <p:nvSpPr>
          <p:cNvPr id="66" name="s-l2">
            <a:extLst xmlns:a="http://schemas.openxmlformats.org/drawingml/2006/main">
              <a:ext uri="{FF2B5EF4-FFF2-40B4-BE49-F238E27FC236}">
                <a16:creationId xmlns:a16="http://schemas.microsoft.com/office/drawing/2014/main" id="{0AFB22A8-B02E-4CE0-9C83-3D592C38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25" y="38671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Signed LoAM</a:t>
            </a:r>
          </a:p>
        </p:txBody>
      </p:sp>
      <p:sp>
        <p:nvSpPr>
          <p:cNvPr id="67" name="s-l3">
            <a:extLst xmlns:a="http://schemas.openxmlformats.org/drawingml/2006/main">
              <a:ext uri="{FF2B5EF4-FFF2-40B4-BE49-F238E27FC236}">
                <a16:creationId xmlns:a16="http://schemas.microsoft.com/office/drawing/2014/main" id="{CCFBDFA4-D104-4FE0-82FF-8B35DBEB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09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68" name="s-l4">
            <a:extLst xmlns:a="http://schemas.openxmlformats.org/drawingml/2006/main">
              <a:ext uri="{FF2B5EF4-FFF2-40B4-BE49-F238E27FC236}">
                <a16:creationId xmlns:a16="http://schemas.microsoft.com/office/drawing/2014/main" id="{005B52F9-0026-4A4A-A77A-63E9116F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24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7374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C7374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69" name="s-l5">
            <a:extLst xmlns:a="http://schemas.openxmlformats.org/drawingml/2006/main">
              <a:ext uri="{FF2B5EF4-FFF2-40B4-BE49-F238E27FC236}">
                <a16:creationId xmlns:a16="http://schemas.microsoft.com/office/drawing/2014/main" id="{04A413DA-650E-46BD-8450-F5FC9A2D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5667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7374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C7374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70" name="s-l6">
            <a:extLst xmlns:a="http://schemas.openxmlformats.org/drawingml/2006/main">
              <a:ext uri="{FF2B5EF4-FFF2-40B4-BE49-F238E27FC236}">
                <a16:creationId xmlns:a16="http://schemas.microsoft.com/office/drawing/2014/main" id="{13BF7048-4C99-4F8B-A338-EF8256DE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524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7374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C7374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71" name="s-l7">
            <a:extLst xmlns:a="http://schemas.openxmlformats.org/drawingml/2006/main">
              <a:ext uri="{FF2B5EF4-FFF2-40B4-BE49-F238E27FC236}">
                <a16:creationId xmlns:a16="http://schemas.microsoft.com/office/drawing/2014/main" id="{2F336B58-456B-41A4-AD90-184F3187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4950" y="4524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72" name="s-l8">
            <a:extLst xmlns:a="http://schemas.openxmlformats.org/drawingml/2006/main">
              <a:ext uri="{FF2B5EF4-FFF2-40B4-BE49-F238E27FC236}">
                <a16:creationId xmlns:a16="http://schemas.microsoft.com/office/drawing/2014/main" id="{D5E82E7A-4BAE-45CA-967C-FC244010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5667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73" name="s-l9">
            <a:extLst xmlns:a="http://schemas.openxmlformats.org/drawingml/2006/main">
              <a:ext uri="{FF2B5EF4-FFF2-40B4-BE49-F238E27FC236}">
                <a16:creationId xmlns:a16="http://schemas.microsoft.com/office/drawing/2014/main" id="{5174B099-97B2-4C73-8EEC-A7993C53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0550" y="3448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7E8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7E8D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74" name="s-l10">
            <a:extLst xmlns:a="http://schemas.openxmlformats.org/drawingml/2006/main">
              <a:ext uri="{FF2B5EF4-FFF2-40B4-BE49-F238E27FC236}">
                <a16:creationId xmlns:a16="http://schemas.microsoft.com/office/drawing/2014/main" id="{5112A953-42DB-4231-99E6-5B6862B3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7125" y="5667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7E8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7E8D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75" name="s-id-note">
            <a:extLst xmlns:a="http://schemas.openxmlformats.org/drawingml/2006/main">
              <a:ext uri="{FF2B5EF4-FFF2-40B4-BE49-F238E27FC236}">
                <a16:creationId xmlns:a16="http://schemas.microsoft.com/office/drawing/2014/main" id="{D3A2198D-AD2F-4504-A030-A9E286BE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0" y="2857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S1 continues the direct internet path without crossing the offline path</a:t>
            </a:r>
          </a:p>
        </p:txBody>
      </p:sp>
      <p:sp>
        <p:nvSpPr>
          <p:cNvPr id="76" name="ENVIRONMENTAL WARNING-lane">
            <a:extLst xmlns:a="http://schemas.openxmlformats.org/drawingml/2006/main">
              <a:ext uri="{FF2B5EF4-FFF2-40B4-BE49-F238E27FC236}">
                <a16:creationId xmlns:a16="http://schemas.microsoft.com/office/drawing/2014/main" id="{F69E568C-B599-40A2-906B-A362FB30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810500"/>
            <a:ext cx="489966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251AA"/>
            </a:solidFill>
            <a:prstDash val="solid"/>
          </a:ln>
        </p:spPr>
      </p:sp>
      <p:sp>
        <p:nvSpPr>
          <p:cNvPr id="77" name="ENVIRONMENTAL WARNING-tag">
            <a:extLst xmlns:a="http://schemas.openxmlformats.org/drawingml/2006/main">
              <a:ext uri="{FF2B5EF4-FFF2-40B4-BE49-F238E27FC236}">
                <a16:creationId xmlns:a16="http://schemas.microsoft.com/office/drawing/2014/main" id="{C4FAF597-228D-4A64-B3EB-816F920A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200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2FA"/>
          </a:solidFill>
          <a:ln xmlns:a="http://schemas.openxmlformats.org/drawingml/2006/main" w="19050">
            <a:solidFill>
              <a:srgbClr val="7251A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251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251AA"/>
                </a:solidFill>
                <a:latin typeface="Arial"/>
                <a:ea typeface="Arial"/>
                <a:cs typeface="Arial"/>
              </a:rPr>
              <a:t>ENVIRONMENTAL WARNING</a:t>
            </a:r>
          </a:p>
        </p:txBody>
      </p:sp>
      <p:sp>
        <p:nvSpPr>
          <p:cNvPr id="78" name="ENVIRONMENTAL WARNING-subtitle">
            <a:extLst xmlns:a="http://schemas.openxmlformats.org/drawingml/2006/main">
              <a:ext uri="{FF2B5EF4-FFF2-40B4-BE49-F238E27FC236}">
                <a16:creationId xmlns:a16="http://schemas.microsoft.com/office/drawing/2014/main" id="{1B2E0B12-6703-44E8-8828-B7FDBBB6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1540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Sensor and forecast inputs</a:t>
            </a:r>
          </a:p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Advisory only</a:t>
            </a:r>
          </a:p>
        </p:txBody>
      </p:sp>
      <p:sp>
        <p:nvSpPr>
          <p:cNvPr id="79" name="e-start">
            <a:extLst xmlns:a="http://schemas.openxmlformats.org/drawingml/2006/main">
              <a:ext uri="{FF2B5EF4-FFF2-40B4-BE49-F238E27FC236}">
                <a16:creationId xmlns:a16="http://schemas.microsoft.com/office/drawing/2014/main" id="{A574CA77-811E-4AB8-96B4-36C2D554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477375"/>
            <a:ext cx="2476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2FA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Sensor cadence or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dashboard refresh</a:t>
            </a:r>
          </a:p>
        </p:txBody>
      </p:sp>
      <p:sp>
        <p:nvSpPr>
          <p:cNvPr id="80" name="e-input">
            <a:extLst xmlns:a="http://schemas.openxmlformats.org/drawingml/2006/main">
              <a:ext uri="{FF2B5EF4-FFF2-40B4-BE49-F238E27FC236}">
                <a16:creationId xmlns:a16="http://schemas.microsoft.com/office/drawing/2014/main" id="{E86E0730-29F2-4F2C-8233-023E57DF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334500"/>
            <a:ext cx="3048000" cy="1333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DE2FA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Environmental inputs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Pressure, current, health, weather, marine</a:t>
            </a:r>
          </a:p>
        </p:txBody>
      </p:sp>
      <p:sp>
        <p:nvSpPr>
          <p:cNvPr id="81" name="e-normalize">
            <a:extLst xmlns:a="http://schemas.openxmlformats.org/drawingml/2006/main">
              <a:ext uri="{FF2B5EF4-FFF2-40B4-BE49-F238E27FC236}">
                <a16:creationId xmlns:a16="http://schemas.microsoft.com/office/drawing/2014/main" id="{57BB6CFC-A336-446B-8E7D-634F41C4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9382125"/>
            <a:ext cx="2714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Ingest and normalize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Attach source, time and location</a:t>
            </a:r>
          </a:p>
        </p:txBody>
      </p:sp>
      <p:sp>
        <p:nvSpPr>
          <p:cNvPr id="82" name="e-quality">
            <a:extLst xmlns:a="http://schemas.openxmlformats.org/drawingml/2006/main">
              <a:ext uri="{FF2B5EF4-FFF2-40B4-BE49-F238E27FC236}">
                <a16:creationId xmlns:a16="http://schemas.microsoft.com/office/drawing/2014/main" id="{30774834-F92E-4269-BF52-14923538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239250"/>
            <a:ext cx="22860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Fresh and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reliable?</a:t>
            </a:r>
          </a:p>
        </p:txBody>
      </p:sp>
      <p:sp>
        <p:nvSpPr>
          <p:cNvPr id="83" name="e-stale">
            <a:extLst xmlns:a="http://schemas.openxmlformats.org/drawingml/2006/main">
              <a:ext uri="{FF2B5EF4-FFF2-40B4-BE49-F238E27FC236}">
                <a16:creationId xmlns:a16="http://schemas.microsoft.com/office/drawing/2014/main" id="{CAA2D24B-BF20-4E9B-8D58-EB8A777D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1125200"/>
            <a:ext cx="2667000" cy="11239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9440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Unknown or stale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Do not claim a safe condition</a:t>
            </a:r>
          </a:p>
        </p:txBody>
      </p:sp>
      <p:sp>
        <p:nvSpPr>
          <p:cNvPr id="84" name="e-stale-end">
            <a:extLst xmlns:a="http://schemas.openxmlformats.org/drawingml/2006/main">
              <a:ext uri="{FF2B5EF4-FFF2-40B4-BE49-F238E27FC236}">
                <a16:creationId xmlns:a16="http://schemas.microsoft.com/office/drawing/2014/main" id="{68B044AE-9A14-4F86-A718-528A8F54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11296650"/>
            <a:ext cx="2238375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Wait for better data</a:t>
            </a:r>
          </a:p>
        </p:txBody>
      </p:sp>
      <p:sp>
        <p:nvSpPr>
          <p:cNvPr id="85" name="e-squall">
            <a:extLst xmlns:a="http://schemas.openxmlformats.org/drawingml/2006/main">
              <a:ext uri="{FF2B5EF4-FFF2-40B4-BE49-F238E27FC236}">
                <a16:creationId xmlns:a16="http://schemas.microsoft.com/office/drawing/2014/main" id="{0F7071B5-B2C7-4443-9038-215D312A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8572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2FA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Backend squall nowcast</a:t>
            </a:r>
          </a:p>
          <a:p xmlns:a="http://schemas.openxmlformats.org/drawingml/2006/main">
            <a:pPr algn="ctr">
              <a:defRPr sz="16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Pressure and forecast features</a:t>
            </a:r>
          </a:p>
        </p:txBody>
      </p:sp>
      <p:sp>
        <p:nvSpPr>
          <p:cNvPr id="86" name="e-danger">
            <a:extLst xmlns:a="http://schemas.openxmlformats.org/drawingml/2006/main">
              <a:ext uri="{FF2B5EF4-FFF2-40B4-BE49-F238E27FC236}">
                <a16:creationId xmlns:a16="http://schemas.microsoft.com/office/drawing/2014/main" id="{2447BFEA-7661-4D0C-977B-BC81288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01917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2FA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Browser danger-zone GBDT</a:t>
            </a:r>
          </a:p>
          <a:p xmlns:a="http://schemas.openxmlformats.org/drawingml/2006/main">
            <a:pPr algn="ctr">
              <a:defRPr sz="16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Local map features</a:t>
            </a:r>
          </a:p>
        </p:txBody>
      </p:sp>
      <p:sp>
        <p:nvSpPr>
          <p:cNvPr id="87" name="e-combine">
            <a:extLst xmlns:a="http://schemas.openxmlformats.org/drawingml/2006/main">
              <a:ext uri="{FF2B5EF4-FFF2-40B4-BE49-F238E27FC236}">
                <a16:creationId xmlns:a16="http://schemas.microsoft.com/office/drawing/2014/main" id="{BD847310-40D1-4B2B-A64F-96520DF9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0" y="93821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DE2FA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Combine model evidence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Keep source and age visible</a:t>
            </a:r>
          </a:p>
        </p:txBody>
      </p:sp>
      <p:sp>
        <p:nvSpPr>
          <p:cNvPr id="88" name="e-official">
            <a:extLst xmlns:a="http://schemas.openxmlformats.org/drawingml/2006/main">
              <a:ext uri="{FF2B5EF4-FFF2-40B4-BE49-F238E27FC236}">
                <a16:creationId xmlns:a16="http://schemas.microsoft.com/office/drawing/2014/main" id="{8646CEB1-860E-4E76-83C2-F6517279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0" y="9239250"/>
            <a:ext cx="24765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8784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Official or human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warning exists?</a:t>
            </a:r>
          </a:p>
        </p:txBody>
      </p:sp>
      <p:sp>
        <p:nvSpPr>
          <p:cNvPr id="89" name="e-precedence">
            <a:extLst xmlns:a="http://schemas.openxmlformats.org/drawingml/2006/main">
              <a:ext uri="{FF2B5EF4-FFF2-40B4-BE49-F238E27FC236}">
                <a16:creationId xmlns:a16="http://schemas.microsoft.com/office/drawing/2014/main" id="{0F5E73FF-1031-4C3F-A871-B9E1130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849630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EAC8"/>
          </a:solidFill>
          <a:ln xmlns:a="http://schemas.openxmlformats.org/drawingml/2006/main" w="22860">
            <a:solidFill>
              <a:srgbClr val="B679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Use official or human warning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Overrides model advisory</a:t>
            </a:r>
          </a:p>
        </p:txBody>
      </p:sp>
      <p:sp>
        <p:nvSpPr>
          <p:cNvPr id="90" name="e-candidate">
            <a:extLst xmlns:a="http://schemas.openxmlformats.org/drawingml/2006/main">
              <a:ext uri="{FF2B5EF4-FFF2-40B4-BE49-F238E27FC236}">
                <a16:creationId xmlns:a16="http://schemas.microsoft.com/office/drawing/2014/main" id="{C51F4306-F7FA-4561-A476-A258BD7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1047750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2FA"/>
          </a:solidFill>
          <a:ln xmlns:a="http://schemas.openxmlformats.org/drawingml/2006/main" w="22860">
            <a:solidFill>
              <a:srgbClr val="7251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Model advisory candidate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No autonomous emergency action</a:t>
            </a:r>
          </a:p>
        </p:txBody>
      </p:sp>
      <p:sp>
        <p:nvSpPr>
          <p:cNvPr id="91" name="e-publish">
            <a:extLst xmlns:a="http://schemas.openxmlformats.org/drawingml/2006/main">
              <a:ext uri="{FF2B5EF4-FFF2-40B4-BE49-F238E27FC236}">
                <a16:creationId xmlns:a16="http://schemas.microsoft.com/office/drawing/2014/main" id="{6F4F3C0E-BCEA-4819-8DCB-8901469B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93821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Publish advisory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Record source, age, confidence</a:t>
            </a:r>
          </a:p>
        </p:txBody>
      </p:sp>
      <p:sp>
        <p:nvSpPr>
          <p:cNvPr id="92" name="e-store">
            <a:extLst xmlns:a="http://schemas.openxmlformats.org/drawingml/2006/main">
              <a:ext uri="{FF2B5EF4-FFF2-40B4-BE49-F238E27FC236}">
                <a16:creationId xmlns:a16="http://schemas.microsoft.com/office/drawing/2014/main" id="{2E9B20B6-9CD2-4DD2-B6E0-00DBA005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0" y="9286875"/>
            <a:ext cx="2667000" cy="1428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Telemetry and advisories</a:t>
            </a:r>
          </a:p>
        </p:txBody>
      </p:sp>
      <p:sp>
        <p:nvSpPr>
          <p:cNvPr id="93" name="e-output">
            <a:extLst xmlns:a="http://schemas.openxmlformats.org/drawingml/2006/main">
              <a:ext uri="{FF2B5EF4-FFF2-40B4-BE49-F238E27FC236}">
                <a16:creationId xmlns:a16="http://schemas.microsoft.com/office/drawing/2014/main" id="{0C843493-7C29-4216-8CBB-B1C964BE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0" y="9334500"/>
            <a:ext cx="3048000" cy="1333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Warning payload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Risk, source, age, confidence, location</a:t>
            </a:r>
          </a:p>
        </p:txBody>
      </p:sp>
      <p:sp>
        <p:nvSpPr>
          <p:cNvPr id="94" name="e-surface">
            <a:extLst xmlns:a="http://schemas.openxmlformats.org/drawingml/2006/main">
              <a:ext uri="{FF2B5EF4-FFF2-40B4-BE49-F238E27FC236}">
                <a16:creationId xmlns:a16="http://schemas.microsoft.com/office/drawing/2014/main" id="{71BBDC71-49DB-4B5D-9BF0-216B0D3F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0" y="93821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Mobile and dashboard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Authorized users review context</a:t>
            </a:r>
          </a:p>
        </p:txBody>
      </p:sp>
      <p:sp>
        <p:nvSpPr>
          <p:cNvPr id="95" name="e-end">
            <a:extLst xmlns:a="http://schemas.openxmlformats.org/drawingml/2006/main">
              <a:ext uri="{FF2B5EF4-FFF2-40B4-BE49-F238E27FC236}">
                <a16:creationId xmlns:a16="http://schemas.microsoft.com/office/drawing/2014/main" id="{0411AF8A-A57A-4470-8876-089B8E8B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0" y="9477375"/>
            <a:ext cx="2476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Human decides action</a:t>
            </a:r>
          </a:p>
        </p:txBody>
      </p:sp>
      <p:cxnSp>
        <p:nvCxnSpPr>
          <p:cNvPr id="344" name="e-1"/>
          <p:cNvCxnSpPr>
            <a:stCxn xmlns:a="http://schemas.openxmlformats.org/drawingml/2006/main" id="79" idx="6"/>
            <a:endCxn xmlns:a="http://schemas.openxmlformats.org/drawingml/2006/main" id="80" idx="5"/>
          </p:cNvCxnSpPr>
          <p:nvPr/>
        </p:nvCxnSpPr>
        <p:spPr>
          <a:xfrm xmlns:a="http://schemas.openxmlformats.org/drawingml/2006/main">
            <a:off x="5429250" y="100012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5" name="e-2"/>
          <p:cNvCxnSpPr>
            <a:stCxn xmlns:a="http://schemas.openxmlformats.org/drawingml/2006/main" id="80" idx="2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8786813" y="100012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6" name="e-3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12144375" y="10001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7" name="e-no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13716000" y="10763250"/>
            <a:ext cx="9525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251A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48" name="e-stale-end-link"/>
          <p:cNvCxnSpPr>
            <a:stCxn xmlns:a="http://schemas.openxmlformats.org/drawingml/2006/main" id="83" idx="2"/>
            <a:endCxn xmlns:a="http://schemas.openxmlformats.org/drawingml/2006/main" id="84" idx="2"/>
          </p:cNvCxnSpPr>
          <p:nvPr/>
        </p:nvCxnSpPr>
        <p:spPr>
          <a:xfrm xmlns:a="http://schemas.openxmlformats.org/drawingml/2006/main">
            <a:off x="15004256" y="11687175"/>
            <a:ext cx="473869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251A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49" name="e-yes-top"/>
          <p:cNvCxnSpPr>
            <a:stCxn xmlns:a="http://schemas.openxmlformats.org/drawingml/2006/main" id="82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V="1">
            <a:off x="14859000" y="9144000"/>
            <a:ext cx="7620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0" name="e-yes-bottom"/>
          <p:cNvCxnSpPr>
            <a:stCxn xmlns:a="http://schemas.openxmlformats.org/drawingml/2006/main" id="82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14859000" y="10001250"/>
            <a:ext cx="7620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1" name="e-squall-combine"/>
          <p:cNvCxnSpPr>
            <a:stCxn xmlns:a="http://schemas.openxmlformats.org/drawingml/2006/main" id="85" idx="3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18478500" y="9144000"/>
            <a:ext cx="1905000" cy="23812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2" name="e-danger-combine"/>
          <p:cNvCxnSpPr>
            <a:stCxn xmlns:a="http://schemas.openxmlformats.org/drawingml/2006/main" id="86" idx="3"/>
            <a:endCxn xmlns:a="http://schemas.openxmlformats.org/drawingml/2006/main" id="87" idx="2"/>
          </p:cNvCxnSpPr>
          <p:nvPr/>
        </p:nvCxnSpPr>
        <p:spPr>
          <a:xfrm xmlns:a="http://schemas.openxmlformats.org/drawingml/2006/main" flipV="1">
            <a:off x="18478500" y="10620375"/>
            <a:ext cx="1905000" cy="14287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3" name="e-combine-official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1812250" y="10001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4" name="e-official-yes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 flipV="1">
            <a:off x="24765000" y="9067800"/>
            <a:ext cx="5715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B6791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5" name="e-official-no"/>
          <p:cNvCxnSpPr>
            <a:stCxn xmlns:a="http://schemas.openxmlformats.org/drawingml/2006/main" id="88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4765000" y="10001250"/>
            <a:ext cx="57150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6" name="e-precedence-publish"/>
          <p:cNvCxnSpPr>
            <a:stCxn xmlns:a="http://schemas.openxmlformats.org/drawingml/2006/main" id="89" idx="3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28289250" y="9067800"/>
            <a:ext cx="2000250" cy="31432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B6791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7" name="e-candidate-publish"/>
          <p:cNvCxnSpPr>
            <a:stCxn xmlns:a="http://schemas.openxmlformats.org/drawingml/2006/main" id="90" idx="3"/>
            <a:endCxn xmlns:a="http://schemas.openxmlformats.org/drawingml/2006/main" id="91" idx="2"/>
          </p:cNvCxnSpPr>
          <p:nvPr/>
        </p:nvCxnSpPr>
        <p:spPr>
          <a:xfrm xmlns:a="http://schemas.openxmlformats.org/drawingml/2006/main" flipV="1">
            <a:off x="28289250" y="10620375"/>
            <a:ext cx="2000250" cy="42862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7251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8" name="e-publish-store"/>
          <p:cNvCxnSpPr>
            <a:stCxn xmlns:a="http://schemas.openxmlformats.org/drawingml/2006/main" id="91" idx="3"/>
            <a:endCxn xmlns:a="http://schemas.openxmlformats.org/drawingml/2006/main" id="92" idx="2"/>
          </p:cNvCxnSpPr>
          <p:nvPr/>
        </p:nvCxnSpPr>
        <p:spPr>
          <a:xfrm xmlns:a="http://schemas.openxmlformats.org/drawingml/2006/main">
            <a:off x="31718250" y="10001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9" name="e-store-output"/>
          <p:cNvCxnSpPr>
            <a:stCxn xmlns:a="http://schemas.openxmlformats.org/drawingml/2006/main" id="92" idx="4"/>
            <a:endCxn xmlns:a="http://schemas.openxmlformats.org/drawingml/2006/main" id="93" idx="5"/>
          </p:cNvCxnSpPr>
          <p:nvPr/>
        </p:nvCxnSpPr>
        <p:spPr>
          <a:xfrm xmlns:a="http://schemas.openxmlformats.org/drawingml/2006/main">
            <a:off x="34861500" y="100012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0" name="e-output-surface"/>
          <p:cNvCxnSpPr>
            <a:stCxn xmlns:a="http://schemas.openxmlformats.org/drawingml/2006/main" id="93" idx="2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38219063" y="100012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1" name="e-surface-end"/>
          <p:cNvCxnSpPr>
            <a:stCxn xmlns:a="http://schemas.openxmlformats.org/drawingml/2006/main" id="94" idx="3"/>
            <a:endCxn xmlns:a="http://schemas.openxmlformats.org/drawingml/2006/main" id="95" idx="2"/>
          </p:cNvCxnSpPr>
          <p:nvPr/>
        </p:nvCxnSpPr>
        <p:spPr>
          <a:xfrm xmlns:a="http://schemas.openxmlformats.org/drawingml/2006/main">
            <a:off x="41719500" y="10001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4" name="e-yes">
            <a:extLst xmlns:a="http://schemas.openxmlformats.org/drawingml/2006/main">
              <a:ext uri="{FF2B5EF4-FFF2-40B4-BE49-F238E27FC236}">
                <a16:creationId xmlns:a16="http://schemas.microsoft.com/office/drawing/2014/main" id="{4F3B8333-5C0D-46CC-80B2-D7F91DA9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910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7251A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7251A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15" name="e-no-label">
            <a:extLst xmlns:a="http://schemas.openxmlformats.org/drawingml/2006/main">
              <a:ext uri="{FF2B5EF4-FFF2-40B4-BE49-F238E27FC236}">
                <a16:creationId xmlns:a16="http://schemas.microsoft.com/office/drawing/2014/main" id="{30DA3950-2F32-4B4F-96FB-7A6C1E6C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08108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7251A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7251A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16" name="e-off-yes">
            <a:extLst xmlns:a="http://schemas.openxmlformats.org/drawingml/2006/main">
              <a:ext uri="{FF2B5EF4-FFF2-40B4-BE49-F238E27FC236}">
                <a16:creationId xmlns:a16="http://schemas.microsoft.com/office/drawing/2014/main" id="{E6AF9FFB-0C09-4DA8-BF93-8FE77DF1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700" y="8743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679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B6791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17" name="e-off-no">
            <a:extLst xmlns:a="http://schemas.openxmlformats.org/drawingml/2006/main">
              <a:ext uri="{FF2B5EF4-FFF2-40B4-BE49-F238E27FC236}">
                <a16:creationId xmlns:a16="http://schemas.microsoft.com/office/drawing/2014/main" id="{A95E28A2-74D0-4430-889F-DE8C87B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700" y="10877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7251A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7251A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18" name="TRIP ANOMALY-lane">
            <a:extLst xmlns:a="http://schemas.openxmlformats.org/drawingml/2006/main">
              <a:ext uri="{FF2B5EF4-FFF2-40B4-BE49-F238E27FC236}">
                <a16:creationId xmlns:a16="http://schemas.microsoft.com/office/drawing/2014/main" id="{4024777D-12A9-4CEE-89D8-62C82AD9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954000"/>
            <a:ext cx="489966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357B4"/>
            </a:solidFill>
            <a:prstDash val="solid"/>
          </a:ln>
        </p:spPr>
      </p:sp>
      <p:sp>
        <p:nvSpPr>
          <p:cNvPr id="119" name="TRIP ANOMALY-tag">
            <a:extLst xmlns:a="http://schemas.openxmlformats.org/drawingml/2006/main">
              <a:ext uri="{FF2B5EF4-FFF2-40B4-BE49-F238E27FC236}">
                <a16:creationId xmlns:a16="http://schemas.microsoft.com/office/drawing/2014/main" id="{2147B3D0-E2E8-4505-89D1-D35E5FEA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635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E7FF"/>
          </a:solidFill>
          <a:ln xmlns:a="http://schemas.openxmlformats.org/drawingml/2006/main" w="1905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57B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57B4"/>
                </a:solidFill>
                <a:latin typeface="Arial"/>
                <a:ea typeface="Arial"/>
                <a:cs typeface="Arial"/>
              </a:rPr>
              <a:t>TRIP ANOMALY</a:t>
            </a:r>
          </a:p>
        </p:txBody>
      </p:sp>
      <p:sp>
        <p:nvSpPr>
          <p:cNvPr id="120" name="TRIP ANOMALY-subtitle">
            <a:extLst xmlns:a="http://schemas.openxmlformats.org/drawingml/2006/main">
              <a:ext uri="{FF2B5EF4-FFF2-40B4-BE49-F238E27FC236}">
                <a16:creationId xmlns:a16="http://schemas.microsoft.com/office/drawing/2014/main" id="{8EE6E5D9-9F5A-4B08-9A05-264D6626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5890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Per-vessel deviation signal</a:t>
            </a:r>
          </a:p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Requires responder verification</a:t>
            </a:r>
          </a:p>
        </p:txBody>
      </p:sp>
      <p:sp>
        <p:nvSpPr>
          <p:cNvPr id="121" name="t-start">
            <a:extLst xmlns:a="http://schemas.openxmlformats.org/drawingml/2006/main">
              <a:ext uri="{FF2B5EF4-FFF2-40B4-BE49-F238E27FC236}">
                <a16:creationId xmlns:a16="http://schemas.microsoft.com/office/drawing/2014/main" id="{B8DF4FB2-1E9F-41C1-9E90-14DB5CA5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620875"/>
            <a:ext cx="2476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7FF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Active or open trip</a:t>
            </a:r>
          </a:p>
        </p:txBody>
      </p:sp>
      <p:sp>
        <p:nvSpPr>
          <p:cNvPr id="122" name="t-input">
            <a:extLst xmlns:a="http://schemas.openxmlformats.org/drawingml/2006/main">
              <a:ext uri="{FF2B5EF4-FFF2-40B4-BE49-F238E27FC236}">
                <a16:creationId xmlns:a16="http://schemas.microsoft.com/office/drawing/2014/main" id="{D5CC9C4A-F478-4D0E-A417-D08766B2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478000"/>
            <a:ext cx="3048000" cy="1333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E7FF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Trip evidence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Contact events, route, duration, trip history</a:t>
            </a:r>
          </a:p>
        </p:txBody>
      </p:sp>
      <p:sp>
        <p:nvSpPr>
          <p:cNvPr id="123" name="t-filter">
            <a:extLst xmlns:a="http://schemas.openxmlformats.org/drawingml/2006/main">
              <a:ext uri="{FF2B5EF4-FFF2-40B4-BE49-F238E27FC236}">
                <a16:creationId xmlns:a16="http://schemas.microsoft.com/office/drawing/2014/main" id="{2778E03D-935C-410A-9188-B0CCC86B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525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E7FF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Causal history filter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Exclude future and candidate-trip leakage</a:t>
            </a:r>
          </a:p>
        </p:txBody>
      </p:sp>
      <p:sp>
        <p:nvSpPr>
          <p:cNvPr id="124" name="t-baseline">
            <a:extLst xmlns:a="http://schemas.openxmlformats.org/drawingml/2006/main">
              <a:ext uri="{FF2B5EF4-FFF2-40B4-BE49-F238E27FC236}">
                <a16:creationId xmlns:a16="http://schemas.microsoft.com/office/drawing/2014/main" id="{9C23F07B-F7CC-473F-B712-84133B8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4382750"/>
            <a:ext cx="22860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Enough personal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baseline?</a:t>
            </a:r>
          </a:p>
        </p:txBody>
      </p:sp>
      <p:sp>
        <p:nvSpPr>
          <p:cNvPr id="125" name="t-cold">
            <a:extLst xmlns:a="http://schemas.openxmlformats.org/drawingml/2006/main">
              <a:ext uri="{FF2B5EF4-FFF2-40B4-BE49-F238E27FC236}">
                <a16:creationId xmlns:a16="http://schemas.microsoft.com/office/drawing/2014/main" id="{413C148C-51B1-441A-8D4E-53CF5E83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6268700"/>
            <a:ext cx="266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Cold-start review queue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Ask for human verification</a:t>
            </a:r>
          </a:p>
        </p:txBody>
      </p:sp>
      <p:sp>
        <p:nvSpPr>
          <p:cNvPr id="126" name="t-cold-end">
            <a:extLst xmlns:a="http://schemas.openxmlformats.org/drawingml/2006/main">
              <a:ext uri="{FF2B5EF4-FFF2-40B4-BE49-F238E27FC236}">
                <a16:creationId xmlns:a16="http://schemas.microsoft.com/office/drawing/2014/main" id="{2C1759A6-EB0E-45FA-B10B-889CD888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6440150"/>
            <a:ext cx="2238375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No automated claim</a:t>
            </a:r>
          </a:p>
        </p:txBody>
      </p:sp>
      <p:sp>
        <p:nvSpPr>
          <p:cNvPr id="127" name="t-profile">
            <a:extLst xmlns:a="http://schemas.openxmlformats.org/drawingml/2006/main">
              <a:ext uri="{FF2B5EF4-FFF2-40B4-BE49-F238E27FC236}">
                <a16:creationId xmlns:a16="http://schemas.microsoft.com/office/drawing/2014/main" id="{BBE591B5-0EDC-42EB-918D-11EFE47A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4525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E7FF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Build per-vessel profile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Personal route and duration behavior</a:t>
            </a:r>
          </a:p>
        </p:txBody>
      </p:sp>
      <p:sp>
        <p:nvSpPr>
          <p:cNvPr id="128" name="t-deviation">
            <a:extLst xmlns:a="http://schemas.openxmlformats.org/drawingml/2006/main">
              <a:ext uri="{FF2B5EF4-FFF2-40B4-BE49-F238E27FC236}">
                <a16:creationId xmlns:a16="http://schemas.microsoft.com/office/drawing/2014/main" id="{C6E827DD-1C4A-40BD-BEBC-9E6D1D63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0" y="14382750"/>
            <a:ext cx="238125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Deviation exceeds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threshold?</a:t>
            </a:r>
          </a:p>
        </p:txBody>
      </p:sp>
      <p:sp>
        <p:nvSpPr>
          <p:cNvPr id="129" name="t-continue">
            <a:extLst xmlns:a="http://schemas.openxmlformats.org/drawingml/2006/main">
              <a:ext uri="{FF2B5EF4-FFF2-40B4-BE49-F238E27FC236}">
                <a16:creationId xmlns:a16="http://schemas.microsoft.com/office/drawing/2014/main" id="{9C2CF1AA-1236-499E-927B-63E12F2F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0" y="16440150"/>
            <a:ext cx="23812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Continue monitoring</a:t>
            </a:r>
          </a:p>
        </p:txBody>
      </p:sp>
      <p:sp>
        <p:nvSpPr>
          <p:cNvPr id="130" name="t-case">
            <a:extLst xmlns:a="http://schemas.openxmlformats.org/drawingml/2006/main">
              <a:ext uri="{FF2B5EF4-FFF2-40B4-BE49-F238E27FC236}">
                <a16:creationId xmlns:a16="http://schemas.microsoft.com/office/drawing/2014/main" id="{5C590FCA-2851-43EA-A9F6-45E120DC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4525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E7FF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Create anomaly case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Evidence, confidence and reason</a:t>
            </a:r>
          </a:p>
        </p:txBody>
      </p:sp>
      <p:sp>
        <p:nvSpPr>
          <p:cNvPr id="131" name="t-store">
            <a:extLst xmlns:a="http://schemas.openxmlformats.org/drawingml/2006/main">
              <a:ext uri="{FF2B5EF4-FFF2-40B4-BE49-F238E27FC236}">
                <a16:creationId xmlns:a16="http://schemas.microsoft.com/office/drawing/2014/main" id="{856044A6-FCAB-4952-8F12-50E04FA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14430375"/>
            <a:ext cx="2667000" cy="1428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Trip state and anomaly case</a:t>
            </a:r>
          </a:p>
        </p:txBody>
      </p:sp>
      <p:sp>
        <p:nvSpPr>
          <p:cNvPr id="132" name="t-review">
            <a:extLst xmlns:a="http://schemas.openxmlformats.org/drawingml/2006/main">
              <a:ext uri="{FF2B5EF4-FFF2-40B4-BE49-F238E27FC236}">
                <a16:creationId xmlns:a16="http://schemas.microsoft.com/office/drawing/2014/main" id="{B74B5B3F-9580-423D-A6A8-DA10020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0" y="14525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EAC8"/>
          </a:solidFill>
          <a:ln xmlns:a="http://schemas.openxmlformats.org/drawingml/2006/main" w="22860">
            <a:solidFill>
              <a:srgbClr val="B679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Responder review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Call, radio check, context review</a:t>
            </a:r>
          </a:p>
        </p:txBody>
      </p:sp>
      <p:sp>
        <p:nvSpPr>
          <p:cNvPr id="133" name="t-escalate">
            <a:extLst xmlns:a="http://schemas.openxmlformats.org/drawingml/2006/main">
              <a:ext uri="{FF2B5EF4-FFF2-40B4-BE49-F238E27FC236}">
                <a16:creationId xmlns:a16="http://schemas.microsoft.com/office/drawing/2014/main" id="{8E94184B-385B-4D8A-BCDB-0BB83BA3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0" y="14382750"/>
            <a:ext cx="22860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Escalate as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incident?</a:t>
            </a:r>
          </a:p>
        </p:txBody>
      </p:sp>
      <p:sp>
        <p:nvSpPr>
          <p:cNvPr id="134" name="t-dismiss">
            <a:extLst xmlns:a="http://schemas.openxmlformats.org/drawingml/2006/main">
              <a:ext uri="{FF2B5EF4-FFF2-40B4-BE49-F238E27FC236}">
                <a16:creationId xmlns:a16="http://schemas.microsoft.com/office/drawing/2014/main" id="{1AED47C6-0A4E-4496-AAD8-7D0D4313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0" y="16440150"/>
            <a:ext cx="25717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5357B4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Dismiss or monitor case</a:t>
            </a:r>
          </a:p>
        </p:txBody>
      </p:sp>
      <p:sp>
        <p:nvSpPr>
          <p:cNvPr id="135" name="t-datum">
            <a:extLst xmlns:a="http://schemas.openxmlformats.org/drawingml/2006/main">
              <a:ext uri="{FF2B5EF4-FFF2-40B4-BE49-F238E27FC236}">
                <a16:creationId xmlns:a16="http://schemas.microsoft.com/office/drawing/2014/main" id="{5F4AB6CA-981E-42B5-94F2-D142EB9A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0" y="14478000"/>
            <a:ext cx="3238500" cy="1333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Confirmed incident datum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Last fix, time, object class; connector D1</a:t>
            </a:r>
          </a:p>
        </p:txBody>
      </p:sp>
      <p:sp>
        <p:nvSpPr>
          <p:cNvPr id="136" name="t-end">
            <a:extLst xmlns:a="http://schemas.openxmlformats.org/drawingml/2006/main">
              <a:ext uri="{FF2B5EF4-FFF2-40B4-BE49-F238E27FC236}">
                <a16:creationId xmlns:a16="http://schemas.microsoft.com/office/drawing/2014/main" id="{90F00F75-B239-40F0-A9B6-44AC521F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0" y="14620875"/>
            <a:ext cx="23812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Pass to drift lane</a:t>
            </a:r>
          </a:p>
        </p:txBody>
      </p:sp>
      <p:cxnSp>
        <p:nvCxnSpPr>
          <p:cNvPr id="385" name="t-1"/>
          <p:cNvCxnSpPr>
            <a:stCxn xmlns:a="http://schemas.openxmlformats.org/drawingml/2006/main" id="121" idx="6"/>
            <a:endCxn xmlns:a="http://schemas.openxmlformats.org/drawingml/2006/main" id="122" idx="5"/>
          </p:cNvCxnSpPr>
          <p:nvPr/>
        </p:nvCxnSpPr>
        <p:spPr>
          <a:xfrm xmlns:a="http://schemas.openxmlformats.org/drawingml/2006/main">
            <a:off x="5429250" y="151447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6" name="t-2"/>
          <p:cNvCxnSpPr>
            <a:stCxn xmlns:a="http://schemas.openxmlformats.org/drawingml/2006/main" id="122" idx="2"/>
            <a:endCxn xmlns:a="http://schemas.openxmlformats.org/drawingml/2006/main" id="123" idx="1"/>
          </p:cNvCxnSpPr>
          <p:nvPr/>
        </p:nvCxnSpPr>
        <p:spPr>
          <a:xfrm xmlns:a="http://schemas.openxmlformats.org/drawingml/2006/main">
            <a:off x="8786813" y="151447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7" name="t-3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12287250" y="1514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8" name="t-no-base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3906500" y="15906750"/>
            <a:ext cx="47625" cy="36195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89" name="t-cold-end-link"/>
          <p:cNvCxnSpPr>
            <a:stCxn xmlns:a="http://schemas.openxmlformats.org/drawingml/2006/main" id="125" idx="3"/>
            <a:endCxn xmlns:a="http://schemas.openxmlformats.org/drawingml/2006/main" id="126" idx="2"/>
          </p:cNvCxnSpPr>
          <p:nvPr/>
        </p:nvCxnSpPr>
        <p:spPr>
          <a:xfrm xmlns:a="http://schemas.openxmlformats.org/drawingml/2006/main">
            <a:off x="15287625" y="168306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90" name="t-yes-base"/>
          <p:cNvCxnSpPr>
            <a:stCxn xmlns:a="http://schemas.openxmlformats.org/drawingml/2006/main" id="124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15049500" y="15144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1" name="t-profile-dev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18573750" y="1514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2" name="t-dev-no"/>
          <p:cNvCxnSpPr>
            <a:stCxn xmlns:a="http://schemas.openxmlformats.org/drawingml/2006/main" id="128" idx="2"/>
            <a:endCxn xmlns:a="http://schemas.openxmlformats.org/drawingml/2006/main" id="129" idx="0"/>
          </p:cNvCxnSpPr>
          <p:nvPr/>
        </p:nvCxnSpPr>
        <p:spPr>
          <a:xfrm xmlns:a="http://schemas.openxmlformats.org/drawingml/2006/main">
            <a:off x="20240625" y="159067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93" name="t-dev-yes"/>
          <p:cNvCxnSpPr>
            <a:stCxn xmlns:a="http://schemas.openxmlformats.org/drawingml/2006/main" id="128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21431250" y="15144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4" name="t-case-store"/>
          <p:cNvCxnSpPr>
            <a:stCxn xmlns:a="http://schemas.openxmlformats.org/drawingml/2006/main" id="130" idx="3"/>
            <a:endCxn xmlns:a="http://schemas.openxmlformats.org/drawingml/2006/main" id="131" idx="2"/>
          </p:cNvCxnSpPr>
          <p:nvPr/>
        </p:nvCxnSpPr>
        <p:spPr>
          <a:xfrm xmlns:a="http://schemas.openxmlformats.org/drawingml/2006/main">
            <a:off x="24860250" y="1514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5" name="t-store-review"/>
          <p:cNvCxnSpPr>
            <a:stCxn xmlns:a="http://schemas.openxmlformats.org/drawingml/2006/main" id="131" idx="4"/>
            <a:endCxn xmlns:a="http://schemas.openxmlformats.org/drawingml/2006/main" id="132" idx="1"/>
          </p:cNvCxnSpPr>
          <p:nvPr/>
        </p:nvCxnSpPr>
        <p:spPr>
          <a:xfrm xmlns:a="http://schemas.openxmlformats.org/drawingml/2006/main">
            <a:off x="28003500" y="1514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B6791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6" name="t-review-escalate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31337250" y="1514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7" name="t-escalate-no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32956500" y="15906750"/>
            <a:ext cx="47625" cy="53340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5357B4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98" name="t-escalate-yes"/>
          <p:cNvCxnSpPr>
            <a:stCxn xmlns:a="http://schemas.openxmlformats.org/drawingml/2006/main" id="133" idx="3"/>
            <a:endCxn xmlns:a="http://schemas.openxmlformats.org/drawingml/2006/main" id="135" idx="5"/>
          </p:cNvCxnSpPr>
          <p:nvPr/>
        </p:nvCxnSpPr>
        <p:spPr>
          <a:xfrm xmlns:a="http://schemas.openxmlformats.org/drawingml/2006/main">
            <a:off x="34099500" y="151447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9" name="t-datum-end"/>
          <p:cNvCxnSpPr>
            <a:stCxn xmlns:a="http://schemas.openxmlformats.org/drawingml/2006/main" id="135" idx="2"/>
            <a:endCxn xmlns:a="http://schemas.openxmlformats.org/drawingml/2006/main" id="136" idx="2"/>
          </p:cNvCxnSpPr>
          <p:nvPr/>
        </p:nvCxnSpPr>
        <p:spPr>
          <a:xfrm xmlns:a="http://schemas.openxmlformats.org/drawingml/2006/main">
            <a:off x="37647563" y="151447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2" name="t-b-no">
            <a:extLst xmlns:a="http://schemas.openxmlformats.org/drawingml/2006/main">
              <a:ext uri="{FF2B5EF4-FFF2-40B4-BE49-F238E27FC236}">
                <a16:creationId xmlns:a16="http://schemas.microsoft.com/office/drawing/2014/main" id="{7EBC1B2E-02BD-4D92-A059-292B847B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5954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357B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5357B4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53" name="t-b-yes">
            <a:extLst xmlns:a="http://schemas.openxmlformats.org/drawingml/2006/main">
              <a:ext uri="{FF2B5EF4-FFF2-40B4-BE49-F238E27FC236}">
                <a16:creationId xmlns:a16="http://schemas.microsoft.com/office/drawing/2014/main" id="{D06AE90A-05C0-45D5-B14A-8876DA87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811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357B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5357B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54" name="t-d-no">
            <a:extLst xmlns:a="http://schemas.openxmlformats.org/drawingml/2006/main">
              <a:ext uri="{FF2B5EF4-FFF2-40B4-BE49-F238E27FC236}">
                <a16:creationId xmlns:a16="http://schemas.microsoft.com/office/drawing/2014/main" id="{46EFABC3-B495-40A2-9469-10165706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15954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357B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5357B4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55" name="t-d-yes">
            <a:extLst xmlns:a="http://schemas.openxmlformats.org/drawingml/2006/main">
              <a:ext uri="{FF2B5EF4-FFF2-40B4-BE49-F238E27FC236}">
                <a16:creationId xmlns:a16="http://schemas.microsoft.com/office/drawing/2014/main" id="{F5CD3BCA-A30C-4275-A9A5-728E4CEE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0" y="14811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357B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5357B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56" name="t-e-no">
            <a:extLst xmlns:a="http://schemas.openxmlformats.org/drawingml/2006/main">
              <a:ext uri="{FF2B5EF4-FFF2-40B4-BE49-F238E27FC236}">
                <a16:creationId xmlns:a16="http://schemas.microsoft.com/office/drawing/2014/main" id="{A43BD005-A56E-4340-BB6D-145783A1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0" y="15954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5357B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5357B4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57" name="t-e-yes">
            <a:extLst xmlns:a="http://schemas.openxmlformats.org/drawingml/2006/main">
              <a:ext uri="{FF2B5EF4-FFF2-40B4-BE49-F238E27FC236}">
                <a16:creationId xmlns:a16="http://schemas.microsoft.com/office/drawing/2014/main" id="{4EC16F71-EF3C-4111-862D-F23565B9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75" y="14811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45EA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345EA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58" name="DRIFT AND SEARCH-lane">
            <a:extLst xmlns:a="http://schemas.openxmlformats.org/drawingml/2006/main">
              <a:ext uri="{FF2B5EF4-FFF2-40B4-BE49-F238E27FC236}">
                <a16:creationId xmlns:a16="http://schemas.microsoft.com/office/drawing/2014/main" id="{1FA8D01B-61D3-4A5C-8493-0C2BE39E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097500"/>
            <a:ext cx="489966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5EAF"/>
            </a:solidFill>
            <a:prstDash val="solid"/>
          </a:ln>
        </p:spPr>
      </p:sp>
      <p:sp>
        <p:nvSpPr>
          <p:cNvPr id="159" name="DRIFT AND SEARCH-tag">
            <a:extLst xmlns:a="http://schemas.openxmlformats.org/drawingml/2006/main">
              <a:ext uri="{FF2B5EF4-FFF2-40B4-BE49-F238E27FC236}">
                <a16:creationId xmlns:a16="http://schemas.microsoft.com/office/drawing/2014/main" id="{7D8A28CF-9CB8-4F65-B905-37444EE2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070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1ECFF"/>
          </a:solidFill>
          <a:ln xmlns:a="http://schemas.openxmlformats.org/drawingml/2006/main" w="19050">
            <a:solidFill>
              <a:srgbClr val="345EA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45EA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45EAF"/>
                </a:solidFill>
                <a:latin typeface="Arial"/>
                <a:ea typeface="Arial"/>
                <a:cs typeface="Arial"/>
              </a:rPr>
              <a:t>DRIFT AND SEARCH</a:t>
            </a:r>
          </a:p>
        </p:txBody>
      </p:sp>
      <p:sp>
        <p:nvSpPr>
          <p:cNvPr id="160" name="DRIFT AND SEARCH-subtitle">
            <a:extLst xmlns:a="http://schemas.openxmlformats.org/drawingml/2006/main">
              <a:ext uri="{FF2B5EF4-FFF2-40B4-BE49-F238E27FC236}">
                <a16:creationId xmlns:a16="http://schemas.microsoft.com/office/drawing/2014/main" id="{EC6E12E5-15AC-49A8-A80E-FF120D43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0240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Decision support after confirmed incident</a:t>
            </a:r>
          </a:p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No autonomous dispatch</a:t>
            </a:r>
          </a:p>
        </p:txBody>
      </p:sp>
      <p:sp>
        <p:nvSpPr>
          <p:cNvPr id="161" name="d-start">
            <a:extLst xmlns:a="http://schemas.openxmlformats.org/drawingml/2006/main">
              <a:ext uri="{FF2B5EF4-FFF2-40B4-BE49-F238E27FC236}">
                <a16:creationId xmlns:a16="http://schemas.microsoft.com/office/drawing/2014/main" id="{7DF915AF-21CA-4A20-A484-80CD35F1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764375"/>
            <a:ext cx="2571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Confirmed SOS or D1 case</a:t>
            </a:r>
          </a:p>
        </p:txBody>
      </p:sp>
      <p:sp>
        <p:nvSpPr>
          <p:cNvPr id="162" name="d-datum">
            <a:extLst xmlns:a="http://schemas.openxmlformats.org/drawingml/2006/main">
              <a:ext uri="{FF2B5EF4-FFF2-40B4-BE49-F238E27FC236}">
                <a16:creationId xmlns:a16="http://schemas.microsoft.com/office/drawing/2014/main" id="{7388787F-6263-448C-9F27-B7963B8A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621500"/>
            <a:ext cx="2857500" cy="1333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Incident datum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Last fix, time, object class</a:t>
            </a:r>
          </a:p>
        </p:txBody>
      </p:sp>
      <p:sp>
        <p:nvSpPr>
          <p:cNvPr id="163" name="d-forcing">
            <a:extLst xmlns:a="http://schemas.openxmlformats.org/drawingml/2006/main">
              <a:ext uri="{FF2B5EF4-FFF2-40B4-BE49-F238E27FC236}">
                <a16:creationId xmlns:a16="http://schemas.microsoft.com/office/drawing/2014/main" id="{2B13FA79-6E88-4F35-B904-95D71F3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6691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Load environmental forcing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Wind, current and coastline</a:t>
            </a:r>
          </a:p>
        </p:txBody>
      </p:sp>
      <p:sp>
        <p:nvSpPr>
          <p:cNvPr id="164" name="d-current">
            <a:extLst xmlns:a="http://schemas.openxmlformats.org/drawingml/2006/main">
              <a:ext uri="{FF2B5EF4-FFF2-40B4-BE49-F238E27FC236}">
                <a16:creationId xmlns:a16="http://schemas.microsoft.com/office/drawing/2014/main" id="{CAC24F34-59AF-427A-8E3A-8BB349BC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526250"/>
            <a:ext cx="22860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Live current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support?</a:t>
            </a:r>
          </a:p>
        </p:txBody>
      </p:sp>
      <p:sp>
        <p:nvSpPr>
          <p:cNvPr id="165" name="d-observed">
            <a:extLst xmlns:a="http://schemas.openxmlformats.org/drawingml/2006/main">
              <a:ext uri="{FF2B5EF4-FFF2-40B4-BE49-F238E27FC236}">
                <a16:creationId xmlns:a16="http://schemas.microsoft.com/office/drawing/2014/main" id="{E39FE5AE-6B4B-47B4-9513-93006E79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87833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Use observed current field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Time and location aligned</a:t>
            </a:r>
          </a:p>
        </p:txBody>
      </p:sp>
      <p:sp>
        <p:nvSpPr>
          <p:cNvPr id="166" name="d-degraded">
            <a:extLst xmlns:a="http://schemas.openxmlformats.org/drawingml/2006/main">
              <a:ext uri="{FF2B5EF4-FFF2-40B4-BE49-F238E27FC236}">
                <a16:creationId xmlns:a16="http://schemas.microsoft.com/office/drawing/2014/main" id="{312AEAA8-FA70-4B45-8032-6C5E28D2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20764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Mark degraded mode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Assumption-conditioned output</a:t>
            </a:r>
          </a:p>
        </p:txBody>
      </p:sp>
      <p:sp>
        <p:nvSpPr>
          <p:cNvPr id="167" name="d-monte">
            <a:extLst xmlns:a="http://schemas.openxmlformats.org/drawingml/2006/main">
              <a:ext uri="{FF2B5EF4-FFF2-40B4-BE49-F238E27FC236}">
                <a16:creationId xmlns:a16="http://schemas.microsoft.com/office/drawing/2014/main" id="{22DA400C-1A40-4210-95C5-7488F874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0" y="196691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Monte Carlo leeway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Particle paths and land stranding</a:t>
            </a:r>
          </a:p>
        </p:txBody>
      </p:sp>
      <p:sp>
        <p:nvSpPr>
          <p:cNvPr id="168" name="d-grid">
            <a:extLst xmlns:a="http://schemas.openxmlformats.org/drawingml/2006/main">
              <a:ext uri="{FF2B5EF4-FFF2-40B4-BE49-F238E27FC236}">
                <a16:creationId xmlns:a16="http://schemas.microsoft.com/office/drawing/2014/main" id="{7A04D003-E41D-4CD3-8420-4DB17C95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0" y="19621500"/>
            <a:ext cx="3143250" cy="1333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Search probability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Grid plus 50, 75 and 95 percent contours</a:t>
            </a:r>
          </a:p>
        </p:txBody>
      </p:sp>
      <p:sp>
        <p:nvSpPr>
          <p:cNvPr id="169" name="d-rank">
            <a:extLst xmlns:a="http://schemas.openxmlformats.org/drawingml/2006/main">
              <a:ext uri="{FF2B5EF4-FFF2-40B4-BE49-F238E27FC236}">
                <a16:creationId xmlns:a16="http://schemas.microsoft.com/office/drawing/2014/main" id="{3DF11CE3-4EAF-4371-8393-127F56F7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0" y="196691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Rank search sectors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Coverage priority and uncertainty</a:t>
            </a:r>
          </a:p>
        </p:txBody>
      </p:sp>
      <p:sp>
        <p:nvSpPr>
          <p:cNvPr id="170" name="d-negative">
            <a:extLst xmlns:a="http://schemas.openxmlformats.org/drawingml/2006/main">
              <a:ext uri="{FF2B5EF4-FFF2-40B4-BE49-F238E27FC236}">
                <a16:creationId xmlns:a16="http://schemas.microsoft.com/office/drawing/2014/main" id="{171A825E-E45A-4D92-ADB3-F077D87E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0" y="19526250"/>
            <a:ext cx="238125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Negative search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evidence?</a:t>
            </a:r>
          </a:p>
        </p:txBody>
      </p:sp>
      <p:sp>
        <p:nvSpPr>
          <p:cNvPr id="171" name="d-plan">
            <a:extLst xmlns:a="http://schemas.openxmlformats.org/drawingml/2006/main">
              <a:ext uri="{FF2B5EF4-FFF2-40B4-BE49-F238E27FC236}">
                <a16:creationId xmlns:a16="http://schemas.microsoft.com/office/drawing/2014/main" id="{58510EFD-D634-499C-8A96-0056D6E6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0" y="18783300"/>
            <a:ext cx="2857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Current search plan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Ranked sectors and confidence</a:t>
            </a:r>
          </a:p>
        </p:txBody>
      </p:sp>
      <p:sp>
        <p:nvSpPr>
          <p:cNvPr id="172" name="d-posterior">
            <a:extLst xmlns:a="http://schemas.openxmlformats.org/drawingml/2006/main">
              <a:ext uri="{FF2B5EF4-FFF2-40B4-BE49-F238E27FC236}">
                <a16:creationId xmlns:a16="http://schemas.microsoft.com/office/drawing/2014/main" id="{A49B2FAF-E081-4923-8611-879E2FCA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0" y="20764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1ECFF"/>
          </a:solidFill>
          <a:ln xmlns:a="http://schemas.openxmlformats.org/drawingml/2006/main" w="22860">
            <a:solidFill>
              <a:srgbClr val="345E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Update posterior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Condition on searched area and time</a:t>
            </a:r>
          </a:p>
        </p:txBody>
      </p:sp>
      <p:sp>
        <p:nvSpPr>
          <p:cNvPr id="173" name="d-revised">
            <a:extLst xmlns:a="http://schemas.openxmlformats.org/drawingml/2006/main">
              <a:ext uri="{FF2B5EF4-FFF2-40B4-BE49-F238E27FC236}">
                <a16:creationId xmlns:a16="http://schemas.microsoft.com/office/drawing/2014/main" id="{56A7465F-7DCB-445A-ADD5-D1CA4A34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0" y="20764500"/>
            <a:ext cx="2857500" cy="1143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Revised search plan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Updated contours and sector order</a:t>
            </a:r>
          </a:p>
        </p:txBody>
      </p:sp>
      <p:sp>
        <p:nvSpPr>
          <p:cNvPr id="174" name="d-store">
            <a:extLst xmlns:a="http://schemas.openxmlformats.org/drawingml/2006/main">
              <a:ext uri="{FF2B5EF4-FFF2-40B4-BE49-F238E27FC236}">
                <a16:creationId xmlns:a16="http://schemas.microsoft.com/office/drawing/2014/main" id="{B1EBFBF4-9574-4F79-8012-B62C389A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0" y="19573875"/>
            <a:ext cx="2857500" cy="1428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Incident, model run, search evidence</a:t>
            </a:r>
          </a:p>
        </p:txBody>
      </p:sp>
      <p:sp>
        <p:nvSpPr>
          <p:cNvPr id="175" name="d-surface">
            <a:extLst xmlns:a="http://schemas.openxmlformats.org/drawingml/2006/main">
              <a:ext uri="{FF2B5EF4-FFF2-40B4-BE49-F238E27FC236}">
                <a16:creationId xmlns:a16="http://schemas.microsoft.com/office/drawing/2014/main" id="{8593AD4C-E052-430F-869C-1AAA2247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0" y="196691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Responder map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Human reviews and directs search</a:t>
            </a:r>
          </a:p>
        </p:txBody>
      </p:sp>
      <p:sp>
        <p:nvSpPr>
          <p:cNvPr id="176" name="d-end">
            <a:extLst xmlns:a="http://schemas.openxmlformats.org/drawingml/2006/main">
              <a:ext uri="{FF2B5EF4-FFF2-40B4-BE49-F238E27FC236}">
                <a16:creationId xmlns:a16="http://schemas.microsoft.com/office/drawing/2014/main" id="{A19C1C4B-C758-4B0C-902E-D046053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0" y="19764375"/>
            <a:ext cx="2857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Search plan remains advisory</a:t>
            </a:r>
          </a:p>
        </p:txBody>
      </p:sp>
      <p:cxnSp>
        <p:nvCxnSpPr>
          <p:cNvPr id="425" name="d-1"/>
          <p:cNvCxnSpPr>
            <a:stCxn xmlns:a="http://schemas.openxmlformats.org/drawingml/2006/main" id="161" idx="6"/>
            <a:endCxn xmlns:a="http://schemas.openxmlformats.org/drawingml/2006/main" id="162" idx="5"/>
          </p:cNvCxnSpPr>
          <p:nvPr/>
        </p:nvCxnSpPr>
        <p:spPr>
          <a:xfrm xmlns:a="http://schemas.openxmlformats.org/drawingml/2006/main">
            <a:off x="5524500" y="202882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6" name="d-2"/>
          <p:cNvCxnSpPr>
            <a:stCxn xmlns:a="http://schemas.openxmlformats.org/drawingml/2006/main" id="162" idx="2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8691563" y="202882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7" name="d-3"/>
          <p:cNvCxnSpPr>
            <a:stCxn xmlns:a="http://schemas.openxmlformats.org/drawingml/2006/main" id="163" idx="3"/>
            <a:endCxn xmlns:a="http://schemas.openxmlformats.org/drawingml/2006/main" id="164" idx="1"/>
          </p:cNvCxnSpPr>
          <p:nvPr/>
        </p:nvCxnSpPr>
        <p:spPr>
          <a:xfrm xmlns:a="http://schemas.openxmlformats.org/drawingml/2006/main">
            <a:off x="12192000" y="20288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8" name="d-current-yes"/>
          <p:cNvCxnSpPr>
            <a:stCxn xmlns:a="http://schemas.openxmlformats.org/drawingml/2006/main" id="164" idx="3"/>
            <a:endCxn xmlns:a="http://schemas.openxmlformats.org/drawingml/2006/main" id="165" idx="1"/>
          </p:cNvCxnSpPr>
          <p:nvPr/>
        </p:nvCxnSpPr>
        <p:spPr>
          <a:xfrm xmlns:a="http://schemas.openxmlformats.org/drawingml/2006/main" flipV="1">
            <a:off x="14954250" y="19354800"/>
            <a:ext cx="5715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9" name="d-current-no"/>
          <p:cNvCxnSpPr>
            <a:stCxn xmlns:a="http://schemas.openxmlformats.org/drawingml/2006/main" id="164" idx="3"/>
            <a:endCxn xmlns:a="http://schemas.openxmlformats.org/drawingml/2006/main" id="166" idx="1"/>
          </p:cNvCxnSpPr>
          <p:nvPr/>
        </p:nvCxnSpPr>
        <p:spPr>
          <a:xfrm xmlns:a="http://schemas.openxmlformats.org/drawingml/2006/main">
            <a:off x="14954250" y="20288250"/>
            <a:ext cx="57150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345EAF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430" name="d-observed-monte"/>
          <p:cNvCxnSpPr>
            <a:stCxn xmlns:a="http://schemas.openxmlformats.org/drawingml/2006/main" id="165" idx="3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18383250" y="19354800"/>
            <a:ext cx="1905000" cy="31432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1" name="d-degraded-monte"/>
          <p:cNvCxnSpPr>
            <a:stCxn xmlns:a="http://schemas.openxmlformats.org/drawingml/2006/main" id="166" idx="3"/>
            <a:endCxn xmlns:a="http://schemas.openxmlformats.org/drawingml/2006/main" id="167" idx="2"/>
          </p:cNvCxnSpPr>
          <p:nvPr/>
        </p:nvCxnSpPr>
        <p:spPr>
          <a:xfrm xmlns:a="http://schemas.openxmlformats.org/drawingml/2006/main" flipV="1">
            <a:off x="18383250" y="20907375"/>
            <a:ext cx="1905000" cy="42862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345EAF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432" name="d-monte-grid"/>
          <p:cNvCxnSpPr>
            <a:stCxn xmlns:a="http://schemas.openxmlformats.org/drawingml/2006/main" id="167" idx="3"/>
            <a:endCxn xmlns:a="http://schemas.openxmlformats.org/drawingml/2006/main" id="168" idx="5"/>
          </p:cNvCxnSpPr>
          <p:nvPr/>
        </p:nvCxnSpPr>
        <p:spPr>
          <a:xfrm xmlns:a="http://schemas.openxmlformats.org/drawingml/2006/main">
            <a:off x="21717000" y="202882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3" name="d-grid-rank"/>
          <p:cNvCxnSpPr>
            <a:stCxn xmlns:a="http://schemas.openxmlformats.org/drawingml/2006/main" id="168" idx="2"/>
            <a:endCxn xmlns:a="http://schemas.openxmlformats.org/drawingml/2006/main" id="169" idx="1"/>
          </p:cNvCxnSpPr>
          <p:nvPr/>
        </p:nvCxnSpPr>
        <p:spPr>
          <a:xfrm xmlns:a="http://schemas.openxmlformats.org/drawingml/2006/main">
            <a:off x="25169813" y="202882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4" name="d-rank-negative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28670250" y="20288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5" name="d-negative-no"/>
          <p:cNvCxnSpPr>
            <a:stCxn xmlns:a="http://schemas.openxmlformats.org/drawingml/2006/main" id="170" idx="3"/>
            <a:endCxn xmlns:a="http://schemas.openxmlformats.org/drawingml/2006/main" id="171" idx="5"/>
          </p:cNvCxnSpPr>
          <p:nvPr/>
        </p:nvCxnSpPr>
        <p:spPr>
          <a:xfrm xmlns:a="http://schemas.openxmlformats.org/drawingml/2006/main" flipV="1">
            <a:off x="31527750" y="19354800"/>
            <a:ext cx="809625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6" name="d-negative-yes"/>
          <p:cNvCxnSpPr>
            <a:stCxn xmlns:a="http://schemas.openxmlformats.org/drawingml/2006/main" id="170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31527750" y="20288250"/>
            <a:ext cx="666750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0480">
            <a:solidFill>
              <a:srgbClr val="345EA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7" name="d-posterior-revised"/>
          <p:cNvCxnSpPr>
            <a:stCxn xmlns:a="http://schemas.openxmlformats.org/drawingml/2006/main" id="172" idx="3"/>
            <a:endCxn xmlns:a="http://schemas.openxmlformats.org/drawingml/2006/main" id="173" idx="5"/>
          </p:cNvCxnSpPr>
          <p:nvPr/>
        </p:nvCxnSpPr>
        <p:spPr>
          <a:xfrm xmlns:a="http://schemas.openxmlformats.org/drawingml/2006/main">
            <a:off x="35052000" y="21336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8" name="d-plan-store"/>
          <p:cNvCxnSpPr>
            <a:stCxn xmlns:a="http://schemas.openxmlformats.org/drawingml/2006/main" id="171" idx="2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34909125" y="19354800"/>
            <a:ext cx="5381625" cy="21907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9" name="d-revised-store"/>
          <p:cNvCxnSpPr>
            <a:stCxn xmlns:a="http://schemas.openxmlformats.org/drawingml/2006/main" id="173" idx="2"/>
            <a:endCxn xmlns:a="http://schemas.openxmlformats.org/drawingml/2006/main" id="174" idx="3"/>
          </p:cNvCxnSpPr>
          <p:nvPr/>
        </p:nvCxnSpPr>
        <p:spPr>
          <a:xfrm xmlns:a="http://schemas.openxmlformats.org/drawingml/2006/main" flipV="1">
            <a:off x="38242875" y="21002625"/>
            <a:ext cx="2047875" cy="333375"/>
          </a:xfrm>
          <a:prstGeom xmlns:a="http://schemas.openxmlformats.org/drawingml/2006/main" prst="bentConnector2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0" name="d-store-surface"/>
          <p:cNvCxnSpPr>
            <a:stCxn xmlns:a="http://schemas.openxmlformats.org/drawingml/2006/main" id="174" idx="4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41719500" y="20288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1" name="d-surface-end"/>
          <p:cNvCxnSpPr>
            <a:stCxn xmlns:a="http://schemas.openxmlformats.org/drawingml/2006/main" id="175" idx="3"/>
            <a:endCxn xmlns:a="http://schemas.openxmlformats.org/drawingml/2006/main" id="176" idx="2"/>
          </p:cNvCxnSpPr>
          <p:nvPr/>
        </p:nvCxnSpPr>
        <p:spPr>
          <a:xfrm xmlns:a="http://schemas.openxmlformats.org/drawingml/2006/main">
            <a:off x="45053250" y="20288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4" name="d-c-yes">
            <a:extLst xmlns:a="http://schemas.openxmlformats.org/drawingml/2006/main">
              <a:ext uri="{FF2B5EF4-FFF2-40B4-BE49-F238E27FC236}">
                <a16:creationId xmlns:a16="http://schemas.microsoft.com/office/drawing/2014/main" id="{AB3457D1-F053-45D2-9F98-E73FE729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9030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45EA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345EA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95" name="d-c-no">
            <a:extLst xmlns:a="http://schemas.openxmlformats.org/drawingml/2006/main">
              <a:ext uri="{FF2B5EF4-FFF2-40B4-BE49-F238E27FC236}">
                <a16:creationId xmlns:a16="http://schemas.microsoft.com/office/drawing/2014/main" id="{9F7CB897-4CEA-49B0-85E4-0E742442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1164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45EA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345EA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96" name="d-n-no">
            <a:extLst xmlns:a="http://schemas.openxmlformats.org/drawingml/2006/main">
              <a:ext uri="{FF2B5EF4-FFF2-40B4-BE49-F238E27FC236}">
                <a16:creationId xmlns:a16="http://schemas.microsoft.com/office/drawing/2014/main" id="{E8A4B694-103B-46AA-839D-0E0247D2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0" y="19030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7E8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77E8D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97" name="d-n-yes">
            <a:extLst xmlns:a="http://schemas.openxmlformats.org/drawingml/2006/main">
              <a:ext uri="{FF2B5EF4-FFF2-40B4-BE49-F238E27FC236}">
                <a16:creationId xmlns:a16="http://schemas.microsoft.com/office/drawing/2014/main" id="{E864DCD3-1448-45B4-8E51-D58642B6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0" y="21164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45EA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345EA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98" name="CONSENTED CATCH ACTIVITY-lane">
            <a:extLst xmlns:a="http://schemas.openxmlformats.org/drawingml/2006/main">
              <a:ext uri="{FF2B5EF4-FFF2-40B4-BE49-F238E27FC236}">
                <a16:creationId xmlns:a16="http://schemas.microsoft.com/office/drawing/2014/main" id="{700C990C-FC06-4B1B-B50C-FE42C131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241000"/>
            <a:ext cx="489966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7A50"/>
            </a:solidFill>
            <a:prstDash val="solid"/>
          </a:ln>
        </p:spPr>
      </p:sp>
      <p:sp>
        <p:nvSpPr>
          <p:cNvPr id="199" name="CONSENTED CATCH ACTIVITY-tag">
            <a:extLst xmlns:a="http://schemas.openxmlformats.org/drawingml/2006/main">
              <a:ext uri="{FF2B5EF4-FFF2-40B4-BE49-F238E27FC236}">
                <a16:creationId xmlns:a16="http://schemas.microsoft.com/office/drawing/2014/main" id="{E42F931B-36E8-4F8B-87C1-768B3DB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505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EF3E7"/>
          </a:solidFill>
          <a:ln xmlns:a="http://schemas.openxmlformats.org/drawingml/2006/main" w="19050">
            <a:solidFill>
              <a:srgbClr val="2C7A5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C7A5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7A50"/>
                </a:solidFill>
                <a:latin typeface="Arial"/>
                <a:ea typeface="Arial"/>
                <a:cs typeface="Arial"/>
              </a:rPr>
              <a:t>CONSENTED CATCH ACTIVITY</a:t>
            </a:r>
          </a:p>
        </p:txBody>
      </p:sp>
      <p:sp>
        <p:nvSpPr>
          <p:cNvPr id="200" name="CONSENTED CATCH ACTIVITY-subtitle">
            <a:extLst xmlns:a="http://schemas.openxmlformats.org/drawingml/2006/main">
              <a:ext uri="{FF2B5EF4-FFF2-40B4-BE49-F238E27FC236}">
                <a16:creationId xmlns:a16="http://schemas.microsoft.com/office/drawing/2014/main" id="{E4F3295C-2676-407E-8E99-49E8C8ED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4590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Optional fisheries purpose</a:t>
            </a:r>
          </a:p>
          <a:p xmlns:a="http://schemas.openxmlformats.org/drawingml/2006/main">
            <a:pPr algn="ctr">
              <a:defRPr sz="863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Never sent over LoRa</a:t>
            </a:r>
          </a:p>
        </p:txBody>
      </p:sp>
      <p:sp>
        <p:nvSpPr>
          <p:cNvPr id="201" name="f-start">
            <a:extLst xmlns:a="http://schemas.openxmlformats.org/drawingml/2006/main">
              <a:ext uri="{FF2B5EF4-FFF2-40B4-BE49-F238E27FC236}">
                <a16:creationId xmlns:a16="http://schemas.microsoft.com/office/drawing/2014/main" id="{E3E815DB-8278-4B58-A35D-EF8943A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07875"/>
            <a:ext cx="23812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3E7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User opts in</a:t>
            </a:r>
          </a:p>
        </p:txBody>
      </p:sp>
      <p:sp>
        <p:nvSpPr>
          <p:cNvPr id="202" name="f-token">
            <a:extLst xmlns:a="http://schemas.openxmlformats.org/drawingml/2006/main">
              <a:ext uri="{FF2B5EF4-FFF2-40B4-BE49-F238E27FC236}">
                <a16:creationId xmlns:a16="http://schemas.microsoft.com/office/drawing/2014/main" id="{2CA23EDA-070F-4317-AEE9-91F4B61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669750"/>
            <a:ext cx="238125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Valid vessel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device token?</a:t>
            </a:r>
          </a:p>
        </p:txBody>
      </p:sp>
      <p:sp>
        <p:nvSpPr>
          <p:cNvPr id="203" name="f-reject">
            <a:extLst xmlns:a="http://schemas.openxmlformats.org/drawingml/2006/main">
              <a:ext uri="{FF2B5EF4-FFF2-40B4-BE49-F238E27FC236}">
                <a16:creationId xmlns:a16="http://schemas.microsoft.com/office/drawing/2014/main" id="{0E2E7259-48C4-4E6F-96A3-B9729F8A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727150"/>
            <a:ext cx="23812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Reject request</a:t>
            </a:r>
          </a:p>
        </p:txBody>
      </p:sp>
      <p:sp>
        <p:nvSpPr>
          <p:cNvPr id="204" name="f-input">
            <a:extLst xmlns:a="http://schemas.openxmlformats.org/drawingml/2006/main">
              <a:ext uri="{FF2B5EF4-FFF2-40B4-BE49-F238E27FC236}">
                <a16:creationId xmlns:a16="http://schemas.microsoft.com/office/drawing/2014/main" id="{B7F5FD22-5F40-490D-9711-762DAE9D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0"/>
            <a:ext cx="3143250" cy="1333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EF3E7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Catch log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Species, weight, time, coarse place, consent</a:t>
            </a:r>
          </a:p>
        </p:txBody>
      </p:sp>
      <p:sp>
        <p:nvSpPr>
          <p:cNvPr id="205" name="f-validate">
            <a:extLst xmlns:a="http://schemas.openxmlformats.org/drawingml/2006/main">
              <a:ext uri="{FF2B5EF4-FFF2-40B4-BE49-F238E27FC236}">
                <a16:creationId xmlns:a16="http://schemas.microsoft.com/office/drawing/2014/main" id="{98FC27C8-D44E-49B0-B9A2-CDCDBBD8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4812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Validate and store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Separate fisheries domain</a:t>
            </a:r>
          </a:p>
        </p:txBody>
      </p:sp>
      <p:sp>
        <p:nvSpPr>
          <p:cNvPr id="206" name="f-store">
            <a:extLst xmlns:a="http://schemas.openxmlformats.org/drawingml/2006/main">
              <a:ext uri="{FF2B5EF4-FFF2-40B4-BE49-F238E27FC236}">
                <a16:creationId xmlns:a16="http://schemas.microsoft.com/office/drawing/2014/main" id="{52240796-B1B9-41CB-B48E-B80ED8C5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4717375"/>
            <a:ext cx="2857500" cy="14287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Private catch record and consent</a:t>
            </a:r>
          </a:p>
        </p:txBody>
      </p:sp>
      <p:sp>
        <p:nvSpPr>
          <p:cNvPr id="207" name="f-consent">
            <a:extLst xmlns:a="http://schemas.openxmlformats.org/drawingml/2006/main">
              <a:ext uri="{FF2B5EF4-FFF2-40B4-BE49-F238E27FC236}">
                <a16:creationId xmlns:a16="http://schemas.microsoft.com/office/drawing/2014/main" id="{C5FAE360-39CA-4E12-A97E-E45E829B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0" y="24669750"/>
            <a:ext cx="247650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833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Consent to coarse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activity sharing?</a:t>
            </a:r>
          </a:p>
        </p:txBody>
      </p:sp>
      <p:sp>
        <p:nvSpPr>
          <p:cNvPr id="208" name="f-private">
            <a:extLst xmlns:a="http://schemas.openxmlformats.org/drawingml/2006/main">
              <a:ext uri="{FF2B5EF4-FFF2-40B4-BE49-F238E27FC236}">
                <a16:creationId xmlns:a16="http://schemas.microsoft.com/office/drawing/2014/main" id="{84D238B1-6DC2-48C4-ACA7-4E554C9F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0" y="26727150"/>
            <a:ext cx="24765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Keep private record only</a:t>
            </a:r>
          </a:p>
        </p:txBody>
      </p:sp>
      <p:sp>
        <p:nvSpPr>
          <p:cNvPr id="209" name="f-aggregate">
            <a:extLst xmlns:a="http://schemas.openxmlformats.org/drawingml/2006/main">
              <a:ext uri="{FF2B5EF4-FFF2-40B4-BE49-F238E27FC236}">
                <a16:creationId xmlns:a16="http://schemas.microsoft.com/office/drawing/2014/main" id="{4220294C-8BB2-4B13-A98F-F3452443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0" y="24812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EF3E7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Coarse aggregation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Recent time window and broad grid cell</a:t>
            </a:r>
          </a:p>
        </p:txBody>
      </p:sp>
      <p:sp>
        <p:nvSpPr>
          <p:cNvPr id="210" name="f-threshold">
            <a:extLst xmlns:a="http://schemas.openxmlformats.org/drawingml/2006/main">
              <a:ext uri="{FF2B5EF4-FFF2-40B4-BE49-F238E27FC236}">
                <a16:creationId xmlns:a16="http://schemas.microsoft.com/office/drawing/2014/main" id="{2B207B79-5451-4361-91B1-DBDF0D2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0" y="24669750"/>
            <a:ext cx="2571750" cy="1524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9630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Independent reporter</a:t>
            </a:r>
          </a:p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threshold met?</a:t>
            </a:r>
          </a:p>
        </p:txBody>
      </p:sp>
      <p:sp>
        <p:nvSpPr>
          <p:cNvPr id="211" name="f-withhold">
            <a:extLst xmlns:a="http://schemas.openxmlformats.org/drawingml/2006/main">
              <a:ext uri="{FF2B5EF4-FFF2-40B4-BE49-F238E27FC236}">
                <a16:creationId xmlns:a16="http://schemas.microsoft.com/office/drawing/2014/main" id="{1F909382-34A2-4065-AC5D-C15DF03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0" y="26555700"/>
            <a:ext cx="2571750" cy="11239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93874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Cell withheld</a:t>
            </a:r>
          </a:p>
          <a:p xmlns:a="http://schemas.openxmlformats.org/drawingml/2006/main">
            <a:pPr algn="ctr">
              <a:defRPr sz="15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Insufficient independent reports</a:t>
            </a:r>
          </a:p>
        </p:txBody>
      </p:sp>
      <p:sp>
        <p:nvSpPr>
          <p:cNvPr id="212" name="f-withhold-end">
            <a:extLst xmlns:a="http://schemas.openxmlformats.org/drawingml/2006/main">
              <a:ext uri="{FF2B5EF4-FFF2-40B4-BE49-F238E27FC236}">
                <a16:creationId xmlns:a16="http://schemas.microsoft.com/office/drawing/2014/main" id="{FED2590B-ABE7-4A47-B2FF-553C40E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0" y="26727150"/>
            <a:ext cx="25717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Retry after more reports</a:t>
            </a:r>
          </a:p>
        </p:txBody>
      </p:sp>
      <p:sp>
        <p:nvSpPr>
          <p:cNvPr id="213" name="f-cell">
            <a:extLst xmlns:a="http://schemas.openxmlformats.org/drawingml/2006/main">
              <a:ext uri="{FF2B5EF4-FFF2-40B4-BE49-F238E27FC236}">
                <a16:creationId xmlns:a16="http://schemas.microsoft.com/office/drawing/2014/main" id="{E8688E09-41AA-4833-A530-6E7DF1BB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24765000"/>
            <a:ext cx="3143250" cy="1333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EF3E7"/>
          </a:solidFill>
          <a:ln xmlns:a="http://schemas.openxmlformats.org/drawingml/2006/main" w="22860">
            <a:solidFill>
              <a:srgbClr val="2C7A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Coarse activity cell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Recent activity; no exact vessel position</a:t>
            </a:r>
          </a:p>
        </p:txBody>
      </p:sp>
      <p:sp>
        <p:nvSpPr>
          <p:cNvPr id="214" name="f-api">
            <a:extLst xmlns:a="http://schemas.openxmlformats.org/drawingml/2006/main">
              <a:ext uri="{FF2B5EF4-FFF2-40B4-BE49-F238E27FC236}">
                <a16:creationId xmlns:a16="http://schemas.microsoft.com/office/drawing/2014/main" id="{29EA84FE-773B-4A5F-828D-01841987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48126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2286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Public REST output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Privacy-filtered activity only</a:t>
            </a:r>
          </a:p>
        </p:txBody>
      </p:sp>
      <p:sp>
        <p:nvSpPr>
          <p:cNvPr id="215" name="f-surface">
            <a:extLst xmlns:a="http://schemas.openxmlformats.org/drawingml/2006/main">
              <a:ext uri="{FF2B5EF4-FFF2-40B4-BE49-F238E27FC236}">
                <a16:creationId xmlns:a16="http://schemas.microsoft.com/office/drawing/2014/main" id="{D9B52C63-2533-41FD-9205-3025C0AC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4812625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Mobile and LGU/BFAR view</a:t>
            </a:r>
          </a:p>
          <a:p xmlns:a="http://schemas.openxmlformats.org/drawingml/2006/main">
            <a:pPr algn="ctr">
              <a:defRPr sz="13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No guaranteed catch claim</a:t>
            </a:r>
          </a:p>
        </p:txBody>
      </p:sp>
      <p:sp>
        <p:nvSpPr>
          <p:cNvPr id="216" name="f-end">
            <a:extLst xmlns:a="http://schemas.openxmlformats.org/drawingml/2006/main">
              <a:ext uri="{FF2B5EF4-FFF2-40B4-BE49-F238E27FC236}">
                <a16:creationId xmlns:a16="http://schemas.microsoft.com/office/drawing/2014/main" id="{F2F7617E-8E0B-43DA-8830-D6189EEA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0" y="24907875"/>
            <a:ext cx="26670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F8"/>
          </a:solidFill>
          <a:ln xmlns:a="http://schemas.openxmlformats.org/drawingml/2006/main" w="22860">
            <a:solidFill>
              <a:srgbClr val="177E8D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Optional fisheries insight</a:t>
            </a:r>
          </a:p>
        </p:txBody>
      </p:sp>
      <p:cxnSp>
        <p:nvCxnSpPr>
          <p:cNvPr id="465" name="f-1"/>
          <p:cNvCxnSpPr>
            <a:stCxn xmlns:a="http://schemas.openxmlformats.org/drawingml/2006/main" id="201" idx="6"/>
            <a:endCxn xmlns:a="http://schemas.openxmlformats.org/drawingml/2006/main" id="202" idx="1"/>
          </p:cNvCxnSpPr>
          <p:nvPr/>
        </p:nvCxnSpPr>
        <p:spPr>
          <a:xfrm xmlns:a="http://schemas.openxmlformats.org/drawingml/2006/main">
            <a:off x="5334000" y="25431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66" name="f-token-no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7000875" y="261937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467" name="f-token-yes"/>
          <p:cNvCxnSpPr>
            <a:stCxn xmlns:a="http://schemas.openxmlformats.org/drawingml/2006/main" id="202" idx="3"/>
            <a:endCxn xmlns:a="http://schemas.openxmlformats.org/drawingml/2006/main" id="204" idx="5"/>
          </p:cNvCxnSpPr>
          <p:nvPr/>
        </p:nvCxnSpPr>
        <p:spPr>
          <a:xfrm xmlns:a="http://schemas.openxmlformats.org/drawingml/2006/main">
            <a:off x="8191500" y="25431750"/>
            <a:ext cx="73818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68" name="f-input-validate"/>
          <p:cNvCxnSpPr>
            <a:stCxn xmlns:a="http://schemas.openxmlformats.org/drawingml/2006/main" id="204" idx="2"/>
            <a:endCxn xmlns:a="http://schemas.openxmlformats.org/drawingml/2006/main" id="205" idx="1"/>
          </p:cNvCxnSpPr>
          <p:nvPr/>
        </p:nvCxnSpPr>
        <p:spPr>
          <a:xfrm xmlns:a="http://schemas.openxmlformats.org/drawingml/2006/main">
            <a:off x="11739563" y="254317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69" name="f-validate-store"/>
          <p:cNvCxnSpPr>
            <a:stCxn xmlns:a="http://schemas.openxmlformats.org/drawingml/2006/main" id="205" idx="3"/>
            <a:endCxn xmlns:a="http://schemas.openxmlformats.org/drawingml/2006/main" id="206" idx="2"/>
          </p:cNvCxnSpPr>
          <p:nvPr/>
        </p:nvCxnSpPr>
        <p:spPr>
          <a:xfrm xmlns:a="http://schemas.openxmlformats.org/drawingml/2006/main">
            <a:off x="15240000" y="25431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0" name="f-store-consent"/>
          <p:cNvCxnSpPr>
            <a:stCxn xmlns:a="http://schemas.openxmlformats.org/drawingml/2006/main" id="206" idx="4"/>
            <a:endCxn xmlns:a="http://schemas.openxmlformats.org/drawingml/2006/main" id="207" idx="1"/>
          </p:cNvCxnSpPr>
          <p:nvPr/>
        </p:nvCxnSpPr>
        <p:spPr>
          <a:xfrm xmlns:a="http://schemas.openxmlformats.org/drawingml/2006/main">
            <a:off x="18573750" y="25431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1" name="f-consent-no"/>
          <p:cNvCxnSpPr>
            <a:stCxn xmlns:a="http://schemas.openxmlformats.org/drawingml/2006/main" id="207" idx="2"/>
            <a:endCxn xmlns:a="http://schemas.openxmlformats.org/drawingml/2006/main" id="208" idx="0"/>
          </p:cNvCxnSpPr>
          <p:nvPr/>
        </p:nvCxnSpPr>
        <p:spPr>
          <a:xfrm xmlns:a="http://schemas.openxmlformats.org/drawingml/2006/main">
            <a:off x="20288250" y="261937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472" name="f-consent-yes"/>
          <p:cNvCxnSpPr>
            <a:stCxn xmlns:a="http://schemas.openxmlformats.org/drawingml/2006/main" id="207" idx="3"/>
            <a:endCxn xmlns:a="http://schemas.openxmlformats.org/drawingml/2006/main" id="209" idx="1"/>
          </p:cNvCxnSpPr>
          <p:nvPr/>
        </p:nvCxnSpPr>
        <p:spPr>
          <a:xfrm xmlns:a="http://schemas.openxmlformats.org/drawingml/2006/main">
            <a:off x="21526500" y="25431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3" name="f-aggregate-threshold"/>
          <p:cNvCxnSpPr>
            <a:stCxn xmlns:a="http://schemas.openxmlformats.org/drawingml/2006/main" id="209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25050750" y="25431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4" name="f-threshold-no"/>
          <p:cNvCxnSpPr>
            <a:stCxn xmlns:a="http://schemas.openxmlformats.org/drawingml/2006/main" id="210" idx="2"/>
            <a:endCxn xmlns:a="http://schemas.openxmlformats.org/drawingml/2006/main" id="211" idx="0"/>
          </p:cNvCxnSpPr>
          <p:nvPr/>
        </p:nvCxnSpPr>
        <p:spPr>
          <a:xfrm xmlns:a="http://schemas.openxmlformats.org/drawingml/2006/main">
            <a:off x="26812875" y="261937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475" name="f-withhold-end-link"/>
          <p:cNvCxnSpPr>
            <a:stCxn xmlns:a="http://schemas.openxmlformats.org/drawingml/2006/main" id="211" idx="2"/>
            <a:endCxn xmlns:a="http://schemas.openxmlformats.org/drawingml/2006/main" id="212" idx="2"/>
          </p:cNvCxnSpPr>
          <p:nvPr/>
        </p:nvCxnSpPr>
        <p:spPr>
          <a:xfrm xmlns:a="http://schemas.openxmlformats.org/drawingml/2006/main">
            <a:off x="27958256" y="27117675"/>
            <a:ext cx="616744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476" name="f-threshold-yes"/>
          <p:cNvCxnSpPr>
            <a:stCxn xmlns:a="http://schemas.openxmlformats.org/drawingml/2006/main" id="210" idx="3"/>
            <a:endCxn xmlns:a="http://schemas.openxmlformats.org/drawingml/2006/main" id="213" idx="5"/>
          </p:cNvCxnSpPr>
          <p:nvPr/>
        </p:nvCxnSpPr>
        <p:spPr>
          <a:xfrm xmlns:a="http://schemas.openxmlformats.org/drawingml/2006/main">
            <a:off x="28098750" y="25431750"/>
            <a:ext cx="73818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C7A5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7" name="f-cell-api"/>
          <p:cNvCxnSpPr>
            <a:stCxn xmlns:a="http://schemas.openxmlformats.org/drawingml/2006/main" id="213" idx="2"/>
            <a:endCxn xmlns:a="http://schemas.openxmlformats.org/drawingml/2006/main" id="214" idx="1"/>
          </p:cNvCxnSpPr>
          <p:nvPr/>
        </p:nvCxnSpPr>
        <p:spPr>
          <a:xfrm xmlns:a="http://schemas.openxmlformats.org/drawingml/2006/main">
            <a:off x="31646813" y="25431750"/>
            <a:ext cx="642938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8" name="f-api-surface"/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35147250" y="25431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9" name="f-surface-end"/>
          <p:cNvCxnSpPr>
            <a:stCxn xmlns:a="http://schemas.openxmlformats.org/drawingml/2006/main" id="215" idx="3"/>
            <a:endCxn xmlns:a="http://schemas.openxmlformats.org/drawingml/2006/main" id="216" idx="2"/>
          </p:cNvCxnSpPr>
          <p:nvPr/>
        </p:nvCxnSpPr>
        <p:spPr>
          <a:xfrm xmlns:a="http://schemas.openxmlformats.org/drawingml/2006/main">
            <a:off x="38671500" y="25431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77E8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2" name="f-t-no">
            <a:extLst xmlns:a="http://schemas.openxmlformats.org/drawingml/2006/main">
              <a:ext uri="{FF2B5EF4-FFF2-40B4-BE49-F238E27FC236}">
                <a16:creationId xmlns:a16="http://schemas.microsoft.com/office/drawing/2014/main" id="{7015FF43-59DF-44C5-A866-F7367DE8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41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C7A5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C7A5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33" name="f-t-yes">
            <a:extLst xmlns:a="http://schemas.openxmlformats.org/drawingml/2006/main">
              <a:ext uri="{FF2B5EF4-FFF2-40B4-BE49-F238E27FC236}">
                <a16:creationId xmlns:a16="http://schemas.microsoft.com/office/drawing/2014/main" id="{2A82FB8B-4575-440A-9A09-85B7AE1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09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C7A5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C7A5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34" name="f-c-no">
            <a:extLst xmlns:a="http://schemas.openxmlformats.org/drawingml/2006/main">
              <a:ext uri="{FF2B5EF4-FFF2-40B4-BE49-F238E27FC236}">
                <a16:creationId xmlns:a16="http://schemas.microsoft.com/office/drawing/2014/main" id="{56039C7D-2C8D-467A-8E2F-9EBD21A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26241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C7A5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C7A5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35" name="f-c-yes">
            <a:extLst xmlns:a="http://schemas.openxmlformats.org/drawingml/2006/main">
              <a:ext uri="{FF2B5EF4-FFF2-40B4-BE49-F238E27FC236}">
                <a16:creationId xmlns:a16="http://schemas.microsoft.com/office/drawing/2014/main" id="{2B091088-A50B-48B1-9A3E-BE79EC9D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2509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C7A5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C7A5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36" name="f-th-no">
            <a:extLst xmlns:a="http://schemas.openxmlformats.org/drawingml/2006/main">
              <a:ext uri="{FF2B5EF4-FFF2-40B4-BE49-F238E27FC236}">
                <a16:creationId xmlns:a16="http://schemas.microsoft.com/office/drawing/2014/main" id="{7EF171E8-B13E-4D18-B083-99AE65AE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0" y="262413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C7A5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C7A5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37" name="f-th-yes">
            <a:extLst xmlns:a="http://schemas.openxmlformats.org/drawingml/2006/main">
              <a:ext uri="{FF2B5EF4-FFF2-40B4-BE49-F238E27FC236}">
                <a16:creationId xmlns:a16="http://schemas.microsoft.com/office/drawing/2014/main" id="{7F7B36C0-CF50-4599-9F69-D9D866A1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0" y="2509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C7A5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C7A5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38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965D3806-64DD-49FC-87F6-A8FDA693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035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FLOWCHART LEGEND</a:t>
            </a:r>
          </a:p>
        </p:txBody>
      </p:sp>
      <p:sp>
        <p:nvSpPr>
          <p:cNvPr id="239" name="legend-oval">
            <a:extLst xmlns:a="http://schemas.openxmlformats.org/drawingml/2006/main">
              <a:ext uri="{FF2B5EF4-FFF2-40B4-BE49-F238E27FC236}">
                <a16:creationId xmlns:a16="http://schemas.microsoft.com/office/drawing/2014/main" id="{4825C8AF-1592-4B5F-B019-5D7B56F7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46425"/>
            <a:ext cx="2000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33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Start / end</a:t>
            </a:r>
          </a:p>
        </p:txBody>
      </p:sp>
      <p:sp>
        <p:nvSpPr>
          <p:cNvPr id="240" name="legend-process">
            <a:extLst xmlns:a="http://schemas.openxmlformats.org/drawingml/2006/main">
              <a:ext uri="{FF2B5EF4-FFF2-40B4-BE49-F238E27FC236}">
                <a16:creationId xmlns:a16="http://schemas.microsoft.com/office/drawing/2014/main" id="{3B0AFCA4-4FED-4ABE-802E-2F64F937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46425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33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241" name="legend-decision">
            <a:extLst xmlns:a="http://schemas.openxmlformats.org/drawingml/2006/main">
              <a:ext uri="{FF2B5EF4-FFF2-40B4-BE49-F238E27FC236}">
                <a16:creationId xmlns:a16="http://schemas.microsoft.com/office/drawing/2014/main" id="{8EB53344-69FA-48E7-8457-64228C4D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498800"/>
            <a:ext cx="13335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33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42" name="legend-data">
            <a:extLst xmlns:a="http://schemas.openxmlformats.org/drawingml/2006/main">
              <a:ext uri="{FF2B5EF4-FFF2-40B4-BE49-F238E27FC236}">
                <a16:creationId xmlns:a16="http://schemas.microsoft.com/office/drawing/2014/main" id="{9659834D-61B9-4A5C-887F-566CB2C7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46425"/>
            <a:ext cx="2333625" cy="5524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33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Data input / output</a:t>
            </a:r>
          </a:p>
        </p:txBody>
      </p:sp>
      <p:sp>
        <p:nvSpPr>
          <p:cNvPr id="243" name="legend-store">
            <a:extLst xmlns:a="http://schemas.openxmlformats.org/drawingml/2006/main">
              <a:ext uri="{FF2B5EF4-FFF2-40B4-BE49-F238E27FC236}">
                <a16:creationId xmlns:a16="http://schemas.microsoft.com/office/drawing/2014/main" id="{B1822580-BE3F-49F5-94D9-420DA587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28508325"/>
            <a:ext cx="1905000" cy="6286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334A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Data store</a:t>
            </a:r>
          </a:p>
        </p:txBody>
      </p:sp>
      <p:sp>
        <p:nvSpPr>
          <p:cNvPr id="244" name="legend-dot">
            <a:extLst xmlns:a="http://schemas.openxmlformats.org/drawingml/2006/main">
              <a:ext uri="{FF2B5EF4-FFF2-40B4-BE49-F238E27FC236}">
                <a16:creationId xmlns:a16="http://schemas.microsoft.com/office/drawing/2014/main" id="{1D5EF87E-01F8-4975-A109-1881D18E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28594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65DB5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245" name="legend-dot-label">
            <a:extLst xmlns:a="http://schemas.openxmlformats.org/drawingml/2006/main">
              <a:ext uri="{FF2B5EF4-FFF2-40B4-BE49-F238E27FC236}">
                <a16:creationId xmlns:a16="http://schemas.microsoft.com/office/drawing/2014/main" id="{24ACCA76-568F-4831-B6B9-0FCEE9D2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28517850"/>
            <a:ext cx="528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Matched connector IDs continue a route without a crossing</a:t>
            </a:r>
          </a:p>
        </p:txBody>
      </p:sp>
      <p:sp>
        <p:nvSpPr>
          <p:cNvPr id="246" name="legend-lines">
            <a:extLst xmlns:a="http://schemas.openxmlformats.org/drawingml/2006/main">
              <a:ext uri="{FF2B5EF4-FFF2-40B4-BE49-F238E27FC236}">
                <a16:creationId xmlns:a16="http://schemas.microsoft.com/office/drawing/2014/main" id="{37F93604-9787-4D62-ABA6-7FB86F9B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0" y="285464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678"/>
                </a:solidFill>
                <a:latin typeface="Arial"/>
                <a:ea typeface="Arial"/>
                <a:cs typeface="Arial"/>
              </a:rPr>
              <a:t>Solid: active software path    Dashed: optional, unavailable or field-dependent path</a:t>
            </a:r>
          </a:p>
        </p:txBody>
      </p:sp>
      <p:sp>
        <p:nvSpPr>
          <p:cNvPr id="247" name="principles">
            <a:extLst xmlns:a="http://schemas.openxmlformats.org/drawingml/2006/main">
              <a:ext uri="{FF2B5EF4-FFF2-40B4-BE49-F238E27FC236}">
                <a16:creationId xmlns:a16="http://schemas.microsoft.com/office/drawing/2014/main" id="{5FED7FE3-9E7E-443C-877C-EB17489F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0" y="28508325"/>
            <a:ext cx="1790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22860">
            <a:solidFill>
              <a:srgbClr val="C18A20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NON-NEGOTIABLE ARCHITECTURE RULES</a:t>
            </a:r>
          </a:p>
          <a:p xmlns:a="http://schemas.openxmlformats.org/drawingml/2006/main">
            <a:pPr algn="ctr">
              <a:defRPr sz="140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Manual SOS never depends on AI. Delivery states reflect evidence. Models advise authorized humans. Catch sharing stays optional and coarse.</a:t>
            </a:r>
          </a:p>
        </p:txBody>
      </p:sp>
      <p:sp>
        <p:nvSpPr>
          <p:cNvPr id="248" name="footer">
            <a:extLst xmlns:a="http://schemas.openxmlformats.org/drawingml/2006/main">
              <a:ext uri="{FF2B5EF4-FFF2-40B4-BE49-F238E27FC236}">
                <a16:creationId xmlns:a16="http://schemas.microsoft.com/office/drawing/2014/main" id="{A2DDBC0E-3DF9-4EE5-8FBE-72BB48B8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80125"/>
            <a:ext cx="484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678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B6678"/>
                </a:solidFill>
                <a:latin typeface="Arial"/>
                <a:ea typeface="Arial"/>
                <a:cs typeface="Arial"/>
              </a:rPr>
              <a:t>AqOne technical architecture | Source of record: repository contracts and current implementation | One page, native editable PowerPoint shapes</a:t>
            </a:r>
          </a:p>
        </p:txBody>
      </p:sp>
    </p:spTree>
    <p:extLst>
      <p:ext uri="{BB962C8B-B14F-4D97-AF65-F5344CB8AC3E}">
        <p14:creationId xmlns:p14="http://schemas.microsoft.com/office/powerpoint/2010/main" val="710238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2026-09-18T15:12:19.1130000Z</dcterms:created>
  <dcterms:modified xsi:type="dcterms:W3CDTF">2026-09-18T15:12:19.1130000Z</dcterms:modified>
</coreProperties>
</file>