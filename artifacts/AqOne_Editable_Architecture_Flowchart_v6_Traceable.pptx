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a7d59366b4e0e" /><Relationship Type="http://schemas.openxmlformats.org/officeDocument/2006/relationships/extended-properties" Target="/docProps/app.xml" Id="R15e675f3d4574e93" /><Relationship Type="http://schemas.openxmlformats.org/officeDocument/2006/relationships/officeDocument" Target="/ppt/presentation.xml" Id="R8af6f8047054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fc693feb644a90"/>
  </p:sldMasterIdLst>
  <p:notesMasterIdLst>
    <p:notesMasterId xmlns:r="http://schemas.openxmlformats.org/officeDocument/2006/relationships" r:id="R5cc34f7a4cfa47af"/>
  </p:notesMasterIdLst>
  <p:sldIdLst>
    <p:sldId xmlns:r="http://schemas.openxmlformats.org/officeDocument/2006/relationships" id="256" r:id="Ra7c945dc7a3a4cb1"/>
    <p:sldId xmlns:r="http://schemas.openxmlformats.org/officeDocument/2006/relationships" id="257" r:id="R1c2b70b9af3f489c"/>
    <p:sldId xmlns:r="http://schemas.openxmlformats.org/officeDocument/2006/relationships" id="258" r:id="R7c58777b79aa4d7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3ef787e2e404e" /><Relationship Type="http://schemas.openxmlformats.org/officeDocument/2006/relationships/slideMaster" Target="/ppt/slideMasters/slideMaster1.xml" Id="R51fc693feb644a90" /><Relationship Type="http://schemas.openxmlformats.org/officeDocument/2006/relationships/notesMaster" Target="/ppt/notesMasters/notesMaster1.xml" Id="R5cc34f7a4cfa47af" /><Relationship Type="http://schemas.openxmlformats.org/officeDocument/2006/relationships/presProps" Target="/ppt/presProps.xml" Id="R6b97aa614e0041e7" /><Relationship Type="http://schemas.openxmlformats.org/officeDocument/2006/relationships/tableStyles" Target="/ppt/tableStyles.xml" Id="Rdcc9d94ed1e645ba" /><Relationship Type="http://schemas.openxmlformats.org/officeDocument/2006/relationships/slide" Target="/ppt/slides/slide1.xml" Id="Ra7c945dc7a3a4cb1" /><Relationship Type="http://schemas.openxmlformats.org/officeDocument/2006/relationships/slide" Target="/ppt/slides/slide2.xml" Id="R1c2b70b9af3f489c" /><Relationship Type="http://schemas.openxmlformats.org/officeDocument/2006/relationships/slide" Target="/ppt/slides/slide3.xml" Id="R7c58777b79aa4d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58a3a357f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4b39aaa8c4698" /><Relationship Type="http://schemas.openxmlformats.org/officeDocument/2006/relationships/notesMaster" Target="/ppt/notesMasters/notesMaster1.xml" Id="R825ef3f5a567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c5f2944eb465c" /><Relationship Type="http://schemas.openxmlformats.org/officeDocument/2006/relationships/notesMaster" Target="/ppt/notesMasters/notesMaster1.xml" Id="R2708af887545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5bf8ac2ad24f84" /><Relationship Type="http://schemas.openxmlformats.org/officeDocument/2006/relationships/notesMaster" Target="/ppt/notesMasters/notesMaster1.xml" Id="Rf2a07bdf0f51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docs/55_HYBRID_TRANSPORT_ARCHITECTURE_DECISION.md; docs/06_DELIVERY_STATES.md; docs/04_INGEST_API.md; docs/05_PUBLIC_API.md.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docs/06_DELIVERY_STATES.md; docs/03_PHONE_BUOY_WIFI.md; docs/04_INGEST_API.md; backend/app/api/sos.py; firmware/buoy/AqOneBuoy/AqOneBuoy.ino.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docs/Aqone_PRD (2).md; docs/17_AI_EXPLAINED_SIMPLY.md; docs/45_AI_PROSPECTIVE_EVALUATION_AND_CLAIMS.md; docs/07_SCOPE_OUT.md.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7ed0237a8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d7cc5b9c346e8" /><Relationship Type="http://schemas.openxmlformats.org/officeDocument/2006/relationships/slideLayout" Target="/ppt/slideLayouts/slideLayout1.xml" Id="R6068fc0d15a4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8fc0d15a4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11f73117d4453" /><Relationship Type="http://schemas.openxmlformats.org/officeDocument/2006/relationships/notesSlide" Target="/ppt/notesSlides/notesSlide1.xml" Id="R79e41e080904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8ebafbd94012" /><Relationship Type="http://schemas.openxmlformats.org/officeDocument/2006/relationships/notesSlide" Target="/ppt/notesSlides/notesSlide2.xml" Id="R7795b3274b3e4a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db7907844589" /><Relationship Type="http://schemas.openxmlformats.org/officeDocument/2006/relationships/notesSlide" Target="/ppt/notesSlides/notesSlide3.xml" Id="R311f8e9c07f8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-1">
            <a:extLst xmlns:a="http://schemas.openxmlformats.org/drawingml/2006/main">
              <a:ext uri="{FF2B5EF4-FFF2-40B4-BE49-F238E27FC236}">
                <a16:creationId xmlns:a16="http://schemas.microsoft.com/office/drawing/2014/main" id="{9C82824F-09D4-4A58-B193-19511EA0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System Data Paths</a:t>
            </a:r>
          </a:p>
        </p:txBody>
      </p:sp>
      <p:sp>
        <p:nvSpPr>
          <p:cNvPr id="2" name="subtitle-1">
            <a:extLst xmlns:a="http://schemas.openxmlformats.org/drawingml/2006/main">
              <a:ext uri="{FF2B5EF4-FFF2-40B4-BE49-F238E27FC236}">
                <a16:creationId xmlns:a16="http://schemas.microsoft.com/office/drawing/2014/main" id="{A89732BA-8FE1-4946-8B67-4EDAF02C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tracks for SOS uplink, optional relay, direct internet and responder return</a:t>
            </a:r>
          </a:p>
        </p:txBody>
      </p:sp>
      <p:sp>
        <p:nvSpPr>
          <p:cNvPr id="3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F4D96202-39F0-4440-B6EB-D96D0DA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 OF 3</a:t>
            </a:r>
          </a:p>
        </p:txBody>
      </p:sp>
      <p:sp>
        <p:nvSpPr>
          <p:cNvPr id="4" name="uplink-band">
            <a:extLst xmlns:a="http://schemas.openxmlformats.org/drawingml/2006/main">
              <a:ext uri="{FF2B5EF4-FFF2-40B4-BE49-F238E27FC236}">
                <a16:creationId xmlns:a16="http://schemas.microsoft.com/office/drawing/2014/main" id="{7CC9552B-2AAC-420A-8E27-56A04D2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44399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uplink-band-label">
            <a:extLst xmlns:a="http://schemas.openxmlformats.org/drawingml/2006/main">
              <a:ext uri="{FF2B5EF4-FFF2-40B4-BE49-F238E27FC236}">
                <a16:creationId xmlns:a16="http://schemas.microsoft.com/office/drawing/2014/main" id="{2944CE25-D942-437C-A502-59C6EF3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Primary SOS uplink</a:t>
            </a:r>
          </a:p>
        </p:txBody>
      </p:sp>
      <p:sp>
        <p:nvSpPr>
          <p:cNvPr id="6" name="s1-phone">
            <a:extLst xmlns:a="http://schemas.openxmlformats.org/drawingml/2006/main">
              <a:ext uri="{FF2B5EF4-FFF2-40B4-BE49-F238E27FC236}">
                <a16:creationId xmlns:a16="http://schemas.microsoft.com/office/drawing/2014/main" id="{75DD670D-8273-4781-873A-D904184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SQLite outbox
State: SAVED</a:t>
            </a:r>
          </a:p>
        </p:txBody>
      </p:sp>
      <p:sp>
        <p:nvSpPr>
          <p:cNvPr id="7" name="s1-pod">
            <a:extLst xmlns:a="http://schemas.openxmlformats.org/drawingml/2006/main">
              <a:ext uri="{FF2B5EF4-FFF2-40B4-BE49-F238E27FC236}">
                <a16:creationId xmlns:a16="http://schemas.microsoft.com/office/drawing/2014/main" id="{A1EBF781-0705-4BD3-BC61-0DF09AF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Flash queue
State: RELAYED</a:t>
            </a:r>
          </a:p>
        </p:txBody>
      </p:sp>
      <p:sp>
        <p:nvSpPr>
          <p:cNvPr id="8" name="s1-gateway">
            <a:extLst xmlns:a="http://schemas.openxmlformats.org/drawingml/2006/main">
              <a:ext uri="{FF2B5EF4-FFF2-40B4-BE49-F238E27FC236}">
                <a16:creationId xmlns:a16="http://schemas.microsoft.com/office/drawing/2014/main" id="{11D60B82-A610-4E23-852B-627B42BB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Signature verification
Internet bridge</a:t>
            </a:r>
          </a:p>
        </p:txBody>
      </p:sp>
      <p:sp>
        <p:nvSpPr>
          <p:cNvPr id="9" name="s1-backend">
            <a:extLst xmlns:a="http://schemas.openxmlformats.org/drawingml/2006/main">
              <a:ext uri="{FF2B5EF4-FFF2-40B4-BE49-F238E27FC236}">
                <a16:creationId xmlns:a16="http://schemas.microsoft.com/office/drawing/2014/main" id="{E22E94F5-7946-4CED-BC2D-D885C8CE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2143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and 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Validate, deduplicate, persist
State: DELIVERED</a:t>
            </a:r>
          </a:p>
        </p:txBody>
      </p:sp>
      <p:sp>
        <p:nvSpPr>
          <p:cNvPr id="10" name="s1-dashboard">
            <a:extLst xmlns:a="http://schemas.openxmlformats.org/drawingml/2006/main">
              <a:ext uri="{FF2B5EF4-FFF2-40B4-BE49-F238E27FC236}">
                <a16:creationId xmlns:a16="http://schemas.microsoft.com/office/drawing/2014/main" id="{21C72D19-2C82-4782-A9BF-C4CC4A43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Displays SOS
Responder authority</a:t>
            </a:r>
          </a:p>
        </p:txBody>
      </p:sp>
      <p:cxnSp>
        <p:nvCxnSpPr>
          <p:cNvPr id="61" name="s1-uplink-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38425" y="240506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2" name="s1-uplink-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63" name="s1-uplink-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24875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4" name="s1-uplink-4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906250" y="24050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1-label-wifi">
            <a:extLst xmlns:a="http://schemas.openxmlformats.org/drawingml/2006/main">
              <a:ext uri="{FF2B5EF4-FFF2-40B4-BE49-F238E27FC236}">
                <a16:creationId xmlns:a16="http://schemas.microsoft.com/office/drawing/2014/main" id="{2F77759D-E733-4A9C-9DF9-4843357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811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sp>
        <p:nvSpPr>
          <p:cNvPr id="16" name="s1-label-lora">
            <a:extLst xmlns:a="http://schemas.openxmlformats.org/drawingml/2006/main">
              <a:ext uri="{FF2B5EF4-FFF2-40B4-BE49-F238E27FC236}">
                <a16:creationId xmlns:a16="http://schemas.microsoft.com/office/drawing/2014/main" id="{2EF75208-5DF0-448A-B5D4-4C40835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81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sp>
        <p:nvSpPr>
          <p:cNvPr id="17" name="s1-label-https">
            <a:extLst xmlns:a="http://schemas.openxmlformats.org/drawingml/2006/main">
              <a:ext uri="{FF2B5EF4-FFF2-40B4-BE49-F238E27FC236}">
                <a16:creationId xmlns:a16="http://schemas.microsoft.com/office/drawing/2014/main" id="{47B85B3C-C5FD-49B0-96C7-63FAB17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81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sp>
        <p:nvSpPr>
          <p:cNvPr id="18" name="s1-label-poll">
            <a:extLst xmlns:a="http://schemas.openxmlformats.org/drawingml/2006/main">
              <a:ext uri="{FF2B5EF4-FFF2-40B4-BE49-F238E27FC236}">
                <a16:creationId xmlns:a16="http://schemas.microsoft.com/office/drawing/2014/main" id="{6F6073A0-015A-4A78-BFBE-CBCA71A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581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19" name="relay-band">
            <a:extLst xmlns:a="http://schemas.openxmlformats.org/drawingml/2006/main">
              <a:ext uri="{FF2B5EF4-FFF2-40B4-BE49-F238E27FC236}">
                <a16:creationId xmlns:a16="http://schemas.microsoft.com/office/drawing/2014/main" id="{87973672-7129-42EB-ADB6-E89B7CA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4439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BFA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</p:sp>
      <p:sp>
        <p:nvSpPr>
          <p:cNvPr id="20" name="relay-band-label">
            <a:extLst xmlns:a="http://schemas.openxmlformats.org/drawingml/2006/main">
              <a:ext uri="{FF2B5EF4-FFF2-40B4-BE49-F238E27FC236}">
                <a16:creationId xmlns:a16="http://schemas.microsoft.com/office/drawing/2014/main" id="{935E2553-FCD1-4E05-8C14-CAEB4964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Optional relay route</a:t>
            </a:r>
          </a:p>
        </p:txBody>
      </p:sp>
      <p:sp>
        <p:nvSpPr>
          <p:cNvPr id="21" name="s1-relay-pod">
            <a:extLst xmlns:a="http://schemas.openxmlformats.org/drawingml/2006/main">
              <a:ext uri="{FF2B5EF4-FFF2-40B4-BE49-F238E27FC236}">
                <a16:creationId xmlns:a16="http://schemas.microsoft.com/office/drawing/2014/main" id="{743BEC24-A49A-46DB-9D74-D0B2992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link unavailable</a:t>
            </a:r>
          </a:p>
        </p:txBody>
      </p:sp>
      <p:sp>
        <p:nvSpPr>
          <p:cNvPr id="22" name="s1-relay">
            <a:extLst xmlns:a="http://schemas.openxmlformats.org/drawingml/2006/main">
              <a:ext uri="{FF2B5EF4-FFF2-40B4-BE49-F238E27FC236}">
                <a16:creationId xmlns:a16="http://schemas.microsoft.com/office/drawing/2014/main" id="{B56BDD9D-87C7-47E3-84CD-D28E629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TTL and seen-set forwarding</a:t>
            </a:r>
          </a:p>
        </p:txBody>
      </p:sp>
      <p:sp>
        <p:nvSpPr>
          <p:cNvPr id="23" name="s1-relay-gateway">
            <a:extLst xmlns:a="http://schemas.openxmlformats.org/drawingml/2006/main">
              <a:ext uri="{FF2B5EF4-FFF2-40B4-BE49-F238E27FC236}">
                <a16:creationId xmlns:a16="http://schemas.microsoft.com/office/drawing/2014/main" id="{090C9871-C25F-4F67-99A1-B8ED79BE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43350"/>
            <a:ext cx="21431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Receives relayed frame</a:t>
            </a:r>
          </a:p>
        </p:txBody>
      </p:sp>
      <p:cxnSp>
        <p:nvCxnSpPr>
          <p:cNvPr id="74" name="s1-relay-1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334000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75" name="s1-relay-2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524875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6" name="s1-relay-caption-1">
            <a:extLst xmlns:a="http://schemas.openxmlformats.org/drawingml/2006/main">
              <a:ext uri="{FF2B5EF4-FFF2-40B4-BE49-F238E27FC236}">
                <a16:creationId xmlns:a16="http://schemas.microsoft.com/office/drawing/2014/main" id="{A561E404-7985-44EC-9260-5C19A4C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7" name="s1-relay-caption-2">
            <a:extLst xmlns:a="http://schemas.openxmlformats.org/drawingml/2006/main">
              <a:ext uri="{FF2B5EF4-FFF2-40B4-BE49-F238E27FC236}">
                <a16:creationId xmlns:a16="http://schemas.microsoft.com/office/drawing/2014/main" id="{9D7EEFE6-9EAE-4584-8DFF-E6E215BE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8" name="internet-band">
            <a:extLst xmlns:a="http://schemas.openxmlformats.org/drawingml/2006/main">
              <a:ext uri="{FF2B5EF4-FFF2-40B4-BE49-F238E27FC236}">
                <a16:creationId xmlns:a16="http://schemas.microsoft.com/office/drawing/2014/main" id="{96B2BABB-4A14-4A6C-B9EC-E12E413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4439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</p:sp>
      <p:sp>
        <p:nvSpPr>
          <p:cNvPr id="29" name="internet-band-label">
            <a:extLst xmlns:a="http://schemas.openxmlformats.org/drawingml/2006/main">
              <a:ext uri="{FF2B5EF4-FFF2-40B4-BE49-F238E27FC236}">
                <a16:creationId xmlns:a16="http://schemas.microsoft.com/office/drawing/2014/main" id="{BF9A61D6-403F-4735-98FA-52303A5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Direct internet route</a:t>
            </a:r>
          </a:p>
        </p:txBody>
      </p:sp>
      <p:sp>
        <p:nvSpPr>
          <p:cNvPr id="30" name="s1-internet-phone">
            <a:extLst xmlns:a="http://schemas.openxmlformats.org/drawingml/2006/main">
              <a:ext uri="{FF2B5EF4-FFF2-40B4-BE49-F238E27FC236}">
                <a16:creationId xmlns:a16="http://schemas.microsoft.com/office/drawing/2014/main" id="{5935432D-14FF-4E26-AE3C-38CB61E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Internet available</a:t>
            </a:r>
          </a:p>
        </p:txBody>
      </p:sp>
      <p:sp>
        <p:nvSpPr>
          <p:cNvPr id="31" name="s1-internet-backend">
            <a:extLst xmlns:a="http://schemas.openxmlformats.org/drawingml/2006/main">
              <a:ext uri="{FF2B5EF4-FFF2-40B4-BE49-F238E27FC236}">
                <a16:creationId xmlns:a16="http://schemas.microsoft.com/office/drawing/2014/main" id="{60B19374-6B3E-4A67-984E-CED8373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24475"/>
            <a:ext cx="2143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SOS ingest</a:t>
            </a:r>
          </a:p>
        </p:txBody>
      </p:sp>
      <p:cxnSp>
        <p:nvCxnSpPr>
          <p:cNvPr id="82" name="s1-internet-route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638425" y="5572125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s1-internet-label">
            <a:extLst xmlns:a="http://schemas.openxmlformats.org/drawingml/2006/main">
              <a:ext uri="{FF2B5EF4-FFF2-40B4-BE49-F238E27FC236}">
                <a16:creationId xmlns:a16="http://schemas.microsoft.com/office/drawing/2014/main" id="{A692360F-B07F-42CA-BC27-4F4CB5F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57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HTTPS WHEN INTERNET IS AVAILABLE</a:t>
            </a:r>
          </a:p>
        </p:txBody>
      </p:sp>
      <p:sp>
        <p:nvSpPr>
          <p:cNvPr id="34" name="return-band">
            <a:extLst xmlns:a="http://schemas.openxmlformats.org/drawingml/2006/main">
              <a:ext uri="{FF2B5EF4-FFF2-40B4-BE49-F238E27FC236}">
                <a16:creationId xmlns:a16="http://schemas.microsoft.com/office/drawing/2014/main" id="{A41C3408-90EC-4C3D-B258-35CD015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4439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35" name="return-band-label">
            <a:extLst xmlns:a="http://schemas.openxmlformats.org/drawingml/2006/main">
              <a:ext uri="{FF2B5EF4-FFF2-40B4-BE49-F238E27FC236}">
                <a16:creationId xmlns:a16="http://schemas.microsoft.com/office/drawing/2014/main" id="{B511E95F-0929-4317-9FFF-4DF9EC0D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return path</a:t>
            </a:r>
          </a:p>
        </p:txBody>
      </p:sp>
      <p:sp>
        <p:nvSpPr>
          <p:cNvPr id="36" name="s1-return-0">
            <a:extLst xmlns:a="http://schemas.openxmlformats.org/drawingml/2006/main">
              <a:ext uri="{FF2B5EF4-FFF2-40B4-BE49-F238E27FC236}">
                <a16:creationId xmlns:a16="http://schemas.microsoft.com/office/drawing/2014/main" id="{0853622C-69A7-48A2-A47A-A252854A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 and ETA</a:t>
            </a:r>
          </a:p>
        </p:txBody>
      </p:sp>
      <p:sp>
        <p:nvSpPr>
          <p:cNvPr id="37" name="s1-return-1">
            <a:extLst xmlns:a="http://schemas.openxmlformats.org/drawingml/2006/main">
              <a:ext uri="{FF2B5EF4-FFF2-40B4-BE49-F238E27FC236}">
                <a16:creationId xmlns:a16="http://schemas.microsoft.com/office/drawing/2014/main" id="{325EEE0D-1C2A-4D65-9091-E264F2C9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743700"/>
            <a:ext cx="2143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Persist response</a:t>
            </a:r>
          </a:p>
        </p:txBody>
      </p:sp>
      <p:sp>
        <p:nvSpPr>
          <p:cNvPr id="38" name="s1-return-2">
            <a:extLst xmlns:a="http://schemas.openxmlformats.org/drawingml/2006/main">
              <a:ext uri="{FF2B5EF4-FFF2-40B4-BE49-F238E27FC236}">
                <a16:creationId xmlns:a16="http://schemas.microsoft.com/office/drawing/2014/main" id="{39D34577-A345-4A75-8BC5-C0E72FE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downlink</a:t>
            </a:r>
          </a:p>
        </p:txBody>
      </p:sp>
      <p:sp>
        <p:nvSpPr>
          <p:cNvPr id="39" name="s1-return-3">
            <a:extLst xmlns:a="http://schemas.openxmlformats.org/drawingml/2006/main">
              <a:ext uri="{FF2B5EF4-FFF2-40B4-BE49-F238E27FC236}">
                <a16:creationId xmlns:a16="http://schemas.microsoft.com/office/drawing/2014/main" id="{9FB7C8F5-B7B6-4CEA-A95B-3EC9C6E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Cache for phone</a:t>
            </a:r>
          </a:p>
        </p:txBody>
      </p:sp>
      <p:sp>
        <p:nvSpPr>
          <p:cNvPr id="40" name="s1-return-4">
            <a:extLst xmlns:a="http://schemas.openxmlformats.org/drawingml/2006/main">
              <a:ext uri="{FF2B5EF4-FFF2-40B4-BE49-F238E27FC236}">
                <a16:creationId xmlns:a16="http://schemas.microsoft.com/office/drawing/2014/main" id="{B1BD7169-8BDE-4CCF-A5DD-C2B5574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State: ACKNOWLEDGED</a:t>
            </a:r>
          </a:p>
        </p:txBody>
      </p:sp>
      <p:cxnSp>
        <p:nvCxnSpPr>
          <p:cNvPr id="91" name="s1-return-link-0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11906250" y="7077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1-return-link-1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8524875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1-return-link-2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5334000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1-return-link-3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2638425" y="7077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5" name="s1-return-1">
            <a:extLst xmlns:a="http://schemas.openxmlformats.org/drawingml/2006/main">
              <a:ext uri="{FF2B5EF4-FFF2-40B4-BE49-F238E27FC236}">
                <a16:creationId xmlns:a16="http://schemas.microsoft.com/office/drawing/2014/main" id="{76CFEDFF-95CF-491A-B3DA-5DF93BA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4198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46" name="s1-return-2">
            <a:extLst xmlns:a="http://schemas.openxmlformats.org/drawingml/2006/main">
              <a:ext uri="{FF2B5EF4-FFF2-40B4-BE49-F238E27FC236}">
                <a16:creationId xmlns:a16="http://schemas.microsoft.com/office/drawing/2014/main" id="{7029FF18-E511-4D70-8C65-F8770A59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7" name="s1-return-3">
            <a:extLst xmlns:a="http://schemas.openxmlformats.org/drawingml/2006/main">
              <a:ext uri="{FF2B5EF4-FFF2-40B4-BE49-F238E27FC236}">
                <a16:creationId xmlns:a16="http://schemas.microsoft.com/office/drawing/2014/main" id="{560D7748-AF35-4E2C-99AE-87666D15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419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8" name="s1-return-4">
            <a:extLst xmlns:a="http://schemas.openxmlformats.org/drawingml/2006/main">
              <a:ext uri="{FF2B5EF4-FFF2-40B4-BE49-F238E27FC236}">
                <a16:creationId xmlns:a16="http://schemas.microsoft.com/office/drawing/2014/main" id="{475B4C7B-2A59-49BA-8FE1-2E09EEE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4198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42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9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C462D0F0-7C08-4B2D-8808-563EA4F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0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905F0200-CE66-4903-98E9-8F803E07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342718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2">
            <a:extLst xmlns:a="http://schemas.openxmlformats.org/drawingml/2006/main">
              <a:ext uri="{FF2B5EF4-FFF2-40B4-BE49-F238E27FC236}">
                <a16:creationId xmlns:a16="http://schemas.microsoft.com/office/drawing/2014/main" id="{6A55DAFB-4AF0-47EA-BEAB-7D45300D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SOS Delivery and Acknowledgement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4F44F921-6FFD-46C7-9819-9872FAD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Numbered sequence with separate uplink and return tracks</a:t>
            </a:r>
          </a:p>
        </p:txBody>
      </p:sp>
      <p:sp>
        <p:nvSpPr>
          <p:cNvPr id="3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4ABECB41-DED3-4321-9401-07A6840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 OF 3</a:t>
            </a:r>
          </a:p>
        </p:txBody>
      </p:sp>
      <p:sp>
        <p:nvSpPr>
          <p:cNvPr id="4" name="s2-uplink-band">
            <a:extLst xmlns:a="http://schemas.openxmlformats.org/drawingml/2006/main">
              <a:ext uri="{FF2B5EF4-FFF2-40B4-BE49-F238E27FC236}">
                <a16:creationId xmlns:a16="http://schemas.microsoft.com/office/drawing/2014/main" id="{D21B2F96-2A7D-4643-9719-5A6D83F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44399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s2-uplink-band-label">
            <a:extLst xmlns:a="http://schemas.openxmlformats.org/drawingml/2006/main">
              <a:ext uri="{FF2B5EF4-FFF2-40B4-BE49-F238E27FC236}">
                <a16:creationId xmlns:a16="http://schemas.microsoft.com/office/drawing/2014/main" id="{6E2DEFD8-883F-4E9B-9840-FBD1FDCC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Uplink to responders</a:t>
            </a:r>
          </a:p>
        </p:txBody>
      </p:sp>
      <p:sp>
        <p:nvSpPr>
          <p:cNvPr id="6" name="s2-top-0">
            <a:extLst xmlns:a="http://schemas.openxmlformats.org/drawingml/2006/main">
              <a:ext uri="{FF2B5EF4-FFF2-40B4-BE49-F238E27FC236}">
                <a16:creationId xmlns:a16="http://schemas.microsoft.com/office/drawing/2014/main" id="{B3DD7EDC-2CFC-4EC7-86D1-2018A08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saves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Write to SQLite before network attempt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7655B666-64E0-467B-B29B-303BAB9F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2-top-1">
            <a:extLst xmlns:a="http://schemas.openxmlformats.org/drawingml/2006/main">
              <a:ext uri="{FF2B5EF4-FFF2-40B4-BE49-F238E27FC236}">
                <a16:creationId xmlns:a16="http://schemas.microsoft.com/office/drawing/2014/main" id="{7885F557-ADFB-448C-B959-773459D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queues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Accept before phone acknowledgement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86D0890B-46EB-464A-9F3F-7C4B0CB8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14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2-top-2">
            <a:extLst xmlns:a="http://schemas.openxmlformats.org/drawingml/2006/main">
              <a:ext uri="{FF2B5EF4-FFF2-40B4-BE49-F238E27FC236}">
                <a16:creationId xmlns:a16="http://schemas.microsoft.com/office/drawing/2014/main" id="{A1ED2251-1864-400A-815C-D3D22B3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verifies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Verify signature and device identity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3AD4221E-6A68-423A-A142-AB5F7E3B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14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2-top-3">
            <a:extLst xmlns:a="http://schemas.openxmlformats.org/drawingml/2006/main">
              <a:ext uri="{FF2B5EF4-FFF2-40B4-BE49-F238E27FC236}">
                <a16:creationId xmlns:a16="http://schemas.microsoft.com/office/drawing/2014/main" id="{85D152CB-22AE-4DF1-94CA-B5636B21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commits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Deduplicate and persist the incident</a:t>
            </a:r>
          </a:p>
        </p:txBody>
      </p:sp>
      <p:sp>
        <p:nvSpPr>
          <p:cNvPr id="13" name="step-4">
            <a:extLst xmlns:a="http://schemas.openxmlformats.org/drawingml/2006/main">
              <a:ext uri="{FF2B5EF4-FFF2-40B4-BE49-F238E27FC236}">
                <a16:creationId xmlns:a16="http://schemas.microsoft.com/office/drawing/2014/main" id="{863241CA-761D-462A-8A57-3C3AFE6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14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2-top-4">
            <a:extLst xmlns:a="http://schemas.openxmlformats.org/drawingml/2006/main">
              <a:ext uri="{FF2B5EF4-FFF2-40B4-BE49-F238E27FC236}">
                <a16:creationId xmlns:a16="http://schemas.microsoft.com/office/drawing/2014/main" id="{592D158E-8113-4FC3-9306-7E6618B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displays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Protected polling refreshes the feed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AD787104-8542-41C0-9C6C-FEE0F09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1914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67" name="s2-top-link-0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s2-top-label-0">
            <a:extLst xmlns:a="http://schemas.openxmlformats.org/drawingml/2006/main">
              <a:ext uri="{FF2B5EF4-FFF2-40B4-BE49-F238E27FC236}">
                <a16:creationId xmlns:a16="http://schemas.microsoft.com/office/drawing/2014/main" id="{F271F33F-8AF6-4045-A31A-CC231C2D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cxnSp>
        <p:nvCxnSpPr>
          <p:cNvPr id="69" name="s2-top-link-1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15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9" name="s2-top-label-1">
            <a:extLst xmlns:a="http://schemas.openxmlformats.org/drawingml/2006/main">
              <a:ext uri="{FF2B5EF4-FFF2-40B4-BE49-F238E27FC236}">
                <a16:creationId xmlns:a16="http://schemas.microsoft.com/office/drawing/2014/main" id="{74CD7DBD-3B84-4DAB-93ED-77AC258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SIGNED LoAM FRAME</a:t>
            </a:r>
          </a:p>
        </p:txBody>
      </p:sp>
      <p:cxnSp>
        <p:nvCxnSpPr>
          <p:cNvPr id="71" name="s2-top-link-2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2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s2-top-label-2">
            <a:extLst xmlns:a="http://schemas.openxmlformats.org/drawingml/2006/main">
              <a:ext uri="{FF2B5EF4-FFF2-40B4-BE49-F238E27FC236}">
                <a16:creationId xmlns:a16="http://schemas.microsoft.com/office/drawing/2014/main" id="{D37CA663-CF94-4C56-B868-04210AC3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73" name="s2-top-link-3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430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s2-top-label-3">
            <a:extLst xmlns:a="http://schemas.openxmlformats.org/drawingml/2006/main">
              <a:ext uri="{FF2B5EF4-FFF2-40B4-BE49-F238E27FC236}">
                <a16:creationId xmlns:a16="http://schemas.microsoft.com/office/drawing/2014/main" id="{456FCE82-720B-412C-A388-CEF83CC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849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24" name="s2-state-saved">
            <a:extLst xmlns:a="http://schemas.openxmlformats.org/drawingml/2006/main">
              <a:ext uri="{FF2B5EF4-FFF2-40B4-BE49-F238E27FC236}">
                <a16:creationId xmlns:a16="http://schemas.microsoft.com/office/drawing/2014/main" id="{E6ED9058-4FB3-4B03-909C-6426752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SAVED</a:t>
            </a:r>
          </a:p>
        </p:txBody>
      </p:sp>
      <p:sp>
        <p:nvSpPr>
          <p:cNvPr id="25" name="s2-state-relayed">
            <a:extLst xmlns:a="http://schemas.openxmlformats.org/drawingml/2006/main">
              <a:ext uri="{FF2B5EF4-FFF2-40B4-BE49-F238E27FC236}">
                <a16:creationId xmlns:a16="http://schemas.microsoft.com/office/drawing/2014/main" id="{B2117CE4-BB69-43FA-9604-0B96F1E5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RELAYED</a:t>
            </a:r>
          </a:p>
        </p:txBody>
      </p:sp>
      <p:sp>
        <p:nvSpPr>
          <p:cNvPr id="26" name="s2-state-delivered">
            <a:extLst xmlns:a="http://schemas.openxmlformats.org/drawingml/2006/main">
              <a:ext uri="{FF2B5EF4-FFF2-40B4-BE49-F238E27FC236}">
                <a16:creationId xmlns:a16="http://schemas.microsoft.com/office/drawing/2014/main" id="{294F796B-2A88-4489-B791-C4078A0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7" name="s2-return-band">
            <a:extLst xmlns:a="http://schemas.openxmlformats.org/drawingml/2006/main">
              <a:ext uri="{FF2B5EF4-FFF2-40B4-BE49-F238E27FC236}">
                <a16:creationId xmlns:a16="http://schemas.microsoft.com/office/drawing/2014/main" id="{03BDB222-7AF2-4933-8345-7EA35C2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443990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28" name="s2-return-band-label">
            <a:extLst xmlns:a="http://schemas.openxmlformats.org/drawingml/2006/main">
              <a:ext uri="{FF2B5EF4-FFF2-40B4-BE49-F238E27FC236}">
                <a16:creationId xmlns:a16="http://schemas.microsoft.com/office/drawing/2014/main" id="{EB906263-B4B0-4BF4-8612-E81F0FF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action and return</a:t>
            </a:r>
          </a:p>
        </p:txBody>
      </p:sp>
      <p:sp>
        <p:nvSpPr>
          <p:cNvPr id="29" name="s2-bottom-0">
            <a:extLst xmlns:a="http://schemas.openxmlformats.org/drawingml/2006/main">
              <a:ext uri="{FF2B5EF4-FFF2-40B4-BE49-F238E27FC236}">
                <a16:creationId xmlns:a16="http://schemas.microsoft.com/office/drawing/2014/main" id="{3FAD86D2-07CF-413C-9F41-5D34C608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responder status</a:t>
            </a:r>
          </a:p>
        </p:txBody>
      </p:sp>
      <p:sp>
        <p:nvSpPr>
          <p:cNvPr id="30" name="step-6">
            <a:extLst xmlns:a="http://schemas.openxmlformats.org/drawingml/2006/main">
              <a:ext uri="{FF2B5EF4-FFF2-40B4-BE49-F238E27FC236}">
                <a16:creationId xmlns:a16="http://schemas.microsoft.com/office/drawing/2014/main" id="{7175AD5A-8473-481F-BA29-37128896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276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s2-bottom-1">
            <a:extLst xmlns:a="http://schemas.openxmlformats.org/drawingml/2006/main">
              <a:ext uri="{FF2B5EF4-FFF2-40B4-BE49-F238E27FC236}">
                <a16:creationId xmlns:a16="http://schemas.microsoft.com/office/drawing/2014/main" id="{7D480060-D8F0-4867-86AC-2ACAFC4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stores response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Acknowledgement becomes authoritative</a:t>
            </a:r>
          </a:p>
        </p:txBody>
      </p:sp>
      <p:sp>
        <p:nvSpPr>
          <p:cNvPr id="32" name="step-7">
            <a:extLst xmlns:a="http://schemas.openxmlformats.org/drawingml/2006/main">
              <a:ext uri="{FF2B5EF4-FFF2-40B4-BE49-F238E27FC236}">
                <a16:creationId xmlns:a16="http://schemas.microsoft.com/office/drawing/2014/main" id="{4BBE58DC-F22C-4F92-B220-F2D9E8F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76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" name="s2-bottom-2">
            <a:extLst xmlns:a="http://schemas.openxmlformats.org/drawingml/2006/main">
              <a:ext uri="{FF2B5EF4-FFF2-40B4-BE49-F238E27FC236}">
                <a16:creationId xmlns:a16="http://schemas.microsoft.com/office/drawing/2014/main" id="{1D021099-B067-4936-AFD4-42B03A3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sends downlink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response when a radio path exists</a:t>
            </a:r>
          </a:p>
        </p:txBody>
      </p:sp>
      <p:sp>
        <p:nvSpPr>
          <p:cNvPr id="34" name="step-8">
            <a:extLst xmlns:a="http://schemas.openxmlformats.org/drawingml/2006/main">
              <a:ext uri="{FF2B5EF4-FFF2-40B4-BE49-F238E27FC236}">
                <a16:creationId xmlns:a16="http://schemas.microsoft.com/office/drawing/2014/main" id="{7A3E1427-209E-4198-8CA0-F31BA996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76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" name="s2-bottom-3">
            <a:extLst xmlns:a="http://schemas.openxmlformats.org/drawingml/2006/main">
              <a:ext uri="{FF2B5EF4-FFF2-40B4-BE49-F238E27FC236}">
                <a16:creationId xmlns:a16="http://schemas.microsoft.com/office/drawing/2014/main" id="{2BAA4A8F-76DF-4DCF-8303-1A304380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exposes status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Phone reads cached acknowledgement</a:t>
            </a:r>
          </a:p>
        </p:txBody>
      </p:sp>
      <p:sp>
        <p:nvSpPr>
          <p:cNvPr id="36" name="step-9">
            <a:extLst xmlns:a="http://schemas.openxmlformats.org/drawingml/2006/main">
              <a:ext uri="{FF2B5EF4-FFF2-40B4-BE49-F238E27FC236}">
                <a16:creationId xmlns:a16="http://schemas.microsoft.com/office/drawing/2014/main" id="{A5CD03CC-752C-4A4D-B350-668731E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76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s2-bottom-4">
            <a:extLst xmlns:a="http://schemas.openxmlformats.org/drawingml/2006/main">
              <a:ext uri="{FF2B5EF4-FFF2-40B4-BE49-F238E27FC236}">
                <a16:creationId xmlns:a16="http://schemas.microsoft.com/office/drawing/2014/main" id="{4B50194B-582E-4B4E-BB06-A41D436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reconciles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Show ACKNOWLEDGED only after evidence</a:t>
            </a:r>
          </a:p>
        </p:txBody>
      </p:sp>
      <p:sp>
        <p:nvSpPr>
          <p:cNvPr id="38" name="step-10">
            <a:extLst xmlns:a="http://schemas.openxmlformats.org/drawingml/2006/main">
              <a:ext uri="{FF2B5EF4-FFF2-40B4-BE49-F238E27FC236}">
                <a16:creationId xmlns:a16="http://schemas.microsoft.com/office/drawing/2014/main" id="{6F1CE550-11AC-49CA-A361-41ECF31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76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90" name="s2-transition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3192125" y="3114675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1" name="s2-bottom-link-0"/>
          <p:cNvCxnSpPr>
            <a:stCxn xmlns:a="http://schemas.openxmlformats.org/drawingml/2006/main" id="29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11430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2-bottom-link-1"/>
          <p:cNvCxnSpPr>
            <a:stCxn xmlns:a="http://schemas.openxmlformats.org/drawingml/2006/main" id="31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572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2-bottom-link-2"/>
          <p:cNvCxnSpPr>
            <a:stCxn xmlns:a="http://schemas.openxmlformats.org/drawingml/2006/main" id="33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5715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2-bottom-link-3"/>
          <p:cNvCxnSpPr>
            <a:stCxn xmlns:a="http://schemas.openxmlformats.org/drawingml/2006/main" id="35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857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4" name="s2-return-label-0">
            <a:extLst xmlns:a="http://schemas.openxmlformats.org/drawingml/2006/main">
              <a:ext uri="{FF2B5EF4-FFF2-40B4-BE49-F238E27FC236}">
                <a16:creationId xmlns:a16="http://schemas.microsoft.com/office/drawing/2014/main" id="{43D3482B-3B6F-478F-95FE-8755782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45" name="s2-return-label-1">
            <a:extLst xmlns:a="http://schemas.openxmlformats.org/drawingml/2006/main">
              <a:ext uri="{FF2B5EF4-FFF2-40B4-BE49-F238E27FC236}">
                <a16:creationId xmlns:a16="http://schemas.microsoft.com/office/drawing/2014/main" id="{0D7153E1-5421-4E04-ADBA-96ACE58B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6" name="s2-return-label-2">
            <a:extLst xmlns:a="http://schemas.openxmlformats.org/drawingml/2006/main">
              <a:ext uri="{FF2B5EF4-FFF2-40B4-BE49-F238E27FC236}">
                <a16:creationId xmlns:a16="http://schemas.microsoft.com/office/drawing/2014/main" id="{59852958-D629-4A93-BC9D-FE5CDAD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7" name="s2-return-label-3">
            <a:extLst xmlns:a="http://schemas.openxmlformats.org/drawingml/2006/main">
              <a:ext uri="{FF2B5EF4-FFF2-40B4-BE49-F238E27FC236}">
                <a16:creationId xmlns:a16="http://schemas.microsoft.com/office/drawing/2014/main" id="{BC3A2A87-7BC5-4744-B79D-E9EC97C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8" name="s2-state-ack">
            <a:extLst xmlns:a="http://schemas.openxmlformats.org/drawingml/2006/main">
              <a:ext uri="{FF2B5EF4-FFF2-40B4-BE49-F238E27FC236}">
                <a16:creationId xmlns:a16="http://schemas.microsoft.com/office/drawing/2014/main" id="{B7066429-8092-458A-AE5C-94A2F7CB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143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ACKNOWLEDGED</a:t>
            </a:r>
          </a:p>
        </p:txBody>
      </p:sp>
      <p:sp>
        <p:nvSpPr>
          <p:cNvPr id="49" name="s2-honesty">
            <a:extLst xmlns:a="http://schemas.openxmlformats.org/drawingml/2006/main">
              <a:ext uri="{FF2B5EF4-FFF2-40B4-BE49-F238E27FC236}">
                <a16:creationId xmlns:a16="http://schemas.microsoft.com/office/drawing/2014/main" id="{2691A04D-0FF7-4C66-BAE7-737E3BDC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770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If no return path exists, the handset keeps its last proven state. It never invents delivery or acknowledgement.</a:t>
            </a:r>
          </a:p>
        </p:txBody>
      </p:sp>
      <p:sp>
        <p:nvSpPr>
          <p:cNvPr id="50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6365902A-A181-420E-B01A-C8BE6CE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1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A5215B0B-D3F6-4BFC-84B1-F4F342F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20901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itle-3">
            <a:extLst xmlns:a="http://schemas.openxmlformats.org/drawingml/2006/main">
              <a:ext uri="{FF2B5EF4-FFF2-40B4-BE49-F238E27FC236}">
                <a16:creationId xmlns:a16="http://schemas.microsoft.com/office/drawing/2014/main" id="{C220870B-8B38-447F-AF4F-E48998CF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Processing Pipelines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EE8BCC60-F973-46F4-AFE1-1D92F61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Each pipeline has its own lane, arrow color and output surface</a:t>
            </a:r>
          </a:p>
        </p:txBody>
      </p:sp>
      <p:sp>
        <p:nvSpPr>
          <p:cNvPr id="3" name="page-marker-3">
            <a:extLst xmlns:a="http://schemas.openxmlformats.org/drawingml/2006/main">
              <a:ext uri="{FF2B5EF4-FFF2-40B4-BE49-F238E27FC236}">
                <a16:creationId xmlns:a16="http://schemas.microsoft.com/office/drawing/2014/main" id="{580D7D1E-DBFB-4EB2-B0C7-F94A34D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OF 3</a:t>
            </a:r>
          </a:p>
        </p:txBody>
      </p:sp>
      <p:sp>
        <p:nvSpPr>
          <p:cNvPr id="4" name="s3-col-0">
            <a:extLst xmlns:a="http://schemas.openxmlformats.org/drawingml/2006/main">
              <a:ext uri="{FF2B5EF4-FFF2-40B4-BE49-F238E27FC236}">
                <a16:creationId xmlns:a16="http://schemas.microsoft.com/office/drawing/2014/main" id="{218D2462-1721-4CD9-A03C-66E2DC5B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s3-col-1">
            <a:extLst xmlns:a="http://schemas.openxmlformats.org/drawingml/2006/main">
              <a:ext uri="{FF2B5EF4-FFF2-40B4-BE49-F238E27FC236}">
                <a16:creationId xmlns:a16="http://schemas.microsoft.com/office/drawing/2014/main" id="{993E3672-8915-42FE-BFA7-AC9E377F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QUALITY AND PREPARATION</a:t>
            </a:r>
          </a:p>
        </p:txBody>
      </p:sp>
      <p:sp>
        <p:nvSpPr>
          <p:cNvPr id="6" name="s3-col-2">
            <a:extLst xmlns:a="http://schemas.openxmlformats.org/drawingml/2006/main">
              <a:ext uri="{FF2B5EF4-FFF2-40B4-BE49-F238E27FC236}">
                <a16:creationId xmlns:a16="http://schemas.microsoft.com/office/drawing/2014/main" id="{7324208F-B494-4520-8C80-4BB0403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MODEL OR CORE LOGIC</a:t>
            </a:r>
          </a:p>
        </p:txBody>
      </p:sp>
      <p:sp>
        <p:nvSpPr>
          <p:cNvPr id="7" name="s3-col-3">
            <a:extLst xmlns:a="http://schemas.openxmlformats.org/drawingml/2006/main">
              <a:ext uri="{FF2B5EF4-FFF2-40B4-BE49-F238E27FC236}">
                <a16:creationId xmlns:a16="http://schemas.microsoft.com/office/drawing/2014/main" id="{F900748B-49A6-4A1F-A185-961558D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DECISION WORKFLOW</a:t>
            </a:r>
          </a:p>
        </p:txBody>
      </p:sp>
      <p:sp>
        <p:nvSpPr>
          <p:cNvPr id="8" name="s3-col-4">
            <a:extLst xmlns:a="http://schemas.openxmlformats.org/drawingml/2006/main">
              <a:ext uri="{FF2B5EF4-FFF2-40B4-BE49-F238E27FC236}">
                <a16:creationId xmlns:a16="http://schemas.microsoft.com/office/drawing/2014/main" id="{7DA28A80-F736-4973-9CBA-3BD041D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0858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s3-sos-band">
            <a:extLst xmlns:a="http://schemas.openxmlformats.org/drawingml/2006/main">
              <a:ext uri="{FF2B5EF4-FFF2-40B4-BE49-F238E27FC236}">
                <a16:creationId xmlns:a16="http://schemas.microsoft.com/office/drawing/2014/main" id="{AA56FCEB-7903-49C7-9002-0D1948D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0" name="s3-sos-title">
            <a:extLst xmlns:a="http://schemas.openxmlformats.org/drawingml/2006/main">
              <a:ext uri="{FF2B5EF4-FFF2-40B4-BE49-F238E27FC236}">
                <a16:creationId xmlns:a16="http://schemas.microsoft.com/office/drawing/2014/main" id="{61E3967D-3047-4B68-9815-C5F68E1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MANUAL SOS</a:t>
            </a:r>
          </a:p>
        </p:txBody>
      </p:sp>
      <p:sp>
        <p:nvSpPr>
          <p:cNvPr id="11" name="s3-sos-0">
            <a:extLst xmlns:a="http://schemas.openxmlformats.org/drawingml/2006/main">
              <a:ext uri="{FF2B5EF4-FFF2-40B4-BE49-F238E27FC236}">
                <a16:creationId xmlns:a16="http://schemas.microsoft.com/office/drawing/2014/main" id="{2D5A7502-2A2A-41C2-9751-B57F0FC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or pod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Human-triggered distress</a:t>
            </a:r>
          </a:p>
        </p:txBody>
      </p:sp>
      <p:sp>
        <p:nvSpPr>
          <p:cNvPr id="12" name="s3-sos-1">
            <a:extLst xmlns:a="http://schemas.openxmlformats.org/drawingml/2006/main">
              <a:ext uri="{FF2B5EF4-FFF2-40B4-BE49-F238E27FC236}">
                <a16:creationId xmlns:a16="http://schemas.microsoft.com/office/drawing/2014/main" id="{AD8F6E41-C986-4156-91ED-214A8D3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Emergency intake remains unconditional</a:t>
            </a:r>
          </a:p>
        </p:txBody>
      </p:sp>
      <p:sp>
        <p:nvSpPr>
          <p:cNvPr id="13" name="s3-sos-2">
            <a:extLst xmlns:a="http://schemas.openxmlformats.org/drawingml/2006/main">
              <a:ext uri="{FF2B5EF4-FFF2-40B4-BE49-F238E27FC236}">
                <a16:creationId xmlns:a16="http://schemas.microsoft.com/office/drawing/2014/main" id="{5CA7E312-44BF-412D-AAAF-84E9D056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AI does not gate delivery</a:t>
            </a:r>
          </a:p>
        </p:txBody>
      </p:sp>
      <p:sp>
        <p:nvSpPr>
          <p:cNvPr id="14" name="s3-sos-3">
            <a:extLst xmlns:a="http://schemas.openxmlformats.org/drawingml/2006/main">
              <a:ext uri="{FF2B5EF4-FFF2-40B4-BE49-F238E27FC236}">
                <a16:creationId xmlns:a16="http://schemas.microsoft.com/office/drawing/2014/main" id="{DB712E4C-F186-4B62-8DB0-CA1612D7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resolution</a:t>
            </a:r>
          </a:p>
        </p:txBody>
      </p:sp>
      <p:sp>
        <p:nvSpPr>
          <p:cNvPr id="15" name="s3-sos-4">
            <a:extLst xmlns:a="http://schemas.openxmlformats.org/drawingml/2006/main">
              <a:ext uri="{FF2B5EF4-FFF2-40B4-BE49-F238E27FC236}">
                <a16:creationId xmlns:a16="http://schemas.microsoft.com/office/drawing/2014/main" id="{D55CA4D5-DEA8-420E-912F-1A7F90DA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5621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and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Delivery state evidence</a:t>
            </a:r>
          </a:p>
        </p:txBody>
      </p:sp>
      <p:cxnSp>
        <p:nvCxnSpPr>
          <p:cNvPr id="82" name="s3-sos-link-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3" name="s3-sos-link-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62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4" name="s3-sos-link-2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39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5" name="s3-sos-link-3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715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s3-weather-band">
            <a:extLst xmlns:a="http://schemas.openxmlformats.org/drawingml/2006/main">
              <a:ext uri="{FF2B5EF4-FFF2-40B4-BE49-F238E27FC236}">
                <a16:creationId xmlns:a16="http://schemas.microsoft.com/office/drawing/2014/main" id="{D2318748-4679-4CEB-ABE4-C526A42E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21" name="s3-weather-title">
            <a:extLst xmlns:a="http://schemas.openxmlformats.org/drawingml/2006/main">
              <a:ext uri="{FF2B5EF4-FFF2-40B4-BE49-F238E27FC236}">
                <a16:creationId xmlns:a16="http://schemas.microsoft.com/office/drawing/2014/main" id="{8D693200-EAAB-4914-A99A-879CBFF4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52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52A8"/>
                </a:solidFill>
                <a:latin typeface="Arial"/>
                <a:ea typeface="Arial"/>
                <a:cs typeface="Arial"/>
              </a:rPr>
              <a:t>ENVIRONMENTAL WARNING</a:t>
            </a:r>
          </a:p>
        </p:txBody>
      </p:sp>
      <p:sp>
        <p:nvSpPr>
          <p:cNvPr id="22" name="s3-weather-0">
            <a:extLst xmlns:a="http://schemas.openxmlformats.org/drawingml/2006/main">
              <a:ext uri="{FF2B5EF4-FFF2-40B4-BE49-F238E27FC236}">
                <a16:creationId xmlns:a16="http://schemas.microsoft.com/office/drawing/2014/main" id="{123421FB-5A18-4C36-B796-FF1020E0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Pressure and weather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Fixed buoys plus Open-Meteo</a:t>
            </a:r>
          </a:p>
        </p:txBody>
      </p:sp>
      <p:sp>
        <p:nvSpPr>
          <p:cNvPr id="23" name="s3-weather-1">
            <a:extLst xmlns:a="http://schemas.openxmlformats.org/drawingml/2006/main">
              <a:ext uri="{FF2B5EF4-FFF2-40B4-BE49-F238E27FC236}">
                <a16:creationId xmlns:a16="http://schemas.microsoft.com/office/drawing/2014/main" id="{AD583006-FEA1-475A-B625-F690BA6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Reject stale or insufficient input</a:t>
            </a:r>
          </a:p>
        </p:txBody>
      </p:sp>
      <p:sp>
        <p:nvSpPr>
          <p:cNvPr id="24" name="s3-weather-2">
            <a:extLst xmlns:a="http://schemas.openxmlformats.org/drawingml/2006/main">
              <a:ext uri="{FF2B5EF4-FFF2-40B4-BE49-F238E27FC236}">
                <a16:creationId xmlns:a16="http://schemas.microsoft.com/office/drawing/2014/main" id="{337AABBC-E251-44F0-81D7-2635389B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Squall and danger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Backend and browser inference</a:t>
            </a:r>
          </a:p>
        </p:txBody>
      </p:sp>
      <p:sp>
        <p:nvSpPr>
          <p:cNvPr id="25" name="s3-weather-3">
            <a:extLst xmlns:a="http://schemas.openxmlformats.org/drawingml/2006/main">
              <a:ext uri="{FF2B5EF4-FFF2-40B4-BE49-F238E27FC236}">
                <a16:creationId xmlns:a16="http://schemas.microsoft.com/office/drawing/2014/main" id="{8F56E7A3-5091-4858-9245-9D84F5B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review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Official and human warnings take precedence</a:t>
            </a:r>
          </a:p>
        </p:txBody>
      </p:sp>
      <p:sp>
        <p:nvSpPr>
          <p:cNvPr id="26" name="s3-weather-4">
            <a:extLst xmlns:a="http://schemas.openxmlformats.org/drawingml/2006/main">
              <a:ext uri="{FF2B5EF4-FFF2-40B4-BE49-F238E27FC236}">
                <a16:creationId xmlns:a16="http://schemas.microsoft.com/office/drawing/2014/main" id="{AEA2B27C-45D5-4600-8ED5-23CFDAA7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194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Warning with source and age</a:t>
            </a:r>
          </a:p>
        </p:txBody>
      </p:sp>
      <p:cxnSp>
        <p:nvCxnSpPr>
          <p:cNvPr id="93" name="s3-weather-link-0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86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4" name="s3-weather-link-1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62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5" name="s3-weather-link-2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9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6" name="s3-weather-link-3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715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s3-trip-band">
            <a:extLst xmlns:a="http://schemas.openxmlformats.org/drawingml/2006/main">
              <a:ext uri="{FF2B5EF4-FFF2-40B4-BE49-F238E27FC236}">
                <a16:creationId xmlns:a16="http://schemas.microsoft.com/office/drawing/2014/main" id="{3B9AD404-19C5-4D95-B741-F46AE2F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CB8"/>
            </a:solidFill>
            <a:prstDash val="solid"/>
          </a:ln>
        </p:spPr>
      </p:sp>
      <p:sp>
        <p:nvSpPr>
          <p:cNvPr id="32" name="s3-trip-title">
            <a:extLst xmlns:a="http://schemas.openxmlformats.org/drawingml/2006/main">
              <a:ext uri="{FF2B5EF4-FFF2-40B4-BE49-F238E27FC236}">
                <a16:creationId xmlns:a16="http://schemas.microsoft.com/office/drawing/2014/main" id="{6D2B4C31-10FA-48DD-A9BD-CE7FCBD4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C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5CB8"/>
                </a:solidFill>
                <a:latin typeface="Arial"/>
                <a:ea typeface="Arial"/>
                <a:cs typeface="Arial"/>
              </a:rPr>
              <a:t>TRIP ANOMALY</a:t>
            </a:r>
          </a:p>
        </p:txBody>
      </p:sp>
      <p:sp>
        <p:nvSpPr>
          <p:cNvPr id="33" name="s3-trip-0">
            <a:extLst xmlns:a="http://schemas.openxmlformats.org/drawingml/2006/main">
              <a:ext uri="{FF2B5EF4-FFF2-40B4-BE49-F238E27FC236}">
                <a16:creationId xmlns:a16="http://schemas.microsoft.com/office/drawing/2014/main" id="{47366797-80ED-4243-B306-52C2E95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Contacts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Routine vessel observations</a:t>
            </a:r>
          </a:p>
        </p:txBody>
      </p:sp>
      <p:sp>
        <p:nvSpPr>
          <p:cNvPr id="34" name="s3-trip-1">
            <a:extLst xmlns:a="http://schemas.openxmlformats.org/drawingml/2006/main">
              <a:ext uri="{FF2B5EF4-FFF2-40B4-BE49-F238E27FC236}">
                <a16:creationId xmlns:a16="http://schemas.microsoft.com/office/drawing/2014/main" id="{4E3AE39F-7DB7-43A3-A341-88B23DDC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Causal history filter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future or candidate leakage</a:t>
            </a:r>
          </a:p>
        </p:txBody>
      </p:sp>
      <p:sp>
        <p:nvSpPr>
          <p:cNvPr id="35" name="s3-trip-2">
            <a:extLst xmlns:a="http://schemas.openxmlformats.org/drawingml/2006/main">
              <a:ext uri="{FF2B5EF4-FFF2-40B4-BE49-F238E27FC236}">
                <a16:creationId xmlns:a16="http://schemas.microsoft.com/office/drawing/2014/main" id="{3E3E6C96-0478-42AB-98FC-B832480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Duration and route comparison</a:t>
            </a:r>
          </a:p>
        </p:txBody>
      </p:sp>
      <p:sp>
        <p:nvSpPr>
          <p:cNvPr id="36" name="s3-trip-3">
            <a:extLst xmlns:a="http://schemas.openxmlformats.org/drawingml/2006/main">
              <a:ext uri="{FF2B5EF4-FFF2-40B4-BE49-F238E27FC236}">
                <a16:creationId xmlns:a16="http://schemas.microsoft.com/office/drawing/2014/main" id="{38615156-F0E0-4CDF-9E44-E065DBDE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Silence alone does not prove distress</a:t>
            </a:r>
          </a:p>
        </p:txBody>
      </p:sp>
      <p:sp>
        <p:nvSpPr>
          <p:cNvPr id="37" name="s3-trip-4">
            <a:extLst xmlns:a="http://schemas.openxmlformats.org/drawingml/2006/main">
              <a:ext uri="{FF2B5EF4-FFF2-40B4-BE49-F238E27FC236}">
                <a16:creationId xmlns:a16="http://schemas.microsoft.com/office/drawing/2014/main" id="{0F422C25-0339-466C-BE66-186FA5D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767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Evidence and confidence</a:t>
            </a:r>
          </a:p>
        </p:txBody>
      </p:sp>
      <p:cxnSp>
        <p:nvCxnSpPr>
          <p:cNvPr id="104" name="s3-trip-link-0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286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5" name="s3-trip-link-1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762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s3-trip-link-2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239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7" name="s3-trip-link-3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1715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s3-drift-band">
            <a:extLst xmlns:a="http://schemas.openxmlformats.org/drawingml/2006/main">
              <a:ext uri="{FF2B5EF4-FFF2-40B4-BE49-F238E27FC236}">
                <a16:creationId xmlns:a16="http://schemas.microsoft.com/office/drawing/2014/main" id="{41692B40-4D2C-4C22-BB59-D3A0661C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A8"/>
            </a:solidFill>
            <a:prstDash val="solid"/>
          </a:ln>
        </p:spPr>
      </p:sp>
      <p:sp>
        <p:nvSpPr>
          <p:cNvPr id="43" name="s3-drift-title">
            <a:extLst xmlns:a="http://schemas.openxmlformats.org/drawingml/2006/main">
              <a:ext uri="{FF2B5EF4-FFF2-40B4-BE49-F238E27FC236}">
                <a16:creationId xmlns:a16="http://schemas.microsoft.com/office/drawing/2014/main" id="{3324D95C-B5CF-4BFB-B637-900B9E04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A8"/>
                </a:solidFill>
                <a:latin typeface="Arial"/>
                <a:ea typeface="Arial"/>
                <a:cs typeface="Arial"/>
              </a:rPr>
              <a:t>DRIFT AND SEARCH</a:t>
            </a:r>
          </a:p>
        </p:txBody>
      </p:sp>
      <p:sp>
        <p:nvSpPr>
          <p:cNvPr id="44" name="s3-drift-0">
            <a:extLst xmlns:a="http://schemas.openxmlformats.org/drawingml/2006/main">
              <a:ext uri="{FF2B5EF4-FFF2-40B4-BE49-F238E27FC236}">
                <a16:creationId xmlns:a16="http://schemas.microsoft.com/office/drawing/2014/main" id="{7B1632CC-BC27-4339-B62B-5F230C6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Last reliable fix and object class</a:t>
            </a:r>
          </a:p>
        </p:txBody>
      </p:sp>
      <p:sp>
        <p:nvSpPr>
          <p:cNvPr id="45" name="s3-drift-1">
            <a:extLst xmlns:a="http://schemas.openxmlformats.org/drawingml/2006/main">
              <a:ext uri="{FF2B5EF4-FFF2-40B4-BE49-F238E27FC236}">
                <a16:creationId xmlns:a16="http://schemas.microsoft.com/office/drawing/2014/main" id="{83CD529A-00AB-441F-ADBC-2B7361A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forcing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Wind, current and coastline</a:t>
            </a:r>
          </a:p>
        </p:txBody>
      </p:sp>
      <p:sp>
        <p:nvSpPr>
          <p:cNvPr id="46" name="s3-drift-2">
            <a:extLst xmlns:a="http://schemas.openxmlformats.org/drawingml/2006/main">
              <a:ext uri="{FF2B5EF4-FFF2-40B4-BE49-F238E27FC236}">
                <a16:creationId xmlns:a16="http://schemas.microsoft.com/office/drawing/2014/main" id="{33572782-53A6-409D-ABD7-594D0945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Particle paths and uncertainty</a:t>
            </a:r>
          </a:p>
        </p:txBody>
      </p:sp>
      <p:sp>
        <p:nvSpPr>
          <p:cNvPr id="47" name="s3-drift-3">
            <a:extLst xmlns:a="http://schemas.openxmlformats.org/drawingml/2006/main">
              <a:ext uri="{FF2B5EF4-FFF2-40B4-BE49-F238E27FC236}">
                <a16:creationId xmlns:a16="http://schemas.microsoft.com/office/drawing/2014/main" id="{15F239EC-58CF-4AE3-BCA6-4879BBB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Negative search evidence</a:t>
            </a:r>
          </a:p>
        </p:txBody>
      </p:sp>
      <p:sp>
        <p:nvSpPr>
          <p:cNvPr id="48" name="s3-drift-4">
            <a:extLst xmlns:a="http://schemas.openxmlformats.org/drawingml/2006/main">
              <a:ext uri="{FF2B5EF4-FFF2-40B4-BE49-F238E27FC236}">
                <a16:creationId xmlns:a16="http://schemas.microsoft.com/office/drawing/2014/main" id="{B352D3D4-61F2-407A-BB6E-ADEBF29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340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contours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50, 75 and 95 percent zones</a:t>
            </a:r>
          </a:p>
        </p:txBody>
      </p:sp>
      <p:cxnSp>
        <p:nvCxnSpPr>
          <p:cNvPr id="115" name="s3-drift-link-0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286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6" name="s3-drift-link-1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762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7" name="s3-drift-link-2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239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8" name="s3-drift-link-3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1715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s3-catch-band">
            <a:extLst xmlns:a="http://schemas.openxmlformats.org/drawingml/2006/main">
              <a:ext uri="{FF2B5EF4-FFF2-40B4-BE49-F238E27FC236}">
                <a16:creationId xmlns:a16="http://schemas.microsoft.com/office/drawing/2014/main" id="{78A8C7A1-EFBB-49D9-A3B1-BC08A35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54" name="s3-catch-title">
            <a:extLst xmlns:a="http://schemas.openxmlformats.org/drawingml/2006/main">
              <a:ext uri="{FF2B5EF4-FFF2-40B4-BE49-F238E27FC236}">
                <a16:creationId xmlns:a16="http://schemas.microsoft.com/office/drawing/2014/main" id="{7B9134F1-E408-427B-8382-55028B3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437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D54"/>
                </a:solidFill>
                <a:latin typeface="Arial"/>
                <a:ea typeface="Arial"/>
                <a:cs typeface="Arial"/>
              </a:rPr>
              <a:t>CONSENTED CATCH ACTIVITY</a:t>
            </a:r>
          </a:p>
        </p:txBody>
      </p:sp>
      <p:sp>
        <p:nvSpPr>
          <p:cNvPr id="55" name="s3-catch-0">
            <a:extLst xmlns:a="http://schemas.openxmlformats.org/drawingml/2006/main">
              <a:ext uri="{FF2B5EF4-FFF2-40B4-BE49-F238E27FC236}">
                <a16:creationId xmlns:a16="http://schemas.microsoft.com/office/drawing/2014/main" id="{927A9493-54A5-4F58-965B-B15F320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log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optional purpose</a:t>
            </a:r>
          </a:p>
        </p:txBody>
      </p:sp>
      <p:sp>
        <p:nvSpPr>
          <p:cNvPr id="56" name="s3-catch-1">
            <a:extLst xmlns:a="http://schemas.openxmlformats.org/drawingml/2006/main">
              <a:ext uri="{FF2B5EF4-FFF2-40B4-BE49-F238E27FC236}">
                <a16:creationId xmlns:a16="http://schemas.microsoft.com/office/drawing/2014/main" id="{233ADAB7-4AE9-4CCD-9FF3-BA9F661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Auth and validation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Safety access remains independent</a:t>
            </a:r>
          </a:p>
        </p:txBody>
      </p:sp>
      <p:sp>
        <p:nvSpPr>
          <p:cNvPr id="57" name="s3-catch-2">
            <a:extLst xmlns:a="http://schemas.openxmlformats.org/drawingml/2006/main">
              <a:ext uri="{FF2B5EF4-FFF2-40B4-BE49-F238E27FC236}">
                <a16:creationId xmlns:a16="http://schemas.microsoft.com/office/drawing/2014/main" id="{6149A9D7-00F1-4BE6-A432-3D15A76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Coarse cells and reporter threshold</a:t>
            </a:r>
          </a:p>
        </p:txBody>
      </p:sp>
      <p:sp>
        <p:nvSpPr>
          <p:cNvPr id="58" name="s3-catch-3">
            <a:extLst xmlns:a="http://schemas.openxmlformats.org/drawingml/2006/main">
              <a:ext uri="{FF2B5EF4-FFF2-40B4-BE49-F238E27FC236}">
                <a16:creationId xmlns:a16="http://schemas.microsoft.com/office/drawing/2014/main" id="{3843D9DD-15A1-44BF-AB49-5B678C54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guaranteed catch claim</a:t>
            </a:r>
          </a:p>
        </p:txBody>
      </p:sp>
      <p:sp>
        <p:nvSpPr>
          <p:cNvPr id="59" name="s3-catch-4">
            <a:extLst xmlns:a="http://schemas.openxmlformats.org/drawingml/2006/main">
              <a:ext uri="{FF2B5EF4-FFF2-40B4-BE49-F238E27FC236}">
                <a16:creationId xmlns:a16="http://schemas.microsoft.com/office/drawing/2014/main" id="{BD0740DC-1BDC-423A-88CD-3E7402E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913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LGU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exact public positions</a:t>
            </a:r>
          </a:p>
        </p:txBody>
      </p:sp>
      <p:cxnSp>
        <p:nvCxnSpPr>
          <p:cNvPr id="126" name="s3-catch-link-0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286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7" name="s3-catch-link-1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6762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8" name="s3-catch-link-2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239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9" name="s3-catch-link-3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1715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4" name="s3-boundary">
            <a:extLst xmlns:a="http://schemas.openxmlformats.org/drawingml/2006/main">
              <a:ext uri="{FF2B5EF4-FFF2-40B4-BE49-F238E27FC236}">
                <a16:creationId xmlns:a16="http://schemas.microsoft.com/office/drawing/2014/main" id="{4F567422-C7FF-40B0-931F-2F17151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62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 stays operational when every model is unavailable. Model outputs support authorized human decisions.</a:t>
            </a:r>
          </a:p>
        </p:txBody>
      </p:sp>
      <p:sp>
        <p:nvSpPr>
          <p:cNvPr id="65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61895E99-509A-474D-A896-DD1EA26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66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53E55D74-9FB9-4E2F-907A-FDA1B0D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62887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2026-09-18T14:43:34.2840000Z</dcterms:created>
  <dcterms:modified xsi:type="dcterms:W3CDTF">2026-09-18T14:43:34.2840000Z</dcterms:modified>
</coreProperties>
</file>