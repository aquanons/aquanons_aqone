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f5236b1ab04a43" /><Relationship Type="http://schemas.openxmlformats.org/officeDocument/2006/relationships/extended-properties" Target="/docProps/app.xml" Id="Rda0d8fe6f4b240dc" /><Relationship Type="http://schemas.openxmlformats.org/officeDocument/2006/relationships/officeDocument" Target="/ppt/presentation.xml" Id="R02ddb1e16a644cd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f8c18b0b7684f35"/>
  </p:sldMasterIdLst>
  <p:notesMasterIdLst>
    <p:notesMasterId xmlns:r="http://schemas.openxmlformats.org/officeDocument/2006/relationships" r:id="Rfef4115b17724d55"/>
  </p:notesMasterIdLst>
  <p:sldIdLst>
    <p:sldId xmlns:r="http://schemas.openxmlformats.org/officeDocument/2006/relationships" id="256" r:id="Re9420a20e7c547a9"/>
  </p:sldIdLst>
  <p:sldSz cx="13335000" cy="2000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62dd945fc99448b" /><Relationship Type="http://schemas.openxmlformats.org/officeDocument/2006/relationships/slideMaster" Target="/ppt/slideMasters/slideMaster1.xml" Id="Rff8c18b0b7684f35" /><Relationship Type="http://schemas.openxmlformats.org/officeDocument/2006/relationships/notesMaster" Target="/ppt/notesMasters/notesMaster1.xml" Id="Rfef4115b17724d55" /><Relationship Type="http://schemas.openxmlformats.org/officeDocument/2006/relationships/presProps" Target="/ppt/presProps.xml" Id="Rd2e87e91ee3d4ef7" /><Relationship Type="http://schemas.openxmlformats.org/officeDocument/2006/relationships/tableStyles" Target="/ppt/tableStyles.xml" Id="Rd81a7ae0d9a34c50" /><Relationship Type="http://schemas.openxmlformats.org/officeDocument/2006/relationships/slide" Target="/ppt/slides/slide1.xml" Id="Re9420a20e7c547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7bdcb2665b349d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cabe9fbab54572" /><Relationship Type="http://schemas.openxmlformats.org/officeDocument/2006/relationships/notesMaster" Target="/ppt/notesMasters/notesMaster1.xml" Id="R054e97c8bad345b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AqOne architecture sources:</a:t>
            </a:r>
          </a:p>
          <a:p xmlns:a="http://schemas.openxmlformats.org/drawingml/2006/main">
            <a:r>
              <a:t>README.md, current status and implemented versus unverified paths.</a:t>
            </a:r>
          </a:p>
          <a:p xmlns:a="http://schemas.openxmlformats.org/drawingml/2006/main">
            <a:r>
              <a:t>docs/55_HYBRID_TRANSPORT_ARCHITECTURE_DECISION.md, active boat-pod and direct-to-shore topology.</a:t>
            </a:r>
          </a:p>
          <a:p xmlns:a="http://schemas.openxmlformats.org/drawingml/2006/main">
            <a:r>
              <a:t>docs/06_DELIVERY_STATES.md, saved, relayed, delivered and acknowledged authorities.</a:t>
            </a:r>
          </a:p>
          <a:p xmlns:a="http://schemas.openxmlformats.org/drawingml/2006/main">
            <a:r>
              <a:t>docs/Aqone_PRD (2).md, canonical product and AI scope.</a:t>
            </a:r>
          </a:p>
          <a:p xmlns:a="http://schemas.openxmlformats.org/drawingml/2006/main">
            <a:r>
              <a:t>docs/17_AI_EXPLAINED_SIMPLY.md, squall, trip anomaly, drift and browser danger-zone implementation.</a:t>
            </a:r>
          </a:p>
          <a:p xmlns:a="http://schemas.openxmlformats.org/drawingml/2006/main">
            <a:r>
              <a:t>web/js/dashboard/dashboard-live-sos.js, current three-second REST polling behavior.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f751fa4f6f41b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3071066833e4273" /><Relationship Type="http://schemas.openxmlformats.org/officeDocument/2006/relationships/slideLayout" Target="/ppt/slideLayouts/slideLayout1.xml" Id="R012386847e8a430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2386847e8a430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95519ff3aa4031" /><Relationship Type="http://schemas.openxmlformats.org/officeDocument/2006/relationships/notesSlide" Target="/ppt/notesSlides/notesSlide1.xml" Id="R3864431cee01411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7" name="deck-title">
            <a:extLst xmlns:a="http://schemas.openxmlformats.org/drawingml/2006/main">
              <a:ext uri="{FF2B5EF4-FFF2-40B4-BE49-F238E27FC236}">
                <a16:creationId xmlns:a16="http://schemas.microsoft.com/office/drawing/2014/main" id="{19BE3DE1-5A1E-4A00-AB6F-5DB1B3425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"/>
            <a:ext cx="838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AqOne Detailed Architecture</a:t>
            </a:r>
          </a:p>
        </p:txBody>
      </p:sp>
      <p:sp>
        <p:nvSpPr>
          <p:cNvPr id="2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D1772730-DA3C-48E7-A2BB-C82F0BD08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61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6174"/>
                </a:solidFill>
                <a:latin typeface="Arial"/>
                <a:ea typeface="Arial"/>
                <a:cs typeface="Arial"/>
              </a:rPr>
              <a:t>Offline SOS transport, safety intelligence and responder loop</a:t>
            </a:r>
          </a:p>
        </p:txBody>
      </p:sp>
      <p:sp>
        <p:nvSpPr>
          <p:cNvPr id="3" name="status-summary">
            <a:extLst xmlns:a="http://schemas.openxmlformats.org/drawingml/2006/main">
              <a:ext uri="{FF2B5EF4-FFF2-40B4-BE49-F238E27FC236}">
                <a16:creationId xmlns:a16="http://schemas.microsoft.com/office/drawing/2014/main" id="{C6CF8AFD-1652-47B9-8294-E0B58163D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66700"/>
            <a:ext cx="314325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CC"/>
          </a:solidFill>
          <a:ln xmlns:a="http://schemas.openxmlformats.org/drawingml/2006/main" w="13335">
            <a:solidFill>
              <a:srgbClr val="D6B43C"/>
            </a:solidFill>
            <a:prstDash val="solid"/>
          </a:ln>
        </p:spPr>
        <p:txBody>
          <a:bodyPr xmlns:a="http://schemas.openxmlformats.org/drawingml/2006/main" lIns="66675" tIns="28575" rIns="666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SOURCE BUILT  |  FIELD VALIDATION PENDING</a:t>
            </a:r>
          </a:p>
        </p:txBody>
      </p:sp>
      <p:sp>
        <p:nvSpPr>
          <p:cNvPr id="4" name="inputs-boundary">
            <a:extLst xmlns:a="http://schemas.openxmlformats.org/drawingml/2006/main">
              <a:ext uri="{FF2B5EF4-FFF2-40B4-BE49-F238E27FC236}">
                <a16:creationId xmlns:a16="http://schemas.microsoft.com/office/drawing/2014/main" id="{AE83CC96-5A2F-41B8-A04E-4CBCF543B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047750"/>
            <a:ext cx="1280160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4288">
            <a:solidFill>
              <a:srgbClr val="738096"/>
            </a:solidFill>
            <a:prstDash val="dash"/>
          </a:ln>
        </p:spPr>
      </p:sp>
      <p:sp>
        <p:nvSpPr>
          <p:cNvPr id="5" name="inputs-title">
            <a:extLst xmlns:a="http://schemas.openxmlformats.org/drawingml/2006/main">
              <a:ext uri="{FF2B5EF4-FFF2-40B4-BE49-F238E27FC236}">
                <a16:creationId xmlns:a16="http://schemas.microsoft.com/office/drawing/2014/main" id="{092DF372-0C2F-4CDC-82CE-7B7BE86F4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14425"/>
            <a:ext cx="4286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Input and Field Layer</a:t>
            </a:r>
          </a:p>
        </p:txBody>
      </p:sp>
      <p:sp>
        <p:nvSpPr>
          <p:cNvPr id="6" name="inputs-note">
            <a:extLst xmlns:a="http://schemas.openxmlformats.org/drawingml/2006/main">
              <a:ext uri="{FF2B5EF4-FFF2-40B4-BE49-F238E27FC236}">
                <a16:creationId xmlns:a16="http://schemas.microsoft.com/office/drawing/2014/main" id="{63C8F4C4-FA69-4F88-91DF-6CA9C0DB4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1239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61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6174"/>
                </a:solidFill>
                <a:latin typeface="Arial"/>
                <a:ea typeface="Arial"/>
                <a:cs typeface="Arial"/>
              </a:rPr>
              <a:t>Evidence sources and human actions</a:t>
            </a:r>
          </a:p>
        </p:txBody>
      </p:sp>
      <p:sp>
        <p:nvSpPr>
          <p:cNvPr id="7" name="transport-boundary">
            <a:extLst xmlns:a="http://schemas.openxmlformats.org/drawingml/2006/main">
              <a:ext uri="{FF2B5EF4-FFF2-40B4-BE49-F238E27FC236}">
                <a16:creationId xmlns:a16="http://schemas.microsoft.com/office/drawing/2014/main" id="{7F30F03E-1B10-4B33-A074-049469E52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476625"/>
            <a:ext cx="1280160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4288">
            <a:solidFill>
              <a:srgbClr val="738096"/>
            </a:solidFill>
            <a:prstDash val="dash"/>
          </a:ln>
        </p:spPr>
      </p:sp>
      <p:sp>
        <p:nvSpPr>
          <p:cNvPr id="8" name="transport-title">
            <a:extLst xmlns:a="http://schemas.openxmlformats.org/drawingml/2006/main">
              <a:ext uri="{FF2B5EF4-FFF2-40B4-BE49-F238E27FC236}">
                <a16:creationId xmlns:a16="http://schemas.microsoft.com/office/drawing/2014/main" id="{E5ACA5CC-AF73-40D4-A3DF-8B40201D6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43300"/>
            <a:ext cx="4286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Edge and Transport Layer</a:t>
            </a:r>
          </a:p>
        </p:txBody>
      </p:sp>
      <p:sp>
        <p:nvSpPr>
          <p:cNvPr id="9" name="transport-note">
            <a:extLst xmlns:a="http://schemas.openxmlformats.org/drawingml/2006/main">
              <a:ext uri="{FF2B5EF4-FFF2-40B4-BE49-F238E27FC236}">
                <a16:creationId xmlns:a16="http://schemas.microsoft.com/office/drawing/2014/main" id="{E5E42D37-B98F-41BB-A440-5CFBBD486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55282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61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6174"/>
                </a:solidFill>
                <a:latin typeface="Arial"/>
                <a:ea typeface="Arial"/>
                <a:cs typeface="Arial"/>
              </a:rPr>
              <a:t>Store first, forward when a path exists</a:t>
            </a:r>
          </a:p>
        </p:txBody>
      </p:sp>
      <p:sp>
        <p:nvSpPr>
          <p:cNvPr id="10" name="backend-boundary">
            <a:extLst xmlns:a="http://schemas.openxmlformats.org/drawingml/2006/main">
              <a:ext uri="{FF2B5EF4-FFF2-40B4-BE49-F238E27FC236}">
                <a16:creationId xmlns:a16="http://schemas.microsoft.com/office/drawing/2014/main" id="{098E2FCD-F5C5-4635-8624-3DC89B78D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381750"/>
            <a:ext cx="1280160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4288">
            <a:solidFill>
              <a:srgbClr val="738096"/>
            </a:solidFill>
            <a:prstDash val="dash"/>
          </a:ln>
        </p:spPr>
      </p:sp>
      <p:sp>
        <p:nvSpPr>
          <p:cNvPr id="11" name="backend-title">
            <a:extLst xmlns:a="http://schemas.openxmlformats.org/drawingml/2006/main">
              <a:ext uri="{FF2B5EF4-FFF2-40B4-BE49-F238E27FC236}">
                <a16:creationId xmlns:a16="http://schemas.microsoft.com/office/drawing/2014/main" id="{621C06F2-D073-4333-84D6-51D0F9BBA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4286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Backend and Data Layer</a:t>
            </a:r>
          </a:p>
        </p:txBody>
      </p:sp>
      <p:sp>
        <p:nvSpPr>
          <p:cNvPr id="12" name="backend-note">
            <a:extLst xmlns:a="http://schemas.openxmlformats.org/drawingml/2006/main">
              <a:ext uri="{FF2B5EF4-FFF2-40B4-BE49-F238E27FC236}">
                <a16:creationId xmlns:a16="http://schemas.microsoft.com/office/drawing/2014/main" id="{E85B3F4A-139B-4023-9FD1-76AF9006B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64579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61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6174"/>
                </a:solidFill>
                <a:latin typeface="Arial"/>
                <a:ea typeface="Arial"/>
                <a:cs typeface="Arial"/>
              </a:rPr>
              <a:t>Provider-neutral logical architecture</a:t>
            </a:r>
          </a:p>
        </p:txBody>
      </p:sp>
      <p:sp>
        <p:nvSpPr>
          <p:cNvPr id="13" name="decision-boundary">
            <a:extLst xmlns:a="http://schemas.openxmlformats.org/drawingml/2006/main">
              <a:ext uri="{FF2B5EF4-FFF2-40B4-BE49-F238E27FC236}">
                <a16:creationId xmlns:a16="http://schemas.microsoft.com/office/drawing/2014/main" id="{94C6F31C-885C-478D-A74F-18BBC1FF1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8810625"/>
            <a:ext cx="12801600" cy="657225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4288">
            <a:solidFill>
              <a:srgbClr val="738096"/>
            </a:solidFill>
            <a:prstDash val="dash"/>
          </a:ln>
        </p:spPr>
      </p:sp>
      <p:sp>
        <p:nvSpPr>
          <p:cNvPr id="14" name="decision-title">
            <a:extLst xmlns:a="http://schemas.openxmlformats.org/drawingml/2006/main">
              <a:ext uri="{FF2B5EF4-FFF2-40B4-BE49-F238E27FC236}">
                <a16:creationId xmlns:a16="http://schemas.microsoft.com/office/drawing/2014/main" id="{4B4E9212-6FAE-4F17-A0CC-030EB925D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877300"/>
            <a:ext cx="4286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Processing and Decision Support Layer</a:t>
            </a:r>
          </a:p>
        </p:txBody>
      </p:sp>
      <p:sp>
        <p:nvSpPr>
          <p:cNvPr id="15" name="decision-note">
            <a:extLst xmlns:a="http://schemas.openxmlformats.org/drawingml/2006/main">
              <a:ext uri="{FF2B5EF4-FFF2-40B4-BE49-F238E27FC236}">
                <a16:creationId xmlns:a16="http://schemas.microsoft.com/office/drawing/2014/main" id="{31DF8230-7739-4D89-87A5-7FC702C24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888682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61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6174"/>
                </a:solidFill>
                <a:latin typeface="Arial"/>
                <a:ea typeface="Arial"/>
                <a:cs typeface="Arial"/>
              </a:rPr>
              <a:t>Manual SOS remains independent of every model</a:t>
            </a:r>
          </a:p>
        </p:txBody>
      </p:sp>
      <p:sp>
        <p:nvSpPr>
          <p:cNvPr id="16" name="outputs-boundary">
            <a:extLst xmlns:a="http://schemas.openxmlformats.org/drawingml/2006/main">
              <a:ext uri="{FF2B5EF4-FFF2-40B4-BE49-F238E27FC236}">
                <a16:creationId xmlns:a16="http://schemas.microsoft.com/office/drawing/2014/main" id="{B2D7B31B-04FB-485D-93B3-A593B329B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5573375"/>
            <a:ext cx="12801600" cy="2905125"/>
          </a:xfrm>
          <a:prstGeom xmlns:a="http://schemas.openxmlformats.org/drawingml/2006/main" prst="roundRect">
            <a:avLst>
              <a:gd name="adj" fmla="val 3934"/>
            </a:avLst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4288">
            <a:solidFill>
              <a:srgbClr val="738096"/>
            </a:solidFill>
            <a:prstDash val="dash"/>
          </a:ln>
        </p:spPr>
      </p:sp>
      <p:sp>
        <p:nvSpPr>
          <p:cNvPr id="17" name="outputs-title">
            <a:extLst xmlns:a="http://schemas.openxmlformats.org/drawingml/2006/main">
              <a:ext uri="{FF2B5EF4-FFF2-40B4-BE49-F238E27FC236}">
                <a16:creationId xmlns:a16="http://schemas.microsoft.com/office/drawing/2014/main" id="{AC12B86A-A5E8-4430-83D6-865D5A687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40050"/>
            <a:ext cx="4286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Output and Human Response Layer</a:t>
            </a:r>
          </a:p>
        </p:txBody>
      </p:sp>
      <p:sp>
        <p:nvSpPr>
          <p:cNvPr id="18" name="outputs-note">
            <a:extLst xmlns:a="http://schemas.openxmlformats.org/drawingml/2006/main">
              <a:ext uri="{FF2B5EF4-FFF2-40B4-BE49-F238E27FC236}">
                <a16:creationId xmlns:a16="http://schemas.microsoft.com/office/drawing/2014/main" id="{F5CFF378-6FE9-42B9-8328-5F2946677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564957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61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6174"/>
                </a:solidFill>
                <a:latin typeface="Arial"/>
                <a:ea typeface="Arial"/>
                <a:cs typeface="Arial"/>
              </a:rPr>
              <a:t>Human authority remains explicit</a:t>
            </a:r>
          </a:p>
        </p:txBody>
      </p:sp>
      <p:sp>
        <p:nvSpPr>
          <p:cNvPr id="19" name="input-mobile">
            <a:extLst xmlns:a="http://schemas.openxmlformats.org/drawingml/2006/main">
              <a:ext uri="{FF2B5EF4-FFF2-40B4-BE49-F238E27FC236}">
                <a16:creationId xmlns:a16="http://schemas.microsoft.com/office/drawing/2014/main" id="{B0392004-9773-4F16-9F17-CD0ED88A7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38300"/>
            <a:ext cx="2190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9EDF2"/>
          </a:solidFill>
          <a:ln xmlns:a="http://schemas.openxmlformats.org/drawingml/2006/main" w="15240">
            <a:solidFill>
              <a:srgbClr val="73809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Fisher mobile app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950">
                <a:solidFill>
                  <a:srgbClr val="556174"/>
                </a:solidFill>
                <a:latin typeface="Arial"/>
                <a:ea typeface="Arial"/>
                <a:cs typeface="Arial"/>
              </a:rPr>
              <a:t>Manual SOS, GPS, timestamp, trip check-ins, optional catch logs</a:t>
            </a:r>
          </a:p>
        </p:txBody>
      </p:sp>
      <p:sp>
        <p:nvSpPr>
          <p:cNvPr id="20" name="input-pod">
            <a:extLst xmlns:a="http://schemas.openxmlformats.org/drawingml/2006/main">
              <a:ext uri="{FF2B5EF4-FFF2-40B4-BE49-F238E27FC236}">
                <a16:creationId xmlns:a16="http://schemas.microsoft.com/office/drawing/2014/main" id="{602FD11A-B0B9-4783-AF4A-F13DB907D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638300"/>
            <a:ext cx="2190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9EDF2"/>
          </a:solidFill>
          <a:ln xmlns:a="http://schemas.openxmlformats.org/drawingml/2006/main" w="15240">
            <a:solidFill>
              <a:srgbClr val="73809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Boat pod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950">
                <a:solidFill>
                  <a:srgbClr val="556174"/>
                </a:solidFill>
                <a:latin typeface="Arial"/>
                <a:ea typeface="Arial"/>
                <a:cs typeface="Arial"/>
              </a:rPr>
              <a:t>Physical SOS button, GNSS, battery and radio events</a:t>
            </a:r>
          </a:p>
        </p:txBody>
      </p:sp>
      <p:sp>
        <p:nvSpPr>
          <p:cNvPr id="21" name="input-sensor">
            <a:extLst xmlns:a="http://schemas.openxmlformats.org/drawingml/2006/main">
              <a:ext uri="{FF2B5EF4-FFF2-40B4-BE49-F238E27FC236}">
                <a16:creationId xmlns:a16="http://schemas.microsoft.com/office/drawing/2014/main" id="{6275D4B3-EE10-4FE4-B2EE-C35247C2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638300"/>
            <a:ext cx="2190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9EDF2"/>
          </a:solidFill>
          <a:ln xmlns:a="http://schemas.openxmlformats.org/drawingml/2006/main" w="15240">
            <a:solidFill>
              <a:srgbClr val="73809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Stationary sensor buoy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950">
                <a:solidFill>
                  <a:srgbClr val="556174"/>
                </a:solidFill>
                <a:latin typeface="Arial"/>
                <a:ea typeface="Arial"/>
                <a:cs typeface="Arial"/>
              </a:rPr>
              <a:t>Fixed pressure, current observations and device health</a:t>
            </a:r>
          </a:p>
        </p:txBody>
      </p:sp>
      <p:sp>
        <p:nvSpPr>
          <p:cNvPr id="22" name="input-external">
            <a:extLst xmlns:a="http://schemas.openxmlformats.org/drawingml/2006/main">
              <a:ext uri="{FF2B5EF4-FFF2-40B4-BE49-F238E27FC236}">
                <a16:creationId xmlns:a16="http://schemas.microsoft.com/office/drawing/2014/main" id="{54AEF475-4782-4A11-854F-8A116C9E4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2190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E8C5"/>
          </a:solidFill>
          <a:ln xmlns:a="http://schemas.openxmlformats.org/drawingml/2006/main" w="15240">
            <a:solidFill>
              <a:srgbClr val="C5872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Environmental data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950">
                <a:solidFill>
                  <a:srgbClr val="556174"/>
                </a:solidFill>
                <a:latin typeface="Arial"/>
                <a:ea typeface="Arial"/>
                <a:cs typeface="Arial"/>
              </a:rPr>
              <a:t>Open-Meteo weather and marine observations</a:t>
            </a:r>
          </a:p>
        </p:txBody>
      </p:sp>
      <p:sp>
        <p:nvSpPr>
          <p:cNvPr id="23" name="input-responder">
            <a:extLst xmlns:a="http://schemas.openxmlformats.org/drawingml/2006/main">
              <a:ext uri="{FF2B5EF4-FFF2-40B4-BE49-F238E27FC236}">
                <a16:creationId xmlns:a16="http://schemas.microsoft.com/office/drawing/2014/main" id="{FC0FE69E-EEC7-4504-94DF-FF1165DEB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638300"/>
            <a:ext cx="2190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E8C5"/>
          </a:solidFill>
          <a:ln xmlns:a="http://schemas.openxmlformats.org/drawingml/2006/main" w="15240">
            <a:solidFill>
              <a:srgbClr val="C5872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Responder actions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950">
                <a:solidFill>
                  <a:srgbClr val="556174"/>
                </a:solidFill>
                <a:latin typeface="Arial"/>
                <a:ea typeface="Arial"/>
                <a:cs typeface="Arial"/>
              </a:rPr>
              <a:t>Acknowledge, ETA, resolution and searched sectors</a:t>
            </a:r>
          </a:p>
        </p:txBody>
      </p:sp>
      <p:sp>
        <p:nvSpPr>
          <p:cNvPr id="24" name="transport-phone">
            <a:extLst xmlns:a="http://schemas.openxmlformats.org/drawingml/2006/main">
              <a:ext uri="{FF2B5EF4-FFF2-40B4-BE49-F238E27FC236}">
                <a16:creationId xmlns:a16="http://schemas.microsoft.com/office/drawing/2014/main" id="{3B76EBED-352A-424B-B3D7-CF64ABB88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95750"/>
            <a:ext cx="22669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9F1F0"/>
          </a:solidFill>
          <a:ln xmlns:a="http://schemas.openxmlformats.org/drawingml/2006/main" w="15240">
            <a:solidFill>
              <a:srgbClr val="1D7C7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Mobile SQLite outbox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950">
                <a:solidFill>
                  <a:srgbClr val="556174"/>
                </a:solidFill>
                <a:latin typeface="Arial"/>
                <a:ea typeface="Arial"/>
                <a:cs typeface="Arial"/>
              </a:rPr>
              <a:t>Persists an SOS before any network attempt
Delivery state: SAVED</a:t>
            </a:r>
          </a:p>
        </p:txBody>
      </p:sp>
      <p:sp>
        <p:nvSpPr>
          <p:cNvPr id="25" name="transport-direct">
            <a:extLst xmlns:a="http://schemas.openxmlformats.org/drawingml/2006/main">
              <a:ext uri="{FF2B5EF4-FFF2-40B4-BE49-F238E27FC236}">
                <a16:creationId xmlns:a16="http://schemas.microsoft.com/office/drawing/2014/main" id="{FEC9C100-F619-4931-BCF7-E601AEDC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05425"/>
            <a:ext cx="192405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D7C7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8558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Direct internet path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00">
                <a:solidFill>
                  <a:srgbClr val="556174"/>
                </a:solidFill>
                <a:latin typeface="Arial"/>
                <a:ea typeface="Arial"/>
                <a:cs typeface="Arial"/>
              </a:rPr>
              <a:t>HTTPS when cellular or WiFi internet is available</a:t>
            </a:r>
          </a:p>
        </p:txBody>
      </p:sp>
      <p:sp>
        <p:nvSpPr>
          <p:cNvPr id="26" name="transport-pod">
            <a:extLst xmlns:a="http://schemas.openxmlformats.org/drawingml/2006/main">
              <a:ext uri="{FF2B5EF4-FFF2-40B4-BE49-F238E27FC236}">
                <a16:creationId xmlns:a16="http://schemas.microsoft.com/office/drawing/2014/main" id="{2C0DA123-E151-4CB3-9F6E-88FF7D409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95750"/>
            <a:ext cx="242887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9F1F0"/>
          </a:solidFill>
          <a:ln xmlns:a="http://schemas.openxmlformats.org/drawingml/2006/main" w="15240">
            <a:solidFill>
              <a:srgbClr val="1D7C7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Boat pod flash queue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950">
                <a:solidFill>
                  <a:srgbClr val="556174"/>
                </a:solidFill>
                <a:latin typeface="Arial"/>
                <a:ea typeface="Arial"/>
                <a:cs typeface="Arial"/>
              </a:rPr>
              <a:t>Accepts before acknowledgement and retries after outages
Delivery state: RELAYED</a:t>
            </a:r>
          </a:p>
        </p:txBody>
      </p:sp>
      <p:sp>
        <p:nvSpPr>
          <p:cNvPr id="27" name="transport-relay">
            <a:extLst xmlns:a="http://schemas.openxmlformats.org/drawingml/2006/main">
              <a:ext uri="{FF2B5EF4-FFF2-40B4-BE49-F238E27FC236}">
                <a16:creationId xmlns:a16="http://schemas.microsoft.com/office/drawing/2014/main" id="{9891511D-C442-43DE-8E22-3697A6A3E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191125"/>
            <a:ext cx="214312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D9F1F0"/>
          </a:solidFill>
          <a:ln xmlns:a="http://schemas.openxmlformats.org/drawingml/2006/main" w="15240">
            <a:solidFill>
              <a:srgbClr val="1D7C7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Optional relay buoy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00">
                <a:solidFill>
                  <a:srgbClr val="556174"/>
                </a:solidFill>
                <a:latin typeface="Arial"/>
                <a:ea typeface="Arial"/>
                <a:cs typeface="Arial"/>
              </a:rPr>
              <a:t>TTL flooding and duplicate suppression only where field tests justify it</a:t>
            </a:r>
          </a:p>
        </p:txBody>
      </p:sp>
      <p:sp>
        <p:nvSpPr>
          <p:cNvPr id="28" name="transport-gateway">
            <a:extLst xmlns:a="http://schemas.openxmlformats.org/drawingml/2006/main">
              <a:ext uri="{FF2B5EF4-FFF2-40B4-BE49-F238E27FC236}">
                <a16:creationId xmlns:a16="http://schemas.microsoft.com/office/drawing/2014/main" id="{3C39B536-EBB8-4A26-969C-C7149BA2C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95750"/>
            <a:ext cx="242887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9F1F0"/>
          </a:solidFill>
          <a:ln xmlns:a="http://schemas.openxmlformats.org/drawingml/2006/main" w="15240">
            <a:solidFill>
              <a:srgbClr val="1D7C7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Tall shoreline gateway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950">
                <a:solidFill>
                  <a:srgbClr val="556174"/>
                </a:solidFill>
                <a:latin typeface="Arial"/>
                <a:ea typeface="Arial"/>
                <a:cs typeface="Arial"/>
              </a:rPr>
              <a:t>Verifies LoAM signature, maps device identity and forwards over HTTPS</a:t>
            </a:r>
          </a:p>
        </p:txBody>
      </p:sp>
      <p:sp>
        <p:nvSpPr>
          <p:cNvPr id="29" name="transport-return">
            <a:extLst xmlns:a="http://schemas.openxmlformats.org/drawingml/2006/main">
              <a:ext uri="{FF2B5EF4-FFF2-40B4-BE49-F238E27FC236}">
                <a16:creationId xmlns:a16="http://schemas.microsoft.com/office/drawing/2014/main" id="{0D4E671A-7443-4A9C-8EAE-07977457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095750"/>
            <a:ext cx="166687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D7C7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Return path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00">
                <a:solidFill>
                  <a:srgbClr val="556174"/>
                </a:solidFill>
                <a:latin typeface="Arial"/>
                <a:ea typeface="Arial"/>
                <a:cs typeface="Arial"/>
              </a:rPr>
              <a:t>Warnings, acknowledgement and ETA when radio or internet is available</a:t>
            </a:r>
          </a:p>
        </p:txBody>
      </p:sp>
      <p:cxnSp>
        <p:nvCxnSpPr>
          <p:cNvPr id="156" name="mobile-input-to-outbox"/>
          <p:cNvCxnSpPr>
            <a:stCxn xmlns:a="http://schemas.openxmlformats.org/drawingml/2006/main" id="19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1571625" y="2705100"/>
            <a:ext cx="152400" cy="13906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D7C7A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157" name="pod-input-to-queue"/>
          <p:cNvCxnSpPr>
            <a:stCxn xmlns:a="http://schemas.openxmlformats.org/drawingml/2006/main" id="20" idx="2"/>
            <a:endCxn xmlns:a="http://schemas.openxmlformats.org/drawingml/2006/main" id="26" idx="0"/>
          </p:cNvCxnSpPr>
          <p:nvPr/>
        </p:nvCxnSpPr>
        <p:spPr>
          <a:xfrm xmlns:a="http://schemas.openxmlformats.org/drawingml/2006/main">
            <a:off x="4067175" y="2705100"/>
            <a:ext cx="481013" cy="13906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D7C7A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158" name="sensor-input-to-relay"/>
          <p:cNvCxnSpPr>
            <a:stCxn xmlns:a="http://schemas.openxmlformats.org/drawingml/2006/main" id="21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6562725" y="2705100"/>
            <a:ext cx="509588" cy="24860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D7C7A"/>
            </a:solidFill>
            <a:prstDash val="dash"/>
            <a:headEnd type="triangle" w="sm" len="sm"/>
            <a:tailEnd type="none" w="med" len="med"/>
          </a:ln>
        </p:spPr>
      </p:cxnSp>
      <p:cxnSp>
        <p:nvCxnSpPr>
          <p:cNvPr id="159" name="phone-to-pod"/>
          <p:cNvCxnSpPr>
            <a:stCxn xmlns:a="http://schemas.openxmlformats.org/drawingml/2006/main" id="24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2857500" y="4595813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7C7A"/>
            </a:solidFill>
            <a:prstDash val="dash"/>
            <a:headEnd type="triangle" w="sm" len="sm"/>
            <a:tailEnd type="none" w="med" len="med"/>
          </a:ln>
        </p:spPr>
      </p:cxnSp>
      <p:sp>
        <p:nvSpPr>
          <p:cNvPr id="34" name="label-wifi">
            <a:extLst xmlns:a="http://schemas.openxmlformats.org/drawingml/2006/main">
              <a:ext uri="{FF2B5EF4-FFF2-40B4-BE49-F238E27FC236}">
                <a16:creationId xmlns:a16="http://schemas.microsoft.com/office/drawing/2014/main" id="{15E2D95B-D3BA-4BAF-B2C5-82DE60B66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343400"/>
            <a:ext cx="1257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2DC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556174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556174"/>
                </a:solidFill>
                <a:latin typeface="Arial"/>
                <a:ea typeface="Arial"/>
                <a:cs typeface="Arial"/>
              </a:rPr>
              <a:t>LOCAL WIFI HTTP</a:t>
            </a:r>
          </a:p>
        </p:txBody>
      </p:sp>
      <p:cxnSp>
        <p:nvCxnSpPr>
          <p:cNvPr id="161" name="phone-to-direct"/>
          <p:cNvCxnSpPr>
            <a:stCxn xmlns:a="http://schemas.openxmlformats.org/drawingml/2006/main" id="24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1724025" y="5095875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7C7A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162" name="pod-direct-lora"/>
          <p:cNvCxnSpPr>
            <a:stCxn xmlns:a="http://schemas.openxmlformats.org/drawingml/2006/main" id="26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5762625" y="4595813"/>
            <a:ext cx="2762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7C7A"/>
            </a:solidFill>
            <a:prstDash val="dash"/>
            <a:headEnd type="triangle" w="sm" len="sm"/>
            <a:tailEnd type="none" w="med" len="med"/>
          </a:ln>
        </p:spPr>
      </p:cxnSp>
      <p:sp>
        <p:nvSpPr>
          <p:cNvPr id="37" name="label-direct-lora">
            <a:extLst xmlns:a="http://schemas.openxmlformats.org/drawingml/2006/main">
              <a:ext uri="{FF2B5EF4-FFF2-40B4-BE49-F238E27FC236}">
                <a16:creationId xmlns:a16="http://schemas.microsoft.com/office/drawing/2014/main" id="{1A9BFCCD-877C-47C2-8ECB-B8CB79D8B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71950"/>
            <a:ext cx="10953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2DC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556174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556174"/>
                </a:solidFill>
                <a:latin typeface="Arial"/>
                <a:ea typeface="Arial"/>
                <a:cs typeface="Arial"/>
              </a:rPr>
              <a:t>DIRECT LoRa</a:t>
            </a:r>
          </a:p>
        </p:txBody>
      </p:sp>
      <p:cxnSp>
        <p:nvCxnSpPr>
          <p:cNvPr id="164" name="pod-to-relay"/>
          <p:cNvCxnSpPr>
            <a:stCxn xmlns:a="http://schemas.openxmlformats.org/drawingml/2006/main" id="26" idx="2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4548188" y="5095875"/>
            <a:ext cx="1452563" cy="457200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9050">
            <a:solidFill>
              <a:srgbClr val="1D7C7A"/>
            </a:solidFill>
            <a:prstDash val="dash"/>
            <a:headEnd type="triangle" w="sm" len="sm"/>
            <a:tailEnd type="none" w="med" len="med"/>
          </a:ln>
        </p:spPr>
      </p:cxnSp>
      <p:cxnSp>
        <p:nvCxnSpPr>
          <p:cNvPr id="165" name="relay-to-gateway"/>
          <p:cNvCxnSpPr>
            <a:stCxn xmlns:a="http://schemas.openxmlformats.org/drawingml/2006/main" id="27" idx="3"/>
            <a:endCxn xmlns:a="http://schemas.openxmlformats.org/drawingml/2006/main" id="28" idx="2"/>
          </p:cNvCxnSpPr>
          <p:nvPr/>
        </p:nvCxnSpPr>
        <p:spPr>
          <a:xfrm xmlns:a="http://schemas.openxmlformats.org/drawingml/2006/main" flipV="1">
            <a:off x="8143875" y="5095875"/>
            <a:ext cx="1595438" cy="457200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1D7C7A"/>
            </a:solidFill>
            <a:prstDash val="dash"/>
            <a:headEnd type="triangle" w="sm" len="sm"/>
            <a:tailEnd type="none" w="med" len="med"/>
          </a:ln>
        </p:spPr>
      </p:cxnSp>
      <p:sp>
        <p:nvSpPr>
          <p:cNvPr id="40" name="label-optional-relay">
            <a:extLst xmlns:a="http://schemas.openxmlformats.org/drawingml/2006/main">
              <a:ext uri="{FF2B5EF4-FFF2-40B4-BE49-F238E27FC236}">
                <a16:creationId xmlns:a16="http://schemas.microsoft.com/office/drawing/2014/main" id="{3267C39E-1832-4EE2-915A-ED56D0D3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562600"/>
            <a:ext cx="12001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2DC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556174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556174"/>
                </a:solidFill>
                <a:latin typeface="Arial"/>
                <a:ea typeface="Arial"/>
                <a:cs typeface="Arial"/>
              </a:rPr>
              <a:t>OPTIONAL RELAY</a:t>
            </a:r>
          </a:p>
        </p:txBody>
      </p:sp>
      <p:cxnSp>
        <p:nvCxnSpPr>
          <p:cNvPr id="167" name="gateway-return"/>
          <p:cNvCxnSpPr>
            <a:stCxn xmlns:a="http://schemas.openxmlformats.org/drawingml/2006/main" id="28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10953750" y="4595813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7C7A"/>
            </a:solidFill>
            <a:prstDash val="dash"/>
            <a:headEnd type="triangle" w="sm" len="sm"/>
            <a:tailEnd type="triangle" w="sm" len="sm"/>
          </a:ln>
        </p:spPr>
      </p:cxnSp>
      <p:sp>
        <p:nvSpPr>
          <p:cNvPr id="42" name="backend-api">
            <a:extLst xmlns:a="http://schemas.openxmlformats.org/drawingml/2006/main">
              <a:ext uri="{FF2B5EF4-FFF2-40B4-BE49-F238E27FC236}">
                <a16:creationId xmlns:a16="http://schemas.microsoft.com/office/drawing/2014/main" id="{662DE292-32FD-419E-B4AF-6FA72B39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972300"/>
            <a:ext cx="72390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DDE7FF"/>
          </a:solidFill>
          <a:ln xmlns:a="http://schemas.openxmlformats.org/drawingml/2006/main" w="15240">
            <a:solidFill>
              <a:srgbClr val="395EB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FastAPI application services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000">
                <a:solidFill>
                  <a:srgbClr val="556174"/>
                </a:solidFill>
                <a:latin typeface="Arial"/>
                <a:ea typeface="Arial"/>
                <a:cs typeface="Arial"/>
              </a:rPr>
              <a:t>Authentication and roles  |  validation and deduplication  |  SOS, sensor and trip ingest  |  incident, advisory and audit workflows</a:t>
            </a:r>
          </a:p>
        </p:txBody>
      </p:sp>
      <p:sp>
        <p:nvSpPr>
          <p:cNvPr id="43" name="backend-db">
            <a:extLst xmlns:a="http://schemas.openxmlformats.org/drawingml/2006/main">
              <a:ext uri="{FF2B5EF4-FFF2-40B4-BE49-F238E27FC236}">
                <a16:creationId xmlns:a16="http://schemas.microsoft.com/office/drawing/2014/main" id="{4FA0B7BC-0E0F-491A-98B3-F1300E05F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972300"/>
            <a:ext cx="3000375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DDE7FF"/>
          </a:solidFill>
          <a:ln xmlns:a="http://schemas.openxmlformats.org/drawingml/2006/main" w="15240">
            <a:solidFill>
              <a:srgbClr val="395EB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PostgreSQL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950">
                <a:solidFill>
                  <a:srgbClr val="556174"/>
                </a:solidFill>
                <a:latin typeface="Arial"/>
                <a:ea typeface="Arial"/>
                <a:cs typeface="Arial"/>
              </a:rPr>
              <a:t>SOS and responder actions
Trips and contact events
Sensor, advisory, model and audit records</a:t>
            </a:r>
          </a:p>
        </p:txBody>
      </p:sp>
      <p:sp>
        <p:nvSpPr>
          <p:cNvPr id="44" name="backend-polling">
            <a:extLst xmlns:a="http://schemas.openxmlformats.org/drawingml/2006/main">
              <a:ext uri="{FF2B5EF4-FFF2-40B4-BE49-F238E27FC236}">
                <a16:creationId xmlns:a16="http://schemas.microsoft.com/office/drawing/2014/main" id="{C91E6517-CF48-4231-A8F0-1A877B93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8191500"/>
            <a:ext cx="4333875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3335">
            <a:solidFill>
              <a:srgbClr val="395EB7"/>
            </a:solidFill>
            <a:prstDash val="solid"/>
          </a:ln>
        </p:spPr>
        <p:txBody>
          <a:bodyPr xmlns:a="http://schemas.openxmlformats.org/drawingml/2006/main" lIns="66675" tIns="28575" rIns="666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Current dashboard path: protected REST polling every 3 seconds</a:t>
            </a:r>
          </a:p>
        </p:txBody>
      </p:sp>
      <p:cxnSp>
        <p:nvCxnSpPr>
          <p:cNvPr id="171" name="gateway-to-api"/>
          <p:cNvCxnSpPr>
            <a:stCxn xmlns:a="http://schemas.openxmlformats.org/drawingml/2006/main" id="28" idx="2"/>
            <a:endCxn xmlns:a="http://schemas.openxmlformats.org/drawingml/2006/main" id="42" idx="0"/>
          </p:cNvCxnSpPr>
          <p:nvPr/>
        </p:nvCxnSpPr>
        <p:spPr>
          <a:xfrm xmlns:a="http://schemas.openxmlformats.org/drawingml/2006/main" flipH="1">
            <a:off x="4619625" y="5095875"/>
            <a:ext cx="5119688" cy="18764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395EB7"/>
            </a:solidFill>
            <a:prstDash val="solid"/>
            <a:headEnd type="triangle" w="sm" len="sm"/>
            <a:tailEnd type="none" w="med" len="med"/>
          </a:ln>
        </p:spPr>
      </p:cxnSp>
      <p:sp>
        <p:nvSpPr>
          <p:cNvPr id="46" name="label-https">
            <a:extLst xmlns:a="http://schemas.openxmlformats.org/drawingml/2006/main">
              <a:ext uri="{FF2B5EF4-FFF2-40B4-BE49-F238E27FC236}">
                <a16:creationId xmlns:a16="http://schemas.microsoft.com/office/drawing/2014/main" id="{DB361E73-B9B5-4C8E-ACE2-B5A11BD62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6057900"/>
            <a:ext cx="1714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2DC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556174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556174"/>
                </a:solidFill>
                <a:latin typeface="Arial"/>
                <a:ea typeface="Arial"/>
                <a:cs typeface="Arial"/>
              </a:rPr>
              <a:t>AUTHENTICATED HTTPS</a:t>
            </a:r>
          </a:p>
        </p:txBody>
      </p:sp>
      <p:cxnSp>
        <p:nvCxnSpPr>
          <p:cNvPr id="173" name="direct-to-api"/>
          <p:cNvCxnSpPr>
            <a:stCxn xmlns:a="http://schemas.openxmlformats.org/drawingml/2006/main" id="25" idx="2"/>
            <a:endCxn xmlns:a="http://schemas.openxmlformats.org/drawingml/2006/main" id="42" idx="1"/>
          </p:cNvCxnSpPr>
          <p:nvPr/>
        </p:nvCxnSpPr>
        <p:spPr>
          <a:xfrm xmlns:a="http://schemas.openxmlformats.org/drawingml/2006/main" flipH="1">
            <a:off x="1000125" y="5876925"/>
            <a:ext cx="723900" cy="1643063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9050">
            <a:solidFill>
              <a:srgbClr val="395EB7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174" name="external-to-api"/>
          <p:cNvCxnSpPr>
            <a:stCxn xmlns:a="http://schemas.openxmlformats.org/drawingml/2006/main" id="22" idx="2"/>
            <a:endCxn xmlns:a="http://schemas.openxmlformats.org/drawingml/2006/main" id="42" idx="0"/>
          </p:cNvCxnSpPr>
          <p:nvPr/>
        </p:nvCxnSpPr>
        <p:spPr>
          <a:xfrm xmlns:a="http://schemas.openxmlformats.org/drawingml/2006/main" flipH="1">
            <a:off x="4619625" y="2705100"/>
            <a:ext cx="4438650" cy="42672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5872D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175" name="responder-to-api"/>
          <p:cNvCxnSpPr>
            <a:stCxn xmlns:a="http://schemas.openxmlformats.org/drawingml/2006/main" id="23" idx="2"/>
            <a:endCxn xmlns:a="http://schemas.openxmlformats.org/drawingml/2006/main" id="42" idx="3"/>
          </p:cNvCxnSpPr>
          <p:nvPr/>
        </p:nvCxnSpPr>
        <p:spPr>
          <a:xfrm xmlns:a="http://schemas.openxmlformats.org/drawingml/2006/main" flipH="1">
            <a:off x="8239125" y="2705100"/>
            <a:ext cx="3314700" cy="4814888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9050">
            <a:solidFill>
              <a:srgbClr val="C5872D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176" name="api-to-db"/>
          <p:cNvCxnSpPr>
            <a:stCxn xmlns:a="http://schemas.openxmlformats.org/drawingml/2006/main" id="42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8239125" y="7519988"/>
            <a:ext cx="923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5EB7"/>
            </a:solidFill>
            <a:prstDash val="solid"/>
            <a:headEnd type="triangle" w="sm" len="sm"/>
            <a:tailEnd type="triangle" w="sm" len="sm"/>
          </a:ln>
        </p:spPr>
      </p:cxnSp>
      <p:sp>
        <p:nvSpPr>
          <p:cNvPr id="51" name="lane-sos-header">
            <a:extLst xmlns:a="http://schemas.openxmlformats.org/drawingml/2006/main">
              <a:ext uri="{FF2B5EF4-FFF2-40B4-BE49-F238E27FC236}">
                <a16:creationId xmlns:a16="http://schemas.microsoft.com/office/drawing/2014/main" id="{5513DDE9-0A34-47D5-8CC3-F8075BF01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410700"/>
            <a:ext cx="22669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D7DA"/>
          </a:solidFill>
          <a:ln xmlns:a="http://schemas.openxmlformats.org/drawingml/2006/main" w="15240">
            <a:solidFill>
              <a:srgbClr val="C73F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Manual SOS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50">
                <a:solidFill>
                  <a:srgbClr val="556174"/>
                </a:solidFill>
                <a:latin typeface="Arial"/>
                <a:ea typeface="Arial"/>
                <a:cs typeface="Arial"/>
              </a:rPr>
              <a:t>AI-independent emergency path</a:t>
            </a:r>
          </a:p>
        </p:txBody>
      </p:sp>
      <p:sp>
        <p:nvSpPr>
          <p:cNvPr id="52" name="lane-weather-header">
            <a:extLst xmlns:a="http://schemas.openxmlformats.org/drawingml/2006/main">
              <a:ext uri="{FF2B5EF4-FFF2-40B4-BE49-F238E27FC236}">
                <a16:creationId xmlns:a16="http://schemas.microsoft.com/office/drawing/2014/main" id="{2AA628CA-FB82-47F0-A7A7-1D9460E1C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9410700"/>
            <a:ext cx="22669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9DBFA"/>
          </a:solidFill>
          <a:ln xmlns:a="http://schemas.openxmlformats.org/drawingml/2006/main" w="15240">
            <a:solidFill>
              <a:srgbClr val="7552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Environmental warning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50">
                <a:solidFill>
                  <a:srgbClr val="556174"/>
                </a:solidFill>
                <a:latin typeface="Arial"/>
                <a:ea typeface="Arial"/>
                <a:cs typeface="Arial"/>
              </a:rPr>
              <a:t>Squall and marine danger</a:t>
            </a:r>
          </a:p>
        </p:txBody>
      </p:sp>
      <p:sp>
        <p:nvSpPr>
          <p:cNvPr id="53" name="lane-trip-header">
            <a:extLst xmlns:a="http://schemas.openxmlformats.org/drawingml/2006/main">
              <a:ext uri="{FF2B5EF4-FFF2-40B4-BE49-F238E27FC236}">
                <a16:creationId xmlns:a16="http://schemas.microsoft.com/office/drawing/2014/main" id="{836260B6-CA64-4DDD-B84D-BCBE589B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9410700"/>
            <a:ext cx="22669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9DBFA"/>
          </a:solidFill>
          <a:ln xmlns:a="http://schemas.openxmlformats.org/drawingml/2006/main" w="15240">
            <a:solidFill>
              <a:srgbClr val="7552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Trip anomaly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50">
                <a:solidFill>
                  <a:srgbClr val="556174"/>
                </a:solidFill>
                <a:latin typeface="Arial"/>
                <a:ea typeface="Arial"/>
                <a:cs typeface="Arial"/>
              </a:rPr>
              <a:t>Overdue verification support</a:t>
            </a:r>
          </a:p>
        </p:txBody>
      </p:sp>
      <p:sp>
        <p:nvSpPr>
          <p:cNvPr id="54" name="lane-drift-header">
            <a:extLst xmlns:a="http://schemas.openxmlformats.org/drawingml/2006/main">
              <a:ext uri="{FF2B5EF4-FFF2-40B4-BE49-F238E27FC236}">
                <a16:creationId xmlns:a16="http://schemas.microsoft.com/office/drawing/2014/main" id="{7065A73C-D93B-427F-ACE8-1FE3A8475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9410700"/>
            <a:ext cx="22669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9DBFA"/>
          </a:solidFill>
          <a:ln xmlns:a="http://schemas.openxmlformats.org/drawingml/2006/main" w="15240">
            <a:solidFill>
              <a:srgbClr val="7552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Drift and search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50">
                <a:solidFill>
                  <a:srgbClr val="556174"/>
                </a:solidFill>
                <a:latin typeface="Arial"/>
                <a:ea typeface="Arial"/>
                <a:cs typeface="Arial"/>
              </a:rPr>
              <a:t>Physics-based decision support</a:t>
            </a:r>
          </a:p>
        </p:txBody>
      </p:sp>
      <p:sp>
        <p:nvSpPr>
          <p:cNvPr id="55" name="lane-catch-header">
            <a:extLst xmlns:a="http://schemas.openxmlformats.org/drawingml/2006/main">
              <a:ext uri="{FF2B5EF4-FFF2-40B4-BE49-F238E27FC236}">
                <a16:creationId xmlns:a16="http://schemas.microsoft.com/office/drawing/2014/main" id="{DDD379C1-F5A7-4C9E-B71E-70AE4719C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9410700"/>
            <a:ext cx="22669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D9F2E2"/>
          </a:solidFill>
          <a:ln xmlns:a="http://schemas.openxmlformats.org/drawingml/2006/main" w="15240">
            <a:solidFill>
              <a:srgbClr val="2F7D5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Consented catch activity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50">
                <a:solidFill>
                  <a:srgbClr val="556174"/>
                </a:solidFill>
                <a:latin typeface="Arial"/>
                <a:ea typeface="Arial"/>
                <a:cs typeface="Arial"/>
              </a:rPr>
              <a:t>Separate optional data purpose</a:t>
            </a:r>
          </a:p>
        </p:txBody>
      </p:sp>
      <p:sp>
        <p:nvSpPr>
          <p:cNvPr id="56" name="sos-validate">
            <a:extLst xmlns:a="http://schemas.openxmlformats.org/drawingml/2006/main">
              <a:ext uri="{FF2B5EF4-FFF2-40B4-BE49-F238E27FC236}">
                <a16:creationId xmlns:a16="http://schemas.microsoft.com/office/drawing/2014/main" id="{91F5F52B-985C-45A2-B0D5-B173D7831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0"/>
            <a:ext cx="22669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D7DA"/>
          </a:solidFill>
          <a:ln xmlns:a="http://schemas.openxmlformats.org/drawingml/2006/main" w="15240">
            <a:solidFill>
              <a:srgbClr val="C73F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Validate and deduplicate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00">
                <a:solidFill>
                  <a:srgbClr val="556174"/>
                </a:solidFill>
                <a:latin typeface="Arial"/>
                <a:ea typeface="Arial"/>
                <a:cs typeface="Arial"/>
              </a:rPr>
              <a:t>Accept distress even before vessel registration</a:t>
            </a:r>
          </a:p>
        </p:txBody>
      </p:sp>
      <p:sp>
        <p:nvSpPr>
          <p:cNvPr id="57" name="sos-persist">
            <a:extLst xmlns:a="http://schemas.openxmlformats.org/drawingml/2006/main">
              <a:ext uri="{FF2B5EF4-FFF2-40B4-BE49-F238E27FC236}">
                <a16:creationId xmlns:a16="http://schemas.microsoft.com/office/drawing/2014/main" id="{AAC910D6-F8C3-47B3-930F-68AA01164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334750"/>
            <a:ext cx="22669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D7DA"/>
          </a:solidFill>
          <a:ln xmlns:a="http://schemas.openxmlformats.org/drawingml/2006/main" w="15240">
            <a:solidFill>
              <a:srgbClr val="C73F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Persist incident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00">
                <a:solidFill>
                  <a:srgbClr val="556174"/>
                </a:solidFill>
                <a:latin typeface="Arial"/>
                <a:ea typeface="Arial"/>
                <a:cs typeface="Arial"/>
              </a:rPr>
              <a:t>Backend becomes authority for DELIVERED</a:t>
            </a:r>
          </a:p>
        </p:txBody>
      </p:sp>
      <p:sp>
        <p:nvSpPr>
          <p:cNvPr id="58" name="sos-dispatch">
            <a:extLst xmlns:a="http://schemas.openxmlformats.org/drawingml/2006/main">
              <a:ext uri="{FF2B5EF4-FFF2-40B4-BE49-F238E27FC236}">
                <a16:creationId xmlns:a16="http://schemas.microsoft.com/office/drawing/2014/main" id="{94ADD466-0484-4B51-8936-245D979C3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0"/>
            <a:ext cx="22669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D7DA"/>
          </a:solidFill>
          <a:ln xmlns:a="http://schemas.openxmlformats.org/drawingml/2006/main" w="15240">
            <a:solidFill>
              <a:srgbClr val="C73F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Responder workflow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00">
                <a:solidFill>
                  <a:srgbClr val="556174"/>
                </a:solidFill>
                <a:latin typeface="Arial"/>
                <a:ea typeface="Arial"/>
                <a:cs typeface="Arial"/>
              </a:rPr>
              <a:t>Acknowledge, ETA, reply and resolution</a:t>
            </a:r>
          </a:p>
        </p:txBody>
      </p:sp>
      <p:sp>
        <p:nvSpPr>
          <p:cNvPr id="59" name="sos-result">
            <a:extLst xmlns:a="http://schemas.openxmlformats.org/drawingml/2006/main">
              <a:ext uri="{FF2B5EF4-FFF2-40B4-BE49-F238E27FC236}">
                <a16:creationId xmlns:a16="http://schemas.microsoft.com/office/drawing/2014/main" id="{FF39DC11-898D-4240-BC2A-72598AA2C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3525500"/>
            <a:ext cx="21336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7DA"/>
          </a:solidFill>
          <a:ln xmlns:a="http://schemas.openxmlformats.org/drawingml/2006/main" w="13335">
            <a:solidFill>
              <a:srgbClr val="C73F4D"/>
            </a:solidFill>
            <a:prstDash val="solid"/>
          </a:ln>
        </p:spPr>
        <p:txBody>
          <a:bodyPr xmlns:a="http://schemas.openxmlformats.org/drawingml/2006/main" lIns="66675" tIns="28575" rIns="666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DELIVERED  •  ACKNOWLEDGED</a:t>
            </a:r>
          </a:p>
        </p:txBody>
      </p:sp>
      <p:sp>
        <p:nvSpPr>
          <p:cNvPr id="60" name="weather-quality">
            <a:extLst xmlns:a="http://schemas.openxmlformats.org/drawingml/2006/main">
              <a:ext uri="{FF2B5EF4-FFF2-40B4-BE49-F238E27FC236}">
                <a16:creationId xmlns:a16="http://schemas.microsoft.com/office/drawing/2014/main" id="{88D3C47C-763F-428C-9B04-60D34DB50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0287000"/>
            <a:ext cx="22669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9DBFA"/>
          </a:solidFill>
          <a:ln xmlns:a="http://schemas.openxmlformats.org/drawingml/2006/main" w="15240">
            <a:solidFill>
              <a:srgbClr val="7552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Quality and freshness gate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00">
                <a:solidFill>
                  <a:srgbClr val="556174"/>
                </a:solidFill>
                <a:latin typeface="Arial"/>
                <a:ea typeface="Arial"/>
                <a:cs typeface="Arial"/>
              </a:rPr>
              <a:t>Reject stale, missing or insufficient observations</a:t>
            </a:r>
          </a:p>
        </p:txBody>
      </p:sp>
      <p:sp>
        <p:nvSpPr>
          <p:cNvPr id="61" name="weather-models">
            <a:extLst xmlns:a="http://schemas.openxmlformats.org/drawingml/2006/main">
              <a:ext uri="{FF2B5EF4-FFF2-40B4-BE49-F238E27FC236}">
                <a16:creationId xmlns:a16="http://schemas.microsoft.com/office/drawing/2014/main" id="{54C1BB9A-FAB1-450C-85F1-CF057A4E2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1334750"/>
            <a:ext cx="22669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9DBFA"/>
          </a:solidFill>
          <a:ln xmlns:a="http://schemas.openxmlformats.org/drawingml/2006/main" w="15240">
            <a:solidFill>
              <a:srgbClr val="7552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Two distinct models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00">
                <a:solidFill>
                  <a:srgbClr val="556174"/>
                </a:solidFill>
                <a:latin typeface="Arial"/>
                <a:ea typeface="Arial"/>
                <a:cs typeface="Arial"/>
              </a:rPr>
              <a:t>Backend squall nowcast
Browser danger-zone GBDT</a:t>
            </a:r>
          </a:p>
        </p:txBody>
      </p:sp>
      <p:sp>
        <p:nvSpPr>
          <p:cNvPr id="62" name="weather-advisory">
            <a:extLst xmlns:a="http://schemas.openxmlformats.org/drawingml/2006/main">
              <a:ext uri="{FF2B5EF4-FFF2-40B4-BE49-F238E27FC236}">
                <a16:creationId xmlns:a16="http://schemas.microsoft.com/office/drawing/2014/main" id="{1E4FC86E-9FE2-4740-8354-AFD23DB07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2382500"/>
            <a:ext cx="22669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9DBFA"/>
          </a:solidFill>
          <a:ln xmlns:a="http://schemas.openxmlformats.org/drawingml/2006/main" w="15240">
            <a:solidFill>
              <a:srgbClr val="7552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Advisory candidate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00">
                <a:solidFill>
                  <a:srgbClr val="556174"/>
                </a:solidFill>
                <a:latin typeface="Arial"/>
                <a:ea typeface="Arial"/>
                <a:cs typeface="Arial"/>
              </a:rPr>
              <a:t>Shows source, age, confidence and limitations</a:t>
            </a:r>
          </a:p>
        </p:txBody>
      </p:sp>
      <p:sp>
        <p:nvSpPr>
          <p:cNvPr id="63" name="weather-result">
            <a:extLst xmlns:a="http://schemas.openxmlformats.org/drawingml/2006/main">
              <a:ext uri="{FF2B5EF4-FFF2-40B4-BE49-F238E27FC236}">
                <a16:creationId xmlns:a16="http://schemas.microsoft.com/office/drawing/2014/main" id="{26BFA619-8D50-41A5-A127-3A4E04F80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13525500"/>
            <a:ext cx="21336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DBFA"/>
          </a:solidFill>
          <a:ln xmlns:a="http://schemas.openxmlformats.org/drawingml/2006/main" w="13335">
            <a:solidFill>
              <a:srgbClr val="7552A8"/>
            </a:solidFill>
            <a:prstDash val="solid"/>
          </a:ln>
        </p:spPr>
        <p:txBody>
          <a:bodyPr xmlns:a="http://schemas.openxmlformats.org/drawingml/2006/main" lIns="66675" tIns="28575" rIns="66675" bIns="28575" anchor="ctr">
            <a:normAutofit fontScale="9210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WARNING / RETURN NOW CANDIDATE</a:t>
            </a:r>
          </a:p>
        </p:txBody>
      </p:sp>
      <p:sp>
        <p:nvSpPr>
          <p:cNvPr id="64" name="trip-history">
            <a:extLst xmlns:a="http://schemas.openxmlformats.org/drawingml/2006/main">
              <a:ext uri="{FF2B5EF4-FFF2-40B4-BE49-F238E27FC236}">
                <a16:creationId xmlns:a16="http://schemas.microsoft.com/office/drawing/2014/main" id="{386B3E0E-96F6-4BD6-8EC5-428087BB7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0287000"/>
            <a:ext cx="22669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9DBFA"/>
          </a:solidFill>
          <a:ln xmlns:a="http://schemas.openxmlformats.org/drawingml/2006/main" w="15240">
            <a:solidFill>
              <a:srgbClr val="7552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Contact and trip history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00">
                <a:solidFill>
                  <a:srgbClr val="556174"/>
                </a:solidFill>
                <a:latin typeface="Arial"/>
                <a:ea typeface="Arial"/>
                <a:cs typeface="Arial"/>
              </a:rPr>
              <a:t>Only observations at or before decision time</a:t>
            </a:r>
          </a:p>
        </p:txBody>
      </p:sp>
      <p:sp>
        <p:nvSpPr>
          <p:cNvPr id="65" name="trip-profile">
            <a:extLst xmlns:a="http://schemas.openxmlformats.org/drawingml/2006/main">
              <a:ext uri="{FF2B5EF4-FFF2-40B4-BE49-F238E27FC236}">
                <a16:creationId xmlns:a16="http://schemas.microsoft.com/office/drawing/2014/main" id="{63434476-D9DD-408C-94EC-5A08722FF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1334750"/>
            <a:ext cx="22669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9DBFA"/>
          </a:solidFill>
          <a:ln xmlns:a="http://schemas.openxmlformats.org/drawingml/2006/main" w="15240">
            <a:solidFill>
              <a:srgbClr val="7552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Per-vessel profile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00">
                <a:solidFill>
                  <a:srgbClr val="556174"/>
                </a:solidFill>
                <a:latin typeface="Arial"/>
                <a:ea typeface="Arial"/>
                <a:cs typeface="Arial"/>
              </a:rPr>
              <a:t>Compares duration and route against that vessel</a:t>
            </a:r>
          </a:p>
        </p:txBody>
      </p:sp>
      <p:sp>
        <p:nvSpPr>
          <p:cNvPr id="66" name="trip-case">
            <a:extLst xmlns:a="http://schemas.openxmlformats.org/drawingml/2006/main">
              <a:ext uri="{FF2B5EF4-FFF2-40B4-BE49-F238E27FC236}">
                <a16:creationId xmlns:a16="http://schemas.microsoft.com/office/drawing/2014/main" id="{628D81C2-E368-47D7-B59D-2FC6E760B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2382500"/>
            <a:ext cx="22669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9DBFA"/>
          </a:solidFill>
          <a:ln xmlns:a="http://schemas.openxmlformats.org/drawingml/2006/main" w="15240">
            <a:solidFill>
              <a:srgbClr val="7552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Verification and escalation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00">
                <a:solidFill>
                  <a:srgbClr val="556174"/>
                </a:solidFill>
                <a:latin typeface="Arial"/>
                <a:ea typeface="Arial"/>
                <a:cs typeface="Arial"/>
              </a:rPr>
              <a:t>Silence alone never proves distress</a:t>
            </a:r>
          </a:p>
        </p:txBody>
      </p:sp>
      <p:sp>
        <p:nvSpPr>
          <p:cNvPr id="67" name="trip-result">
            <a:extLst xmlns:a="http://schemas.openxmlformats.org/drawingml/2006/main">
              <a:ext uri="{FF2B5EF4-FFF2-40B4-BE49-F238E27FC236}">
                <a16:creationId xmlns:a16="http://schemas.microsoft.com/office/drawing/2014/main" id="{4BA81A54-2D76-409F-9E5C-9D9B5C953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13525500"/>
            <a:ext cx="21336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DBFA"/>
          </a:solidFill>
          <a:ln xmlns:a="http://schemas.openxmlformats.org/drawingml/2006/main" w="13335">
            <a:solidFill>
              <a:srgbClr val="7552A8"/>
            </a:solidFill>
            <a:prstDash val="solid"/>
          </a:ln>
        </p:spPr>
        <p:txBody>
          <a:bodyPr xmlns:a="http://schemas.openxmlformats.org/drawingml/2006/main" lIns="66675" tIns="28575" rIns="666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RESPONDER REVIEW CASE</a:t>
            </a:r>
          </a:p>
        </p:txBody>
      </p:sp>
      <p:sp>
        <p:nvSpPr>
          <p:cNvPr id="68" name="drift-datum">
            <a:extLst xmlns:a="http://schemas.openxmlformats.org/drawingml/2006/main">
              <a:ext uri="{FF2B5EF4-FFF2-40B4-BE49-F238E27FC236}">
                <a16:creationId xmlns:a16="http://schemas.microsoft.com/office/drawing/2014/main" id="{5EBCADE5-84A8-4DEA-A751-CF9F41928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0287000"/>
            <a:ext cx="22669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9DBFA"/>
          </a:solidFill>
          <a:ln xmlns:a="http://schemas.openxmlformats.org/drawingml/2006/main" w="15240">
            <a:solidFill>
              <a:srgbClr val="7552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Confirmed incident datum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00">
                <a:solidFill>
                  <a:srgbClr val="556174"/>
                </a:solidFill>
                <a:latin typeface="Arial"/>
                <a:ea typeface="Arial"/>
                <a:cs typeface="Arial"/>
              </a:rPr>
              <a:t>Last reliable fix, object class, wind, current and coastline</a:t>
            </a:r>
          </a:p>
        </p:txBody>
      </p:sp>
      <p:sp>
        <p:nvSpPr>
          <p:cNvPr id="69" name="drift-model">
            <a:extLst xmlns:a="http://schemas.openxmlformats.org/drawingml/2006/main">
              <a:ext uri="{FF2B5EF4-FFF2-40B4-BE49-F238E27FC236}">
                <a16:creationId xmlns:a16="http://schemas.microsoft.com/office/drawing/2014/main" id="{5C7FA0B7-CB35-4AB3-86CD-FE45520F9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1334750"/>
            <a:ext cx="22669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9DBFA"/>
          </a:solidFill>
          <a:ln xmlns:a="http://schemas.openxmlformats.org/drawingml/2006/main" w="15240">
            <a:solidFill>
              <a:srgbClr val="7552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Monte Carlo leeway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00">
                <a:solidFill>
                  <a:srgbClr val="556174"/>
                </a:solidFill>
                <a:latin typeface="Arial"/>
                <a:ea typeface="Arial"/>
                <a:cs typeface="Arial"/>
              </a:rPr>
              <a:t>Particle paths with land stranding and uncertainty</a:t>
            </a:r>
          </a:p>
        </p:txBody>
      </p:sp>
      <p:sp>
        <p:nvSpPr>
          <p:cNvPr id="70" name="drift-search">
            <a:extLst xmlns:a="http://schemas.openxmlformats.org/drawingml/2006/main">
              <a:ext uri="{FF2B5EF4-FFF2-40B4-BE49-F238E27FC236}">
                <a16:creationId xmlns:a16="http://schemas.microsoft.com/office/drawing/2014/main" id="{27B8E6B9-D6AA-4586-BE93-78FC8AFF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2382500"/>
            <a:ext cx="22669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9DBFA"/>
          </a:solidFill>
          <a:ln xmlns:a="http://schemas.openxmlformats.org/drawingml/2006/main" w="15240">
            <a:solidFill>
              <a:srgbClr val="7552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Search posterior update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00">
                <a:solidFill>
                  <a:srgbClr val="556174"/>
                </a:solidFill>
                <a:latin typeface="Arial"/>
                <a:ea typeface="Arial"/>
                <a:cs typeface="Arial"/>
              </a:rPr>
              <a:t>Negative search evidence shifts remaining probability</a:t>
            </a:r>
          </a:p>
        </p:txBody>
      </p:sp>
      <p:sp>
        <p:nvSpPr>
          <p:cNvPr id="71" name="drift-result">
            <a:extLst xmlns:a="http://schemas.openxmlformats.org/drawingml/2006/main">
              <a:ext uri="{FF2B5EF4-FFF2-40B4-BE49-F238E27FC236}">
                <a16:creationId xmlns:a16="http://schemas.microsoft.com/office/drawing/2014/main" id="{D4B3A112-7C8A-4D38-B528-0C0AF76DE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13525500"/>
            <a:ext cx="21336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DBFA"/>
          </a:solidFill>
          <a:ln xmlns:a="http://schemas.openxmlformats.org/drawingml/2006/main" w="13335">
            <a:solidFill>
              <a:srgbClr val="7552A8"/>
            </a:solidFill>
            <a:prstDash val="solid"/>
          </a:ln>
        </p:spPr>
        <p:txBody>
          <a:bodyPr xmlns:a="http://schemas.openxmlformats.org/drawingml/2006/main" lIns="66675" tIns="28575" rIns="666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50 / 75 / 95% SEARCH CONTOURS</a:t>
            </a:r>
          </a:p>
        </p:txBody>
      </p:sp>
      <p:sp>
        <p:nvSpPr>
          <p:cNvPr id="72" name="catch-consent">
            <a:extLst xmlns:a="http://schemas.openxmlformats.org/drawingml/2006/main">
              <a:ext uri="{FF2B5EF4-FFF2-40B4-BE49-F238E27FC236}">
                <a16:creationId xmlns:a16="http://schemas.microsoft.com/office/drawing/2014/main" id="{2F091FC3-30A7-49B3-A1CB-86F74A8FD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0287000"/>
            <a:ext cx="22669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D9F2E2"/>
          </a:solidFill>
          <a:ln xmlns:a="http://schemas.openxmlformats.org/drawingml/2006/main" w="15240">
            <a:solidFill>
              <a:srgbClr val="2F7D5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Explicitly consented logs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00">
                <a:solidFill>
                  <a:srgbClr val="556174"/>
                </a:solidFill>
                <a:latin typeface="Arial"/>
                <a:ea typeface="Arial"/>
                <a:cs typeface="Arial"/>
              </a:rPr>
              <a:t>Safety access never depends on participation</a:t>
            </a:r>
          </a:p>
        </p:txBody>
      </p:sp>
      <p:sp>
        <p:nvSpPr>
          <p:cNvPr id="73" name="catch-privacy">
            <a:extLst xmlns:a="http://schemas.openxmlformats.org/drawingml/2006/main">
              <a:ext uri="{FF2B5EF4-FFF2-40B4-BE49-F238E27FC236}">
                <a16:creationId xmlns:a16="http://schemas.microsoft.com/office/drawing/2014/main" id="{603CAEE8-4416-46CE-8EA4-49CF19AF5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1334750"/>
            <a:ext cx="22669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D9F2E2"/>
          </a:solidFill>
          <a:ln xmlns:a="http://schemas.openxmlformats.org/drawingml/2006/main" w="15240">
            <a:solidFill>
              <a:srgbClr val="2F7D5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Privacy aggregation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00">
                <a:solidFill>
                  <a:srgbClr val="556174"/>
                </a:solidFill>
                <a:latin typeface="Arial"/>
                <a:ea typeface="Arial"/>
                <a:cs typeface="Arial"/>
              </a:rPr>
              <a:t>Coarse cells and minimum independent reporters</a:t>
            </a:r>
          </a:p>
        </p:txBody>
      </p:sp>
      <p:sp>
        <p:nvSpPr>
          <p:cNvPr id="74" name="catch-activity">
            <a:extLst xmlns:a="http://schemas.openxmlformats.org/drawingml/2006/main">
              <a:ext uri="{FF2B5EF4-FFF2-40B4-BE49-F238E27FC236}">
                <a16:creationId xmlns:a16="http://schemas.microsoft.com/office/drawing/2014/main" id="{934D8B7F-1ED6-4FA6-8672-FF285D3E0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2382500"/>
            <a:ext cx="22669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D9F2E2"/>
          </a:solidFill>
          <a:ln xmlns:a="http://schemas.openxmlformats.org/drawingml/2006/main" w="15240">
            <a:solidFill>
              <a:srgbClr val="2F7D5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Recent activity surface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00">
                <a:solidFill>
                  <a:srgbClr val="556174"/>
                </a:solidFill>
                <a:latin typeface="Arial"/>
                <a:ea typeface="Arial"/>
                <a:cs typeface="Arial"/>
              </a:rPr>
              <a:t>No guaranteed catch and no exact public locations</a:t>
            </a:r>
          </a:p>
        </p:txBody>
      </p:sp>
      <p:sp>
        <p:nvSpPr>
          <p:cNvPr id="75" name="catch-result">
            <a:extLst xmlns:a="http://schemas.openxmlformats.org/drawingml/2006/main">
              <a:ext uri="{FF2B5EF4-FFF2-40B4-BE49-F238E27FC236}">
                <a16:creationId xmlns:a16="http://schemas.microsoft.com/office/drawing/2014/main" id="{9E238A88-F63E-4DE2-8F43-957CBAB55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13525500"/>
            <a:ext cx="21336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F2E2"/>
          </a:solidFill>
          <a:ln xmlns:a="http://schemas.openxmlformats.org/drawingml/2006/main" w="13335">
            <a:solidFill>
              <a:srgbClr val="2F7D54"/>
            </a:solidFill>
            <a:prstDash val="solid"/>
          </a:ln>
        </p:spPr>
        <p:txBody>
          <a:bodyPr xmlns:a="http://schemas.openxmlformats.org/drawingml/2006/main" lIns="66675" tIns="28575" rIns="666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COARSE ACTIVITY VIEW</a:t>
            </a:r>
          </a:p>
        </p:txBody>
      </p:sp>
      <p:cxnSp>
        <p:nvCxnSpPr>
          <p:cNvPr id="202" name="sos-flow-1"/>
          <p:cNvCxnSpPr>
            <a:stCxn xmlns:a="http://schemas.openxmlformats.org/drawingml/2006/main" id="56" idx="2"/>
            <a:endCxn xmlns:a="http://schemas.openxmlformats.org/drawingml/2006/main" id="57" idx="0"/>
          </p:cNvCxnSpPr>
          <p:nvPr/>
        </p:nvCxnSpPr>
        <p:spPr>
          <a:xfrm xmlns:a="http://schemas.openxmlformats.org/drawingml/2006/main">
            <a:off x="1609725" y="11106150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C73F4D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203" name="sos-flow-2"/>
          <p:cNvCxnSpPr>
            <a:stCxn xmlns:a="http://schemas.openxmlformats.org/drawingml/2006/main" id="57" idx="2"/>
            <a:endCxn xmlns:a="http://schemas.openxmlformats.org/drawingml/2006/main" id="58" idx="0"/>
          </p:cNvCxnSpPr>
          <p:nvPr/>
        </p:nvCxnSpPr>
        <p:spPr>
          <a:xfrm xmlns:a="http://schemas.openxmlformats.org/drawingml/2006/main">
            <a:off x="1609725" y="12153900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C73F4D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204" name="sos-flow-3"/>
          <p:cNvCxnSpPr>
            <a:stCxn xmlns:a="http://schemas.openxmlformats.org/drawingml/2006/main" id="58" idx="2"/>
            <a:endCxn xmlns:a="http://schemas.openxmlformats.org/drawingml/2006/main" id="59" idx="0"/>
          </p:cNvCxnSpPr>
          <p:nvPr/>
        </p:nvCxnSpPr>
        <p:spPr>
          <a:xfrm xmlns:a="http://schemas.openxmlformats.org/drawingml/2006/main">
            <a:off x="1609725" y="13201650"/>
            <a:ext cx="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C73F4D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205" name="weather-flow-1"/>
          <p:cNvCxnSpPr>
            <a:stCxn xmlns:a="http://schemas.openxmlformats.org/drawingml/2006/main" id="60" idx="2"/>
            <a:endCxn xmlns:a="http://schemas.openxmlformats.org/drawingml/2006/main" id="61" idx="0"/>
          </p:cNvCxnSpPr>
          <p:nvPr/>
        </p:nvCxnSpPr>
        <p:spPr>
          <a:xfrm xmlns:a="http://schemas.openxmlformats.org/drawingml/2006/main">
            <a:off x="4086225" y="11106150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552A8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206" name="weather-flow-2"/>
          <p:cNvCxnSpPr>
            <a:stCxn xmlns:a="http://schemas.openxmlformats.org/drawingml/2006/main" id="61" idx="2"/>
            <a:endCxn xmlns:a="http://schemas.openxmlformats.org/drawingml/2006/main" id="62" idx="0"/>
          </p:cNvCxnSpPr>
          <p:nvPr/>
        </p:nvCxnSpPr>
        <p:spPr>
          <a:xfrm xmlns:a="http://schemas.openxmlformats.org/drawingml/2006/main">
            <a:off x="4086225" y="12153900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552A8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207" name="weather-flow-3"/>
          <p:cNvCxnSpPr>
            <a:stCxn xmlns:a="http://schemas.openxmlformats.org/drawingml/2006/main" id="62" idx="2"/>
            <a:endCxn xmlns:a="http://schemas.openxmlformats.org/drawingml/2006/main" id="63" idx="0"/>
          </p:cNvCxnSpPr>
          <p:nvPr/>
        </p:nvCxnSpPr>
        <p:spPr>
          <a:xfrm xmlns:a="http://schemas.openxmlformats.org/drawingml/2006/main">
            <a:off x="4086225" y="13201650"/>
            <a:ext cx="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552A8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208" name="trip-flow-1"/>
          <p:cNvCxnSpPr>
            <a:stCxn xmlns:a="http://schemas.openxmlformats.org/drawingml/2006/main" id="64" idx="2"/>
            <a:endCxn xmlns:a="http://schemas.openxmlformats.org/drawingml/2006/main" id="65" idx="0"/>
          </p:cNvCxnSpPr>
          <p:nvPr/>
        </p:nvCxnSpPr>
        <p:spPr>
          <a:xfrm xmlns:a="http://schemas.openxmlformats.org/drawingml/2006/main">
            <a:off x="6562725" y="11106150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552A8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209" name="trip-flow-2"/>
          <p:cNvCxnSpPr>
            <a:stCxn xmlns:a="http://schemas.openxmlformats.org/drawingml/2006/main" id="65" idx="2"/>
            <a:endCxn xmlns:a="http://schemas.openxmlformats.org/drawingml/2006/main" id="66" idx="0"/>
          </p:cNvCxnSpPr>
          <p:nvPr/>
        </p:nvCxnSpPr>
        <p:spPr>
          <a:xfrm xmlns:a="http://schemas.openxmlformats.org/drawingml/2006/main">
            <a:off x="6562725" y="12153900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552A8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210" name="trip-flow-3"/>
          <p:cNvCxnSpPr>
            <a:stCxn xmlns:a="http://schemas.openxmlformats.org/drawingml/2006/main" id="66" idx="2"/>
            <a:endCxn xmlns:a="http://schemas.openxmlformats.org/drawingml/2006/main" id="67" idx="0"/>
          </p:cNvCxnSpPr>
          <p:nvPr/>
        </p:nvCxnSpPr>
        <p:spPr>
          <a:xfrm xmlns:a="http://schemas.openxmlformats.org/drawingml/2006/main">
            <a:off x="6562725" y="13201650"/>
            <a:ext cx="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552A8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211" name="drift-flow-1"/>
          <p:cNvCxnSpPr>
            <a:stCxn xmlns:a="http://schemas.openxmlformats.org/drawingml/2006/main" id="68" idx="2"/>
            <a:endCxn xmlns:a="http://schemas.openxmlformats.org/drawingml/2006/main" id="69" idx="0"/>
          </p:cNvCxnSpPr>
          <p:nvPr/>
        </p:nvCxnSpPr>
        <p:spPr>
          <a:xfrm xmlns:a="http://schemas.openxmlformats.org/drawingml/2006/main">
            <a:off x="9039225" y="11106150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552A8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212" name="drift-flow-2"/>
          <p:cNvCxnSpPr>
            <a:stCxn xmlns:a="http://schemas.openxmlformats.org/drawingml/2006/main" id="69" idx="2"/>
            <a:endCxn xmlns:a="http://schemas.openxmlformats.org/drawingml/2006/main" id="70" idx="0"/>
          </p:cNvCxnSpPr>
          <p:nvPr/>
        </p:nvCxnSpPr>
        <p:spPr>
          <a:xfrm xmlns:a="http://schemas.openxmlformats.org/drawingml/2006/main">
            <a:off x="9039225" y="12153900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552A8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213" name="drift-flow-3"/>
          <p:cNvCxnSpPr>
            <a:stCxn xmlns:a="http://schemas.openxmlformats.org/drawingml/2006/main" id="70" idx="2"/>
            <a:endCxn xmlns:a="http://schemas.openxmlformats.org/drawingml/2006/main" id="71" idx="0"/>
          </p:cNvCxnSpPr>
          <p:nvPr/>
        </p:nvCxnSpPr>
        <p:spPr>
          <a:xfrm xmlns:a="http://schemas.openxmlformats.org/drawingml/2006/main">
            <a:off x="9039225" y="13201650"/>
            <a:ext cx="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552A8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214" name="catch-flow-1"/>
          <p:cNvCxnSpPr>
            <a:stCxn xmlns:a="http://schemas.openxmlformats.org/drawingml/2006/main" id="72" idx="2"/>
            <a:endCxn xmlns:a="http://schemas.openxmlformats.org/drawingml/2006/main" id="73" idx="0"/>
          </p:cNvCxnSpPr>
          <p:nvPr/>
        </p:nvCxnSpPr>
        <p:spPr>
          <a:xfrm xmlns:a="http://schemas.openxmlformats.org/drawingml/2006/main">
            <a:off x="11515725" y="11106150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F7D54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215" name="catch-flow-2"/>
          <p:cNvCxnSpPr>
            <a:stCxn xmlns:a="http://schemas.openxmlformats.org/drawingml/2006/main" id="73" idx="2"/>
            <a:endCxn xmlns:a="http://schemas.openxmlformats.org/drawingml/2006/main" id="74" idx="0"/>
          </p:cNvCxnSpPr>
          <p:nvPr/>
        </p:nvCxnSpPr>
        <p:spPr>
          <a:xfrm xmlns:a="http://schemas.openxmlformats.org/drawingml/2006/main">
            <a:off x="11515725" y="12153900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F7D54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216" name="catch-flow-3"/>
          <p:cNvCxnSpPr>
            <a:stCxn xmlns:a="http://schemas.openxmlformats.org/drawingml/2006/main" id="74" idx="2"/>
            <a:endCxn xmlns:a="http://schemas.openxmlformats.org/drawingml/2006/main" id="75" idx="0"/>
          </p:cNvCxnSpPr>
          <p:nvPr/>
        </p:nvCxnSpPr>
        <p:spPr>
          <a:xfrm xmlns:a="http://schemas.openxmlformats.org/drawingml/2006/main">
            <a:off x="11515725" y="13201650"/>
            <a:ext cx="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F7D54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217" name="api-to-sos"/>
          <p:cNvCxnSpPr>
            <a:stCxn xmlns:a="http://schemas.openxmlformats.org/drawingml/2006/main" id="42" idx="2"/>
            <a:endCxn xmlns:a="http://schemas.openxmlformats.org/drawingml/2006/main" id="56" idx="0"/>
          </p:cNvCxnSpPr>
          <p:nvPr/>
        </p:nvCxnSpPr>
        <p:spPr>
          <a:xfrm xmlns:a="http://schemas.openxmlformats.org/drawingml/2006/main" flipH="1">
            <a:off x="1609725" y="8067675"/>
            <a:ext cx="3009900" cy="22193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73F4D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218" name="api-to-weather"/>
          <p:cNvCxnSpPr>
            <a:stCxn xmlns:a="http://schemas.openxmlformats.org/drawingml/2006/main" id="42" idx="2"/>
            <a:endCxn xmlns:a="http://schemas.openxmlformats.org/drawingml/2006/main" id="60" idx="0"/>
          </p:cNvCxnSpPr>
          <p:nvPr/>
        </p:nvCxnSpPr>
        <p:spPr>
          <a:xfrm xmlns:a="http://schemas.openxmlformats.org/drawingml/2006/main" flipH="1">
            <a:off x="4086225" y="8067675"/>
            <a:ext cx="533400" cy="22193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7552A8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219" name="api-to-trip"/>
          <p:cNvCxnSpPr>
            <a:stCxn xmlns:a="http://schemas.openxmlformats.org/drawingml/2006/main" id="42" idx="2"/>
            <a:endCxn xmlns:a="http://schemas.openxmlformats.org/drawingml/2006/main" id="64" idx="0"/>
          </p:cNvCxnSpPr>
          <p:nvPr/>
        </p:nvCxnSpPr>
        <p:spPr>
          <a:xfrm xmlns:a="http://schemas.openxmlformats.org/drawingml/2006/main">
            <a:off x="4619625" y="8067675"/>
            <a:ext cx="1943100" cy="22193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7552A8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220" name="api-to-drift"/>
          <p:cNvCxnSpPr>
            <a:stCxn xmlns:a="http://schemas.openxmlformats.org/drawingml/2006/main" id="42" idx="2"/>
            <a:endCxn xmlns:a="http://schemas.openxmlformats.org/drawingml/2006/main" id="68" idx="0"/>
          </p:cNvCxnSpPr>
          <p:nvPr/>
        </p:nvCxnSpPr>
        <p:spPr>
          <a:xfrm xmlns:a="http://schemas.openxmlformats.org/drawingml/2006/main">
            <a:off x="4619625" y="8067675"/>
            <a:ext cx="4419600" cy="22193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7552A8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221" name="api-to-catch"/>
          <p:cNvCxnSpPr>
            <a:stCxn xmlns:a="http://schemas.openxmlformats.org/drawingml/2006/main" id="42" idx="2"/>
            <a:endCxn xmlns:a="http://schemas.openxmlformats.org/drawingml/2006/main" id="72" idx="0"/>
          </p:cNvCxnSpPr>
          <p:nvPr/>
        </p:nvCxnSpPr>
        <p:spPr>
          <a:xfrm xmlns:a="http://schemas.openxmlformats.org/drawingml/2006/main">
            <a:off x="4619625" y="8067675"/>
            <a:ext cx="6896100" cy="22193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F7D54"/>
            </a:solidFill>
            <a:prstDash val="solid"/>
            <a:headEnd type="triangle" w="sm" len="sm"/>
            <a:tailEnd type="none" w="med" len="med"/>
          </a:ln>
        </p:spPr>
      </p:cxnSp>
      <p:sp>
        <p:nvSpPr>
          <p:cNvPr id="96" name="decision-boundary">
            <a:extLst xmlns:a="http://schemas.openxmlformats.org/drawingml/2006/main">
              <a:ext uri="{FF2B5EF4-FFF2-40B4-BE49-F238E27FC236}">
                <a16:creationId xmlns:a16="http://schemas.microsoft.com/office/drawing/2014/main" id="{C89F6D10-D469-4122-9039-0377E1C9F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4573250"/>
            <a:ext cx="53340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CC"/>
          </a:solidFill>
          <a:ln xmlns:a="http://schemas.openxmlformats.org/drawingml/2006/main" w="13335">
            <a:solidFill>
              <a:srgbClr val="D6B43C"/>
            </a:solidFill>
            <a:prstDash val="solid"/>
          </a:ln>
        </p:spPr>
        <p:txBody>
          <a:bodyPr xmlns:a="http://schemas.openxmlformats.org/drawingml/2006/main" lIns="66675" tIns="28575" rIns="666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MODEL OUTPUTS ADVISE; AUTHORIZED PEOPLE DECIDE</a:t>
            </a:r>
          </a:p>
        </p:txBody>
      </p:sp>
      <p:sp>
        <p:nvSpPr>
          <p:cNvPr id="97" name="decision-caveat">
            <a:extLst xmlns:a="http://schemas.openxmlformats.org/drawingml/2006/main">
              <a:ext uri="{FF2B5EF4-FFF2-40B4-BE49-F238E27FC236}">
                <a16:creationId xmlns:a16="http://schemas.microsoft.com/office/drawing/2014/main" id="{E69145A5-9D25-43CD-9384-FA0066CF0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5001875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5617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56174"/>
                </a:solidFill>
                <a:latin typeface="Arial"/>
                <a:ea typeface="Arial"/>
                <a:cs typeface="Arial"/>
              </a:rPr>
              <a:t>Squall calibration is synthetic. Drift awaits live buoy current telemetry. Catch workflow remains a pilot foundation.</a:t>
            </a:r>
          </a:p>
        </p:txBody>
      </p:sp>
      <p:sp>
        <p:nvSpPr>
          <p:cNvPr id="98" name="output-mobile">
            <a:extLst xmlns:a="http://schemas.openxmlformats.org/drawingml/2006/main">
              <a:ext uri="{FF2B5EF4-FFF2-40B4-BE49-F238E27FC236}">
                <a16:creationId xmlns:a16="http://schemas.microsoft.com/office/drawing/2014/main" id="{DEC36FE3-84EA-4FF6-9984-891F25FD2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287750"/>
            <a:ext cx="32385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D6F5FA"/>
          </a:solidFill>
          <a:ln xmlns:a="http://schemas.openxmlformats.org/drawingml/2006/main" w="15240">
            <a:solidFill>
              <a:srgbClr val="1D7C7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Fisher mobile app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000">
                <a:solidFill>
                  <a:srgbClr val="556174"/>
                </a:solidFill>
                <a:latin typeface="Arial"/>
                <a:ea typeface="Arial"/>
                <a:cs typeface="Arial"/>
              </a:rPr>
              <a:t>Delivery states and responder ETA
Warnings and forecast freshness
Optional coarse activity</a:t>
            </a:r>
          </a:p>
        </p:txBody>
      </p:sp>
      <p:sp>
        <p:nvSpPr>
          <p:cNvPr id="99" name="output-dashboard">
            <a:extLst xmlns:a="http://schemas.openxmlformats.org/drawingml/2006/main">
              <a:ext uri="{FF2B5EF4-FFF2-40B4-BE49-F238E27FC236}">
                <a16:creationId xmlns:a16="http://schemas.microsoft.com/office/drawing/2014/main" id="{071DF634-DE1A-4BC8-86F3-01E24F9FA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6287750"/>
            <a:ext cx="32385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D6F5FA"/>
          </a:solidFill>
          <a:ln xmlns:a="http://schemas.openxmlformats.org/drawingml/2006/main" w="15240">
            <a:solidFill>
              <a:srgbClr val="1D7C7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MDRRMO / PCG dashboard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000">
                <a:solidFill>
                  <a:srgbClr val="556174"/>
                </a:solidFill>
                <a:latin typeface="Arial"/>
                <a:ea typeface="Arial"/>
                <a:cs typeface="Arial"/>
              </a:rPr>
              <a:t>Live SOS and acknowledgement
Overdue review and drift contours
Network and feed freshness</a:t>
            </a:r>
          </a:p>
        </p:txBody>
      </p:sp>
      <p:sp>
        <p:nvSpPr>
          <p:cNvPr id="100" name="output-lgu">
            <a:extLst xmlns:a="http://schemas.openxmlformats.org/drawingml/2006/main">
              <a:ext uri="{FF2B5EF4-FFF2-40B4-BE49-F238E27FC236}">
                <a16:creationId xmlns:a16="http://schemas.microsoft.com/office/drawing/2014/main" id="{F8FB2815-DD1E-4E31-8A84-D6EEB3710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6287750"/>
            <a:ext cx="32385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D6F5FA"/>
          </a:solidFill>
          <a:ln xmlns:a="http://schemas.openxmlformats.org/drawingml/2006/main" w="15240">
            <a:solidFill>
              <a:srgbClr val="1D7C7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LGU / BFAR aggregated view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000">
                <a:solidFill>
                  <a:srgbClr val="556174"/>
                </a:solidFill>
                <a:latin typeface="Arial"/>
                <a:ea typeface="Arial"/>
                <a:cs typeface="Arial"/>
              </a:rPr>
              <a:t>Consented coarse catch activity
No identifiable safety trip trails
Pilot workflow not field validated</a:t>
            </a:r>
          </a:p>
        </p:txBody>
      </p:sp>
      <p:cxnSp>
        <p:nvCxnSpPr>
          <p:cNvPr id="227" name="sos-to-dashboard"/>
          <p:cNvCxnSpPr>
            <a:stCxn xmlns:a="http://schemas.openxmlformats.org/drawingml/2006/main" id="59" idx="2"/>
            <a:endCxn xmlns:a="http://schemas.openxmlformats.org/drawingml/2006/main" id="99" idx="0"/>
          </p:cNvCxnSpPr>
          <p:nvPr/>
        </p:nvCxnSpPr>
        <p:spPr>
          <a:xfrm xmlns:a="http://schemas.openxmlformats.org/drawingml/2006/main">
            <a:off x="1609725" y="13963650"/>
            <a:ext cx="5057775" cy="23241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73F4D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228" name="weather-to-mobile"/>
          <p:cNvCxnSpPr>
            <a:stCxn xmlns:a="http://schemas.openxmlformats.org/drawingml/2006/main" id="63" idx="2"/>
            <a:endCxn xmlns:a="http://schemas.openxmlformats.org/drawingml/2006/main" id="98" idx="0"/>
          </p:cNvCxnSpPr>
          <p:nvPr/>
        </p:nvCxnSpPr>
        <p:spPr>
          <a:xfrm xmlns:a="http://schemas.openxmlformats.org/drawingml/2006/main" flipH="1">
            <a:off x="2428875" y="13963650"/>
            <a:ext cx="1657350" cy="23241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7552A8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229" name="trip-to-dashboard"/>
          <p:cNvCxnSpPr>
            <a:stCxn xmlns:a="http://schemas.openxmlformats.org/drawingml/2006/main" id="67" idx="2"/>
            <a:endCxn xmlns:a="http://schemas.openxmlformats.org/drawingml/2006/main" id="99" idx="0"/>
          </p:cNvCxnSpPr>
          <p:nvPr/>
        </p:nvCxnSpPr>
        <p:spPr>
          <a:xfrm xmlns:a="http://schemas.openxmlformats.org/drawingml/2006/main">
            <a:off x="6562725" y="13963650"/>
            <a:ext cx="104775" cy="23241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7552A8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230" name="drift-to-dashboard"/>
          <p:cNvCxnSpPr>
            <a:stCxn xmlns:a="http://schemas.openxmlformats.org/drawingml/2006/main" id="71" idx="2"/>
            <a:endCxn xmlns:a="http://schemas.openxmlformats.org/drawingml/2006/main" id="99" idx="0"/>
          </p:cNvCxnSpPr>
          <p:nvPr/>
        </p:nvCxnSpPr>
        <p:spPr>
          <a:xfrm xmlns:a="http://schemas.openxmlformats.org/drawingml/2006/main" flipH="1">
            <a:off x="6667500" y="13963650"/>
            <a:ext cx="2371725" cy="23241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7552A8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231" name="catch-to-lgu"/>
          <p:cNvCxnSpPr>
            <a:stCxn xmlns:a="http://schemas.openxmlformats.org/drawingml/2006/main" id="75" idx="2"/>
            <a:endCxn xmlns:a="http://schemas.openxmlformats.org/drawingml/2006/main" id="100" idx="0"/>
          </p:cNvCxnSpPr>
          <p:nvPr/>
        </p:nvCxnSpPr>
        <p:spPr>
          <a:xfrm xmlns:a="http://schemas.openxmlformats.org/drawingml/2006/main" flipH="1">
            <a:off x="10906125" y="13963650"/>
            <a:ext cx="609600" cy="23241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F7D54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232" name="catch-to-mobile"/>
          <p:cNvCxnSpPr>
            <a:stCxn xmlns:a="http://schemas.openxmlformats.org/drawingml/2006/main" id="75" idx="2"/>
            <a:endCxn xmlns:a="http://schemas.openxmlformats.org/drawingml/2006/main" id="98" idx="0"/>
          </p:cNvCxnSpPr>
          <p:nvPr/>
        </p:nvCxnSpPr>
        <p:spPr>
          <a:xfrm xmlns:a="http://schemas.openxmlformats.org/drawingml/2006/main" flipH="1">
            <a:off x="2428875" y="13963650"/>
            <a:ext cx="9086850" cy="23241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F7D54"/>
            </a:solidFill>
            <a:prstDash val="dash"/>
            <a:headEnd type="triangle" w="sm" len="sm"/>
            <a:tailEnd type="none" w="med" len="med"/>
          </a:ln>
        </p:spPr>
      </p:cxnSp>
      <p:cxnSp>
        <p:nvCxnSpPr>
          <p:cNvPr id="233" name="dashboard-to-mobile"/>
          <p:cNvCxnSpPr>
            <a:stCxn xmlns:a="http://schemas.openxmlformats.org/drawingml/2006/main" id="99" idx="1"/>
            <a:endCxn xmlns:a="http://schemas.openxmlformats.org/drawingml/2006/main" id="98" idx="3"/>
          </p:cNvCxnSpPr>
          <p:nvPr/>
        </p:nvCxnSpPr>
        <p:spPr>
          <a:xfrm xmlns:a="http://schemas.openxmlformats.org/drawingml/2006/main" flipH="1">
            <a:off x="4048125" y="16978313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7C7A"/>
            </a:solidFill>
            <a:prstDash val="dash"/>
            <a:headEnd type="triangle" w="sm" len="sm"/>
            <a:tailEnd type="none" w="med" len="med"/>
          </a:ln>
        </p:spPr>
      </p:cxnSp>
      <p:sp>
        <p:nvSpPr>
          <p:cNvPr id="108" name="label-return-user">
            <a:extLst xmlns:a="http://schemas.openxmlformats.org/drawingml/2006/main">
              <a:ext uri="{FF2B5EF4-FFF2-40B4-BE49-F238E27FC236}">
                <a16:creationId xmlns:a16="http://schemas.microsoft.com/office/drawing/2014/main" id="{C371CBBC-26B3-4B06-A7DB-30D8FCD36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7792700"/>
            <a:ext cx="3905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2DC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556174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556174"/>
                </a:solidFill>
                <a:latin typeface="Arial"/>
                <a:ea typeface="Arial"/>
                <a:cs typeface="Arial"/>
              </a:rPr>
              <a:t>ACK, ETA AND WARNINGS WHEN A RETURN PATH EXISTS</a:t>
            </a:r>
          </a:p>
        </p:txBody>
      </p:sp>
      <p:sp>
        <p:nvSpPr>
          <p:cNvPr id="109" name="authority-pill">
            <a:extLst xmlns:a="http://schemas.openxmlformats.org/drawingml/2006/main">
              <a:ext uri="{FF2B5EF4-FFF2-40B4-BE49-F238E27FC236}">
                <a16:creationId xmlns:a16="http://schemas.microsoft.com/office/drawing/2014/main" id="{389DBD84-2FFB-489D-B315-1979B3B7C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7983200"/>
            <a:ext cx="733425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8FA"/>
          </a:solidFill>
          <a:ln xmlns:a="http://schemas.openxmlformats.org/drawingml/2006/main" w="13335">
            <a:solidFill>
              <a:srgbClr val="1D7C7A"/>
            </a:solidFill>
            <a:prstDash val="solid"/>
          </a:ln>
        </p:spPr>
        <p:txBody>
          <a:bodyPr xmlns:a="http://schemas.openxmlformats.org/drawingml/2006/main" lIns="66675" tIns="28575" rIns="666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Responder acknowledgement creates ACKNOWLEDGED. Resolution remains a separate incident state.</a:t>
            </a:r>
          </a:p>
        </p:txBody>
      </p:sp>
      <p:sp>
        <p:nvSpPr>
          <p:cNvPr id="110" name="legend-title">
            <a:extLst xmlns:a="http://schemas.openxmlformats.org/drawingml/2006/main">
              <a:ext uri="{FF2B5EF4-FFF2-40B4-BE49-F238E27FC236}">
                <a16:creationId xmlns:a16="http://schemas.microsoft.com/office/drawing/2014/main" id="{7D644E86-9EA7-4C1E-B1CC-ACE366D33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7071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Legend</a:t>
            </a:r>
          </a:p>
        </p:txBody>
      </p:sp>
      <p:sp>
        <p:nvSpPr>
          <p:cNvPr id="111" name="legend-hardware-dot">
            <a:extLst xmlns:a="http://schemas.openxmlformats.org/drawingml/2006/main">
              <a:ext uri="{FF2B5EF4-FFF2-40B4-BE49-F238E27FC236}">
                <a16:creationId xmlns:a16="http://schemas.microsoft.com/office/drawing/2014/main" id="{A4C9E1FE-0E87-4C4D-8DFB-F3346EF0A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90976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F1F0"/>
          </a:solidFill>
          <a:ln xmlns:a="http://schemas.openxmlformats.org/drawingml/2006/main" w="9525">
            <a:solidFill>
              <a:srgbClr val="1D7C7A"/>
            </a:solidFill>
            <a:prstDash val="solid"/>
          </a:ln>
        </p:spPr>
      </p:sp>
      <p:sp>
        <p:nvSpPr>
          <p:cNvPr id="112" name="legend-hardware-label">
            <a:extLst xmlns:a="http://schemas.openxmlformats.org/drawingml/2006/main">
              <a:ext uri="{FF2B5EF4-FFF2-40B4-BE49-F238E27FC236}">
                <a16:creationId xmlns:a16="http://schemas.microsoft.com/office/drawing/2014/main" id="{4F9727B7-B3FD-4D51-A80D-18CA0FD8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9021425"/>
            <a:ext cx="138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Field / edge</a:t>
            </a:r>
          </a:p>
        </p:txBody>
      </p:sp>
      <p:sp>
        <p:nvSpPr>
          <p:cNvPr id="113" name="legend-backend-dot">
            <a:extLst xmlns:a="http://schemas.openxmlformats.org/drawingml/2006/main">
              <a:ext uri="{FF2B5EF4-FFF2-40B4-BE49-F238E27FC236}">
                <a16:creationId xmlns:a16="http://schemas.microsoft.com/office/drawing/2014/main" id="{BD3524C7-AC40-4CAE-BAE7-260C23235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90976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7FF"/>
          </a:solidFill>
          <a:ln xmlns:a="http://schemas.openxmlformats.org/drawingml/2006/main" w="9525">
            <a:solidFill>
              <a:srgbClr val="395EB7"/>
            </a:solidFill>
            <a:prstDash val="solid"/>
          </a:ln>
        </p:spPr>
      </p:sp>
      <p:sp>
        <p:nvSpPr>
          <p:cNvPr id="114" name="legend-backend-label">
            <a:extLst xmlns:a="http://schemas.openxmlformats.org/drawingml/2006/main">
              <a:ext uri="{FF2B5EF4-FFF2-40B4-BE49-F238E27FC236}">
                <a16:creationId xmlns:a16="http://schemas.microsoft.com/office/drawing/2014/main" id="{48B3BBF0-5D77-43F8-8591-B8A5F183F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9021425"/>
            <a:ext cx="138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Backend / data</a:t>
            </a:r>
          </a:p>
        </p:txBody>
      </p:sp>
      <p:sp>
        <p:nvSpPr>
          <p:cNvPr id="115" name="legend-ai-dot">
            <a:extLst xmlns:a="http://schemas.openxmlformats.org/drawingml/2006/main">
              <a:ext uri="{FF2B5EF4-FFF2-40B4-BE49-F238E27FC236}">
                <a16:creationId xmlns:a16="http://schemas.microsoft.com/office/drawing/2014/main" id="{0FF6D3F0-70F9-4BEC-BBB2-3A3EA7C09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0976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DBFA"/>
          </a:solidFill>
          <a:ln xmlns:a="http://schemas.openxmlformats.org/drawingml/2006/main" w="9525">
            <a:solidFill>
              <a:srgbClr val="7552A8"/>
            </a:solidFill>
            <a:prstDash val="solid"/>
          </a:ln>
        </p:spPr>
      </p:sp>
      <p:sp>
        <p:nvSpPr>
          <p:cNvPr id="116" name="legend-ai-label">
            <a:extLst xmlns:a="http://schemas.openxmlformats.org/drawingml/2006/main">
              <a:ext uri="{FF2B5EF4-FFF2-40B4-BE49-F238E27FC236}">
                <a16:creationId xmlns:a16="http://schemas.microsoft.com/office/drawing/2014/main" id="{F1B44497-78D8-4164-9EA2-656813F8D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19021425"/>
            <a:ext cx="138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Model / simulation</a:t>
            </a:r>
          </a:p>
        </p:txBody>
      </p:sp>
      <p:sp>
        <p:nvSpPr>
          <p:cNvPr id="117" name="legend-safety-dot">
            <a:extLst xmlns:a="http://schemas.openxmlformats.org/drawingml/2006/main">
              <a:ext uri="{FF2B5EF4-FFF2-40B4-BE49-F238E27FC236}">
                <a16:creationId xmlns:a16="http://schemas.microsoft.com/office/drawing/2014/main" id="{BF79BE6E-CA84-4CD0-B039-C5F95CB11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0976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7DA"/>
          </a:solidFill>
          <a:ln xmlns:a="http://schemas.openxmlformats.org/drawingml/2006/main" w="9525">
            <a:solidFill>
              <a:srgbClr val="C73F4D"/>
            </a:solidFill>
            <a:prstDash val="solid"/>
          </a:ln>
        </p:spPr>
      </p:sp>
      <p:sp>
        <p:nvSpPr>
          <p:cNvPr id="118" name="legend-safety-label">
            <a:extLst xmlns:a="http://schemas.openxmlformats.org/drawingml/2006/main">
              <a:ext uri="{FF2B5EF4-FFF2-40B4-BE49-F238E27FC236}">
                <a16:creationId xmlns:a16="http://schemas.microsoft.com/office/drawing/2014/main" id="{5297276E-99D0-431E-9759-C677520FE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19021425"/>
            <a:ext cx="138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Emergency</a:t>
            </a:r>
          </a:p>
        </p:txBody>
      </p:sp>
      <p:sp>
        <p:nvSpPr>
          <p:cNvPr id="119" name="legend-external-dot">
            <a:extLst xmlns:a="http://schemas.openxmlformats.org/drawingml/2006/main">
              <a:ext uri="{FF2B5EF4-FFF2-40B4-BE49-F238E27FC236}">
                <a16:creationId xmlns:a16="http://schemas.microsoft.com/office/drawing/2014/main" id="{C2287C6B-6B1C-4177-BD70-E36377537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90976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8C5"/>
          </a:solidFill>
          <a:ln xmlns:a="http://schemas.openxmlformats.org/drawingml/2006/main" w="9525">
            <a:solidFill>
              <a:srgbClr val="C5872D"/>
            </a:solidFill>
            <a:prstDash val="solid"/>
          </a:ln>
        </p:spPr>
      </p:sp>
      <p:sp>
        <p:nvSpPr>
          <p:cNvPr id="120" name="legend-external-label">
            <a:extLst xmlns:a="http://schemas.openxmlformats.org/drawingml/2006/main">
              <a:ext uri="{FF2B5EF4-FFF2-40B4-BE49-F238E27FC236}">
                <a16:creationId xmlns:a16="http://schemas.microsoft.com/office/drawing/2014/main" id="{9856D5D8-D29F-4F8F-A8D0-77149F653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021425"/>
            <a:ext cx="138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External / human</a:t>
            </a:r>
          </a:p>
        </p:txBody>
      </p:sp>
      <p:sp>
        <p:nvSpPr>
          <p:cNvPr id="121" name="legend-output-dot">
            <a:extLst xmlns:a="http://schemas.openxmlformats.org/drawingml/2006/main">
              <a:ext uri="{FF2B5EF4-FFF2-40B4-BE49-F238E27FC236}">
                <a16:creationId xmlns:a16="http://schemas.microsoft.com/office/drawing/2014/main" id="{EB5F7788-9D8C-494C-B7DB-D15D11BFE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190976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F5FA"/>
          </a:solidFill>
          <a:ln xmlns:a="http://schemas.openxmlformats.org/drawingml/2006/main" w="9525">
            <a:solidFill>
              <a:srgbClr val="1D7C7A"/>
            </a:solidFill>
            <a:prstDash val="solid"/>
          </a:ln>
        </p:spPr>
      </p:sp>
      <p:sp>
        <p:nvSpPr>
          <p:cNvPr id="122" name="legend-output-label">
            <a:extLst xmlns:a="http://schemas.openxmlformats.org/drawingml/2006/main">
              <a:ext uri="{FF2B5EF4-FFF2-40B4-BE49-F238E27FC236}">
                <a16:creationId xmlns:a16="http://schemas.microsoft.com/office/drawing/2014/main" id="{193776B5-E166-4C52-ACF9-4B600BFEB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9021425"/>
            <a:ext cx="138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23" name="legend-fisheries-dot">
            <a:extLst xmlns:a="http://schemas.openxmlformats.org/drawingml/2006/main">
              <a:ext uri="{FF2B5EF4-FFF2-40B4-BE49-F238E27FC236}">
                <a16:creationId xmlns:a16="http://schemas.microsoft.com/office/drawing/2014/main" id="{976F5931-490B-4E08-97AE-9B9C521AE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190976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F2E2"/>
          </a:solidFill>
          <a:ln xmlns:a="http://schemas.openxmlformats.org/drawingml/2006/main" w="9525">
            <a:solidFill>
              <a:srgbClr val="2F7D54"/>
            </a:solidFill>
            <a:prstDash val="solid"/>
          </a:ln>
        </p:spPr>
      </p:sp>
      <p:sp>
        <p:nvSpPr>
          <p:cNvPr id="124" name="legend-fisheries-label">
            <a:extLst xmlns:a="http://schemas.openxmlformats.org/drawingml/2006/main">
              <a:ext uri="{FF2B5EF4-FFF2-40B4-BE49-F238E27FC236}">
                <a16:creationId xmlns:a16="http://schemas.microsoft.com/office/drawing/2014/main" id="{152234C0-3ABB-41BA-8A55-09077C210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19021425"/>
            <a:ext cx="138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Fisheries</a:t>
            </a:r>
          </a:p>
        </p:txBody>
      </p:sp>
      <p:sp>
        <p:nvSpPr>
          <p:cNvPr id="125" name="legend-lines">
            <a:extLst xmlns:a="http://schemas.openxmlformats.org/drawingml/2006/main">
              <a:ext uri="{FF2B5EF4-FFF2-40B4-BE49-F238E27FC236}">
                <a16:creationId xmlns:a16="http://schemas.microsoft.com/office/drawing/2014/main" id="{08B8EDBB-D6B8-47B4-993D-176719B86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94310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56174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56174"/>
                </a:solidFill>
                <a:latin typeface="Arial"/>
                <a:ea typeface="Arial"/>
                <a:cs typeface="Arial"/>
              </a:rPr>
              <a:t>Solid: implemented software path     Dashed: hardware, optional or return path awaiting field verification</a:t>
            </a:r>
          </a:p>
        </p:txBody>
      </p:sp>
      <p:sp>
        <p:nvSpPr>
          <p:cNvPr id="126" name="legend-status">
            <a:extLst xmlns:a="http://schemas.openxmlformats.org/drawingml/2006/main">
              <a:ext uri="{FF2B5EF4-FFF2-40B4-BE49-F238E27FC236}">
                <a16:creationId xmlns:a16="http://schemas.microsoft.com/office/drawing/2014/main" id="{860DC42E-DF89-4446-8C2C-3B03AFD5D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941195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5617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56174"/>
                </a:solidFill>
                <a:latin typeface="Arial"/>
                <a:ea typeface="Arial"/>
                <a:cs typeface="Arial"/>
              </a:rPr>
              <a:t>Current status: software is locally tested; public deployment, real-device LoRa range and local field-model validation remain pending.</a:t>
            </a:r>
          </a:p>
        </p:txBody>
      </p:sp>
    </p:spTree>
    <p:extLst>
      <p:ext uri="{BB962C8B-B14F-4D97-AF65-F5344CB8AC3E}">
        <p14:creationId xmlns:p14="http://schemas.microsoft.com/office/powerpoint/2010/main" val="13183418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2026-09-18T13:58:44.1770000Z</dcterms:created>
  <dcterms:modified xsi:type="dcterms:W3CDTF">2026-09-18T13:58:44.1780000Z</dcterms:modified>
</coreProperties>
</file>