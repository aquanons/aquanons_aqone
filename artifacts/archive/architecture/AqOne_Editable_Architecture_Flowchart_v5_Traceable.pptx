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07b93ce1ba4610" /><Relationship Type="http://schemas.openxmlformats.org/officeDocument/2006/relationships/extended-properties" Target="/docProps/app.xml" Id="R148d2b3f69b44adc" /><Relationship Type="http://schemas.openxmlformats.org/officeDocument/2006/relationships/officeDocument" Target="/ppt/presentation.xml" Id="R8fef7835867148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83fd5047864c9c"/>
  </p:sldMasterIdLst>
  <p:notesMasterIdLst>
    <p:notesMasterId xmlns:r="http://schemas.openxmlformats.org/officeDocument/2006/relationships" r:id="R1002e34adcd4469e"/>
  </p:notesMasterIdLst>
  <p:sldIdLst>
    <p:sldId xmlns:r="http://schemas.openxmlformats.org/officeDocument/2006/relationships" id="256" r:id="Rae015723a74947dd"/>
    <p:sldId xmlns:r="http://schemas.openxmlformats.org/officeDocument/2006/relationships" id="257" r:id="Rd666461524374e0e"/>
    <p:sldId xmlns:r="http://schemas.openxmlformats.org/officeDocument/2006/relationships" id="258" r:id="R93b69be4c66547ce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7282204b95643f3" /><Relationship Type="http://schemas.openxmlformats.org/officeDocument/2006/relationships/slideMaster" Target="/ppt/slideMasters/slideMaster1.xml" Id="Rfe83fd5047864c9c" /><Relationship Type="http://schemas.openxmlformats.org/officeDocument/2006/relationships/notesMaster" Target="/ppt/notesMasters/notesMaster1.xml" Id="R1002e34adcd4469e" /><Relationship Type="http://schemas.openxmlformats.org/officeDocument/2006/relationships/presProps" Target="/ppt/presProps.xml" Id="R40375e35e17e4111" /><Relationship Type="http://schemas.openxmlformats.org/officeDocument/2006/relationships/tableStyles" Target="/ppt/tableStyles.xml" Id="R65b7570456544dfb" /><Relationship Type="http://schemas.openxmlformats.org/officeDocument/2006/relationships/slide" Target="/ppt/slides/slide1.xml" Id="Rae015723a74947dd" /><Relationship Type="http://schemas.openxmlformats.org/officeDocument/2006/relationships/slide" Target="/ppt/slides/slide2.xml" Id="Rd666461524374e0e" /><Relationship Type="http://schemas.openxmlformats.org/officeDocument/2006/relationships/slide" Target="/ppt/slides/slide3.xml" Id="R93b69be4c66547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068510454640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3162c60ceb34d90" /><Relationship Type="http://schemas.openxmlformats.org/officeDocument/2006/relationships/notesMaster" Target="/ppt/notesMasters/notesMaster1.xml" Id="R3da879e8d09d4a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17ddca435b445d2" /><Relationship Type="http://schemas.openxmlformats.org/officeDocument/2006/relationships/notesMaster" Target="/ppt/notesMasters/notesMaster1.xml" Id="R6d950ee565d5460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a6fa7170f44d24" /><Relationship Type="http://schemas.openxmlformats.org/officeDocument/2006/relationships/notesMaster" Target="/ppt/notesMasters/notesMaster1.xml" Id="R175074ceb2334d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README.md; docs/55_HYBRID_TRANSPORT_ARCHITECTURE_DECISION.md; docs/06_DELIVERY_STATES.md; docs/04_INGEST_API.md; docs/05_PUBLIC_API.md.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docs/06_DELIVERY_STATES.md; docs/03_PHONE_BUOY_WIFI.md; docs/04_INGEST_API.md; backend/app/api/sos.py; firmware/buoy/AqOneBuoy/AqOneBuoy.ino.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docs/Aqone_PRD (2).md; docs/17_AI_EXPLAINED_SIMPLY.md; docs/45_AI_PROSPECTIVE_EVALUATION_AND_CLAIMS.md; docs/07_SCOPE_OUT.md.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f714334d84a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2e6f8a36f84c48" /><Relationship Type="http://schemas.openxmlformats.org/officeDocument/2006/relationships/slideLayout" Target="/ppt/slideLayouts/slideLayout1.xml" Id="Rda452540240d4e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a452540240d4e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b855abe464273" /><Relationship Type="http://schemas.openxmlformats.org/officeDocument/2006/relationships/notesSlide" Target="/ppt/notesSlides/notesSlide1.xml" Id="R2b2175f3a26f4e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11dd600f4e4e0d" /><Relationship Type="http://schemas.openxmlformats.org/officeDocument/2006/relationships/notesSlide" Target="/ppt/notesSlides/notesSlide2.xml" Id="Rd1171a3cb3654c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cc72c53b064c8a" /><Relationship Type="http://schemas.openxmlformats.org/officeDocument/2006/relationships/notesSlide" Target="/ppt/notesSlides/notesSlide3.xml" Id="Rf4230d92070b49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title-1">
            <a:extLst xmlns:a="http://schemas.openxmlformats.org/drawingml/2006/main">
              <a:ext uri="{FF2B5EF4-FFF2-40B4-BE49-F238E27FC236}">
                <a16:creationId xmlns:a16="http://schemas.microsoft.com/office/drawing/2014/main" id="{8F29F840-61F3-4D8C-8CDE-0B8C9856A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AqOne System Data Paths</a:t>
            </a:r>
          </a:p>
        </p:txBody>
      </p:sp>
      <p:sp>
        <p:nvSpPr>
          <p:cNvPr id="2" name="subtitle-1">
            <a:extLst xmlns:a="http://schemas.openxmlformats.org/drawingml/2006/main">
              <a:ext uri="{FF2B5EF4-FFF2-40B4-BE49-F238E27FC236}">
                <a16:creationId xmlns:a16="http://schemas.microsoft.com/office/drawing/2014/main" id="{6CD9E1E2-5E31-48E1-A144-66BC04713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Separate tracks for SOS uplink, optional relay, direct internet and responder return</a:t>
            </a:r>
          </a:p>
        </p:txBody>
      </p:sp>
      <p:sp>
        <p:nvSpPr>
          <p:cNvPr id="3" name="page-marker-1">
            <a:extLst xmlns:a="http://schemas.openxmlformats.org/drawingml/2006/main">
              <a:ext uri="{FF2B5EF4-FFF2-40B4-BE49-F238E27FC236}">
                <a16:creationId xmlns:a16="http://schemas.microsoft.com/office/drawing/2014/main" id="{90A7FEC9-10DD-484C-87C8-6E1468D6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285750"/>
            <a:ext cx="13525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11430">
            <a:solidFill>
              <a:srgbClr val="D4B23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1 OF 3</a:t>
            </a:r>
          </a:p>
        </p:txBody>
      </p:sp>
      <p:sp>
        <p:nvSpPr>
          <p:cNvPr id="4" name="uplink-band">
            <a:extLst xmlns:a="http://schemas.openxmlformats.org/drawingml/2006/main">
              <a:ext uri="{FF2B5EF4-FFF2-40B4-BE49-F238E27FC236}">
                <a16:creationId xmlns:a16="http://schemas.microsoft.com/office/drawing/2014/main" id="{6D27FDCA-B5C4-4909-8572-5E864F09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43000"/>
            <a:ext cx="144399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C73F4D"/>
            </a:solidFill>
            <a:prstDash val="solid"/>
          </a:ln>
        </p:spPr>
      </p:sp>
      <p:sp>
        <p:nvSpPr>
          <p:cNvPr id="5" name="uplink-band-label">
            <a:extLst xmlns:a="http://schemas.openxmlformats.org/drawingml/2006/main">
              <a:ext uri="{FF2B5EF4-FFF2-40B4-BE49-F238E27FC236}">
                <a16:creationId xmlns:a16="http://schemas.microsoft.com/office/drawing/2014/main" id="{D7E79504-E186-405D-A966-F86AC98F7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192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Primary SOS uplink</a:t>
            </a:r>
          </a:p>
        </p:txBody>
      </p:sp>
      <p:sp>
        <p:nvSpPr>
          <p:cNvPr id="6" name="s1-phone">
            <a:extLst xmlns:a="http://schemas.openxmlformats.org/drawingml/2006/main">
              <a:ext uri="{FF2B5EF4-FFF2-40B4-BE49-F238E27FC236}">
                <a16:creationId xmlns:a16="http://schemas.microsoft.com/office/drawing/2014/main" id="{B64CBB40-2EF3-469C-92C3-A53D3ADA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Fisher phone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SQLite outbox
State: SAVED</a:t>
            </a:r>
          </a:p>
        </p:txBody>
      </p:sp>
      <p:sp>
        <p:nvSpPr>
          <p:cNvPr id="7" name="s1-pod">
            <a:extLst xmlns:a="http://schemas.openxmlformats.org/drawingml/2006/main">
              <a:ext uri="{FF2B5EF4-FFF2-40B4-BE49-F238E27FC236}">
                <a16:creationId xmlns:a16="http://schemas.microsoft.com/office/drawing/2014/main" id="{53B79A92-975D-405E-AC96-5ECFFF11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905000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Boat pod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Flash queue
State: RELAYED</a:t>
            </a:r>
          </a:p>
        </p:txBody>
      </p:sp>
      <p:sp>
        <p:nvSpPr>
          <p:cNvPr id="8" name="s1-gateway">
            <a:extLst xmlns:a="http://schemas.openxmlformats.org/drawingml/2006/main">
              <a:ext uri="{FF2B5EF4-FFF2-40B4-BE49-F238E27FC236}">
                <a16:creationId xmlns:a16="http://schemas.microsoft.com/office/drawing/2014/main" id="{98E87600-40B3-4F01-8D00-7BBFA879A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05000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Shore gateway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Signature verification
Internet bridge</a:t>
            </a:r>
          </a:p>
        </p:txBody>
      </p:sp>
      <p:sp>
        <p:nvSpPr>
          <p:cNvPr id="9" name="s1-backend">
            <a:extLst xmlns:a="http://schemas.openxmlformats.org/drawingml/2006/main">
              <a:ext uri="{FF2B5EF4-FFF2-40B4-BE49-F238E27FC236}">
                <a16:creationId xmlns:a16="http://schemas.microsoft.com/office/drawing/2014/main" id="{47A83BD3-2AF4-4B9B-97DF-E9FC7398B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905000"/>
            <a:ext cx="21431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5240">
            <a:solidFill>
              <a:srgbClr val="365D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FastAPI and PostgreSQL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Validate, deduplicate, persist
State: DELIVERED</a:t>
            </a:r>
          </a:p>
        </p:txBody>
      </p:sp>
      <p:sp>
        <p:nvSpPr>
          <p:cNvPr id="10" name="s1-dashboard">
            <a:extLst xmlns:a="http://schemas.openxmlformats.org/drawingml/2006/main">
              <a:ext uri="{FF2B5EF4-FFF2-40B4-BE49-F238E27FC236}">
                <a16:creationId xmlns:a16="http://schemas.microsoft.com/office/drawing/2014/main" id="{45CEA697-51B2-4093-BA05-11E6EAEC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1905000"/>
            <a:ext cx="1952625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MDRRMO dashboard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Displays SOS
Responder authority</a:t>
            </a:r>
          </a:p>
        </p:txBody>
      </p:sp>
      <p:cxnSp>
        <p:nvCxnSpPr>
          <p:cNvPr id="61" name="s1-uplink-1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2638425" y="2405063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2" name="s1-uplink-2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334000" y="2405063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63" name="s1-uplink-3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8524875" y="2405063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64" name="s1-uplink-4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11906250" y="2405063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5" name="s1-label-wifi">
            <a:extLst xmlns:a="http://schemas.openxmlformats.org/drawingml/2006/main">
              <a:ext uri="{FF2B5EF4-FFF2-40B4-BE49-F238E27FC236}">
                <a16:creationId xmlns:a16="http://schemas.microsoft.com/office/drawing/2014/main" id="{3BE8E771-99E6-48D3-A4F6-788A96EE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58115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24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LOCAL WIFI HTTP</a:t>
            </a:r>
          </a:p>
        </p:txBody>
      </p:sp>
      <p:sp>
        <p:nvSpPr>
          <p:cNvPr id="16" name="s1-label-lora">
            <a:extLst xmlns:a="http://schemas.openxmlformats.org/drawingml/2006/main">
              <a:ext uri="{FF2B5EF4-FFF2-40B4-BE49-F238E27FC236}">
                <a16:creationId xmlns:a16="http://schemas.microsoft.com/office/drawing/2014/main" id="{60506538-41F9-4F3E-A9DD-A820414D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581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DIRECT LoRa</a:t>
            </a:r>
          </a:p>
        </p:txBody>
      </p:sp>
      <p:sp>
        <p:nvSpPr>
          <p:cNvPr id="17" name="s1-label-https">
            <a:extLst xmlns:a="http://schemas.openxmlformats.org/drawingml/2006/main">
              <a:ext uri="{FF2B5EF4-FFF2-40B4-BE49-F238E27FC236}">
                <a16:creationId xmlns:a16="http://schemas.microsoft.com/office/drawing/2014/main" id="{0019C512-95E8-48F9-B3C3-5475CADAC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81150"/>
            <a:ext cx="1314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AUTHENTICATED HTTPS</a:t>
            </a:r>
          </a:p>
        </p:txBody>
      </p:sp>
      <p:sp>
        <p:nvSpPr>
          <p:cNvPr id="18" name="s1-label-poll">
            <a:extLst xmlns:a="http://schemas.openxmlformats.org/drawingml/2006/main">
              <a:ext uri="{FF2B5EF4-FFF2-40B4-BE49-F238E27FC236}">
                <a16:creationId xmlns:a16="http://schemas.microsoft.com/office/drawing/2014/main" id="{D5BD303A-E289-4ABD-AA3B-DEEDBA95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581150"/>
            <a:ext cx="838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REST POLLING</a:t>
            </a:r>
          </a:p>
        </p:txBody>
      </p:sp>
      <p:sp>
        <p:nvSpPr>
          <p:cNvPr id="19" name="relay-band">
            <a:extLst xmlns:a="http://schemas.openxmlformats.org/drawingml/2006/main">
              <a:ext uri="{FF2B5EF4-FFF2-40B4-BE49-F238E27FC236}">
                <a16:creationId xmlns:a16="http://schemas.microsoft.com/office/drawing/2014/main" id="{A5385C0A-065F-4E3B-83D8-71509F6A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43300"/>
            <a:ext cx="1443990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4FBFA"/>
          </a:solidFill>
          <a:ln xmlns:a="http://schemas.openxmlformats.org/drawingml/2006/main" w="11430">
            <a:solidFill>
              <a:srgbClr val="177A78"/>
            </a:solidFill>
            <a:prstDash val="solid"/>
          </a:ln>
        </p:spPr>
      </p:sp>
      <p:sp>
        <p:nvSpPr>
          <p:cNvPr id="20" name="relay-band-label">
            <a:extLst xmlns:a="http://schemas.openxmlformats.org/drawingml/2006/main">
              <a:ext uri="{FF2B5EF4-FFF2-40B4-BE49-F238E27FC236}">
                <a16:creationId xmlns:a16="http://schemas.microsoft.com/office/drawing/2014/main" id="{B98E3DFE-2A1A-46FF-A8AF-123C2200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19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7A78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77A78"/>
                </a:solidFill>
                <a:latin typeface="Arial"/>
                <a:ea typeface="Arial"/>
                <a:cs typeface="Arial"/>
              </a:rPr>
              <a:t>Optional relay route</a:t>
            </a:r>
          </a:p>
        </p:txBody>
      </p:sp>
      <p:sp>
        <p:nvSpPr>
          <p:cNvPr id="21" name="s1-relay-pod">
            <a:extLst xmlns:a="http://schemas.openxmlformats.org/drawingml/2006/main">
              <a:ext uri="{FF2B5EF4-FFF2-40B4-BE49-F238E27FC236}">
                <a16:creationId xmlns:a16="http://schemas.microsoft.com/office/drawing/2014/main" id="{159B54DE-BCAD-4B5B-98E8-947C2F9A9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43350"/>
            <a:ext cx="19526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Boat pod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Direct link unavailable</a:t>
            </a:r>
          </a:p>
        </p:txBody>
      </p:sp>
      <p:sp>
        <p:nvSpPr>
          <p:cNvPr id="22" name="s1-relay">
            <a:extLst xmlns:a="http://schemas.openxmlformats.org/drawingml/2006/main">
              <a:ext uri="{FF2B5EF4-FFF2-40B4-BE49-F238E27FC236}">
                <a16:creationId xmlns:a16="http://schemas.microsoft.com/office/drawing/2014/main" id="{96777E4A-6C72-47A9-B424-3D45F3EEF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43350"/>
            <a:ext cx="19526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Relay buoy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TTL and seen-set forwarding</a:t>
            </a:r>
          </a:p>
        </p:txBody>
      </p:sp>
      <p:sp>
        <p:nvSpPr>
          <p:cNvPr id="23" name="s1-relay-gateway">
            <a:extLst xmlns:a="http://schemas.openxmlformats.org/drawingml/2006/main">
              <a:ext uri="{FF2B5EF4-FFF2-40B4-BE49-F238E27FC236}">
                <a16:creationId xmlns:a16="http://schemas.microsoft.com/office/drawing/2014/main" id="{927C58FA-1C87-4650-8D36-8990B141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943350"/>
            <a:ext cx="2143125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Shore gateway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Receives relayed frame</a:t>
            </a:r>
          </a:p>
        </p:txBody>
      </p:sp>
      <p:cxnSp>
        <p:nvCxnSpPr>
          <p:cNvPr id="74" name="s1-relay-1"/>
          <p:cNvCxnSpPr>
            <a:stCxn xmlns:a="http://schemas.openxmlformats.org/drawingml/2006/main" id="21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5334000" y="42576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77A78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75" name="s1-relay-2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8524875" y="42576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77A78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26" name="s1-relay-caption-1">
            <a:extLst xmlns:a="http://schemas.openxmlformats.org/drawingml/2006/main">
              <a:ext uri="{FF2B5EF4-FFF2-40B4-BE49-F238E27FC236}">
                <a16:creationId xmlns:a16="http://schemas.microsoft.com/office/drawing/2014/main" id="{73EE0BE2-5420-4107-B2DF-411630728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676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7A78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77A78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27" name="s1-relay-caption-2">
            <a:extLst xmlns:a="http://schemas.openxmlformats.org/drawingml/2006/main">
              <a:ext uri="{FF2B5EF4-FFF2-40B4-BE49-F238E27FC236}">
                <a16:creationId xmlns:a16="http://schemas.microsoft.com/office/drawing/2014/main" id="{A12FFECD-8937-40B1-A761-7F558957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76650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77A78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177A78"/>
                </a:solidFill>
                <a:latin typeface="Arial"/>
                <a:ea typeface="Arial"/>
                <a:cs typeface="Arial"/>
              </a:rPr>
              <a:t>LoRa</a:t>
            </a:r>
          </a:p>
        </p:txBody>
      </p:sp>
      <p:sp>
        <p:nvSpPr>
          <p:cNvPr id="28" name="internet-band">
            <a:extLst xmlns:a="http://schemas.openxmlformats.org/drawingml/2006/main">
              <a:ext uri="{FF2B5EF4-FFF2-40B4-BE49-F238E27FC236}">
                <a16:creationId xmlns:a16="http://schemas.microsoft.com/office/drawing/2014/main" id="{88E721BE-2A05-4CE6-BD24-3E1EA391A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91100"/>
            <a:ext cx="1443990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9FF"/>
          </a:solidFill>
          <a:ln xmlns:a="http://schemas.openxmlformats.org/drawingml/2006/main" w="11430">
            <a:solidFill>
              <a:srgbClr val="365DB5"/>
            </a:solidFill>
            <a:prstDash val="solid"/>
          </a:ln>
        </p:spPr>
      </p:sp>
      <p:sp>
        <p:nvSpPr>
          <p:cNvPr id="29" name="internet-band-label">
            <a:extLst xmlns:a="http://schemas.openxmlformats.org/drawingml/2006/main">
              <a:ext uri="{FF2B5EF4-FFF2-40B4-BE49-F238E27FC236}">
                <a16:creationId xmlns:a16="http://schemas.microsoft.com/office/drawing/2014/main" id="{5632D739-3DCA-42D9-B04B-8E52D1C1F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67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65DB5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65DB5"/>
                </a:solidFill>
                <a:latin typeface="Arial"/>
                <a:ea typeface="Arial"/>
                <a:cs typeface="Arial"/>
              </a:rPr>
              <a:t>Direct internet route</a:t>
            </a:r>
          </a:p>
        </p:txBody>
      </p:sp>
      <p:sp>
        <p:nvSpPr>
          <p:cNvPr id="30" name="s1-internet-phone">
            <a:extLst xmlns:a="http://schemas.openxmlformats.org/drawingml/2006/main">
              <a:ext uri="{FF2B5EF4-FFF2-40B4-BE49-F238E27FC236}">
                <a16:creationId xmlns:a16="http://schemas.microsoft.com/office/drawing/2014/main" id="{F532C044-BF7A-43C7-914D-ACF7608B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24475"/>
            <a:ext cx="19526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5240">
            <a:solidFill>
              <a:srgbClr val="365DB5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Fisher phone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B6677"/>
                </a:solidFill>
                <a:latin typeface="Arial"/>
                <a:ea typeface="Arial"/>
                <a:cs typeface="Arial"/>
              </a:rPr>
              <a:t>Internet available</a:t>
            </a:r>
          </a:p>
        </p:txBody>
      </p:sp>
      <p:sp>
        <p:nvSpPr>
          <p:cNvPr id="31" name="s1-internet-backend">
            <a:extLst xmlns:a="http://schemas.openxmlformats.org/drawingml/2006/main">
              <a:ext uri="{FF2B5EF4-FFF2-40B4-BE49-F238E27FC236}">
                <a16:creationId xmlns:a16="http://schemas.microsoft.com/office/drawing/2014/main" id="{2CC5B58D-9BAD-46F8-9C21-D1974B082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5324475"/>
            <a:ext cx="2143125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5240">
            <a:solidFill>
              <a:srgbClr val="365DB5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FastAPI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B6677"/>
                </a:solidFill>
                <a:latin typeface="Arial"/>
                <a:ea typeface="Arial"/>
                <a:cs typeface="Arial"/>
              </a:rPr>
              <a:t>Direct SOS ingest</a:t>
            </a:r>
          </a:p>
        </p:txBody>
      </p:sp>
      <p:cxnSp>
        <p:nvCxnSpPr>
          <p:cNvPr id="82" name="s1-internet-route"/>
          <p:cNvCxnSpPr>
            <a:stCxn xmlns:a="http://schemas.openxmlformats.org/drawingml/2006/main" id="30" idx="3"/>
            <a:endCxn xmlns:a="http://schemas.openxmlformats.org/drawingml/2006/main" id="31" idx="1"/>
          </p:cNvCxnSpPr>
          <p:nvPr/>
        </p:nvCxnSpPr>
        <p:spPr>
          <a:xfrm xmlns:a="http://schemas.openxmlformats.org/drawingml/2006/main">
            <a:off x="2638425" y="5572125"/>
            <a:ext cx="71247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65DB5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3" name="s1-internet-label">
            <a:extLst xmlns:a="http://schemas.openxmlformats.org/drawingml/2006/main">
              <a:ext uri="{FF2B5EF4-FFF2-40B4-BE49-F238E27FC236}">
                <a16:creationId xmlns:a16="http://schemas.microsoft.com/office/drawing/2014/main" id="{D1BE8303-C207-43C1-BA00-6C9F73AF5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057775"/>
            <a:ext cx="2286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65DB5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65DB5"/>
                </a:solidFill>
                <a:latin typeface="Arial"/>
                <a:ea typeface="Arial"/>
                <a:cs typeface="Arial"/>
              </a:rPr>
              <a:t>HTTPS WHEN INTERNET IS AVAILABLE</a:t>
            </a:r>
          </a:p>
        </p:txBody>
      </p:sp>
      <p:sp>
        <p:nvSpPr>
          <p:cNvPr id="34" name="return-band">
            <a:extLst xmlns:a="http://schemas.openxmlformats.org/drawingml/2006/main">
              <a:ext uri="{FF2B5EF4-FFF2-40B4-BE49-F238E27FC236}">
                <a16:creationId xmlns:a16="http://schemas.microsoft.com/office/drawing/2014/main" id="{CBC5E6C6-6A7C-4F93-B280-E2C77B7E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210300"/>
            <a:ext cx="14439900" cy="1666875"/>
          </a:xfrm>
          <a:prstGeom xmlns:a="http://schemas.openxmlformats.org/drawingml/2006/main" prst="roundRect">
            <a:avLst>
              <a:gd name="adj" fmla="val 6857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11430">
            <a:solidFill>
              <a:srgbClr val="345DB3"/>
            </a:solidFill>
            <a:prstDash val="solid"/>
          </a:ln>
        </p:spPr>
      </p:sp>
      <p:sp>
        <p:nvSpPr>
          <p:cNvPr id="35" name="return-band-label">
            <a:extLst xmlns:a="http://schemas.openxmlformats.org/drawingml/2006/main">
              <a:ext uri="{FF2B5EF4-FFF2-40B4-BE49-F238E27FC236}">
                <a16:creationId xmlns:a16="http://schemas.microsoft.com/office/drawing/2014/main" id="{016D4D8D-C9FA-4AA3-B4A9-93990B31D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Responder return path</a:t>
            </a:r>
          </a:p>
        </p:txBody>
      </p:sp>
      <p:sp>
        <p:nvSpPr>
          <p:cNvPr id="36" name="s1-return-0">
            <a:extLst xmlns:a="http://schemas.openxmlformats.org/drawingml/2006/main">
              <a:ext uri="{FF2B5EF4-FFF2-40B4-BE49-F238E27FC236}">
                <a16:creationId xmlns:a16="http://schemas.microsoft.com/office/drawing/2014/main" id="{F379CF76-3534-47E7-92E1-7C9D12368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0" y="6743700"/>
            <a:ext cx="1952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345DB3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Dashboard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Acknowledge and ETA</a:t>
            </a:r>
          </a:p>
        </p:txBody>
      </p:sp>
      <p:sp>
        <p:nvSpPr>
          <p:cNvPr id="37" name="s1-return-1">
            <a:extLst xmlns:a="http://schemas.openxmlformats.org/drawingml/2006/main">
              <a:ext uri="{FF2B5EF4-FFF2-40B4-BE49-F238E27FC236}">
                <a16:creationId xmlns:a16="http://schemas.microsoft.com/office/drawing/2014/main" id="{C1AF3854-46A6-4332-B623-4E660709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6743700"/>
            <a:ext cx="21431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345DB3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Backend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Persist response</a:t>
            </a:r>
          </a:p>
        </p:txBody>
      </p:sp>
      <p:sp>
        <p:nvSpPr>
          <p:cNvPr id="38" name="s1-return-2">
            <a:extLst xmlns:a="http://schemas.openxmlformats.org/drawingml/2006/main">
              <a:ext uri="{FF2B5EF4-FFF2-40B4-BE49-F238E27FC236}">
                <a16:creationId xmlns:a16="http://schemas.microsoft.com/office/drawing/2014/main" id="{24AED9C4-39AE-41E6-9386-21114E84C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743700"/>
            <a:ext cx="1952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345DB3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Gateway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Queue downlink</a:t>
            </a:r>
          </a:p>
        </p:txBody>
      </p:sp>
      <p:sp>
        <p:nvSpPr>
          <p:cNvPr id="39" name="s1-return-3">
            <a:extLst xmlns:a="http://schemas.openxmlformats.org/drawingml/2006/main">
              <a:ext uri="{FF2B5EF4-FFF2-40B4-BE49-F238E27FC236}">
                <a16:creationId xmlns:a16="http://schemas.microsoft.com/office/drawing/2014/main" id="{B592788B-F33B-4D32-B82D-EEA21413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743700"/>
            <a:ext cx="1952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345DB3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Boat pod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Cache for phone</a:t>
            </a:r>
          </a:p>
        </p:txBody>
      </p:sp>
      <p:sp>
        <p:nvSpPr>
          <p:cNvPr id="40" name="s1-return-4">
            <a:extLst xmlns:a="http://schemas.openxmlformats.org/drawingml/2006/main">
              <a:ext uri="{FF2B5EF4-FFF2-40B4-BE49-F238E27FC236}">
                <a16:creationId xmlns:a16="http://schemas.microsoft.com/office/drawing/2014/main" id="{FD0A7469-17B9-4C6E-9AA5-68667D756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743700"/>
            <a:ext cx="1952625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345DB3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Fisher phone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800">
                <a:solidFill>
                  <a:srgbClr val="5B6677"/>
                </a:solidFill>
                <a:latin typeface="Arial"/>
                <a:ea typeface="Arial"/>
                <a:cs typeface="Arial"/>
              </a:rPr>
              <a:t>State: ACKNOWLEDGED</a:t>
            </a:r>
          </a:p>
        </p:txBody>
      </p:sp>
      <p:cxnSp>
        <p:nvCxnSpPr>
          <p:cNvPr id="91" name="s1-return-link-0"/>
          <p:cNvCxnSpPr>
            <a:stCxn xmlns:a="http://schemas.openxmlformats.org/drawingml/2006/main" id="36" idx="1"/>
            <a:endCxn xmlns:a="http://schemas.openxmlformats.org/drawingml/2006/main" id="37" idx="3"/>
          </p:cNvCxnSpPr>
          <p:nvPr/>
        </p:nvCxnSpPr>
        <p:spPr>
          <a:xfrm xmlns:a="http://schemas.openxmlformats.org/drawingml/2006/main" flipH="1">
            <a:off x="11906250" y="70770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2" name="s1-return-link-1"/>
          <p:cNvCxnSpPr>
            <a:stCxn xmlns:a="http://schemas.openxmlformats.org/drawingml/2006/main" id="37" idx="1"/>
            <a:endCxn xmlns:a="http://schemas.openxmlformats.org/drawingml/2006/main" id="38" idx="3"/>
          </p:cNvCxnSpPr>
          <p:nvPr/>
        </p:nvCxnSpPr>
        <p:spPr>
          <a:xfrm xmlns:a="http://schemas.openxmlformats.org/drawingml/2006/main" flipH="1">
            <a:off x="8524875" y="7077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93" name="s1-return-link-2"/>
          <p:cNvCxnSpPr>
            <a:stCxn xmlns:a="http://schemas.openxmlformats.org/drawingml/2006/main" id="38" idx="1"/>
            <a:endCxn xmlns:a="http://schemas.openxmlformats.org/drawingml/2006/main" id="39" idx="3"/>
          </p:cNvCxnSpPr>
          <p:nvPr/>
        </p:nvCxnSpPr>
        <p:spPr>
          <a:xfrm xmlns:a="http://schemas.openxmlformats.org/drawingml/2006/main" flipH="1">
            <a:off x="5334000" y="7077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94" name="s1-return-link-3"/>
          <p:cNvCxnSpPr>
            <a:stCxn xmlns:a="http://schemas.openxmlformats.org/drawingml/2006/main" id="39" idx="1"/>
            <a:endCxn xmlns:a="http://schemas.openxmlformats.org/drawingml/2006/main" id="40" idx="3"/>
          </p:cNvCxnSpPr>
          <p:nvPr/>
        </p:nvCxnSpPr>
        <p:spPr>
          <a:xfrm xmlns:a="http://schemas.openxmlformats.org/drawingml/2006/main" flipH="1">
            <a:off x="2638425" y="7077075"/>
            <a:ext cx="7429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45" name="s1-return-1">
            <a:extLst xmlns:a="http://schemas.openxmlformats.org/drawingml/2006/main">
              <a:ext uri="{FF2B5EF4-FFF2-40B4-BE49-F238E27FC236}">
                <a16:creationId xmlns:a16="http://schemas.microsoft.com/office/drawing/2014/main" id="{5D9DC294-A952-4718-BBA7-6CDF3539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64198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46" name="s1-return-2">
            <a:extLst xmlns:a="http://schemas.openxmlformats.org/drawingml/2006/main">
              <a:ext uri="{FF2B5EF4-FFF2-40B4-BE49-F238E27FC236}">
                <a16:creationId xmlns:a16="http://schemas.microsoft.com/office/drawing/2014/main" id="{5CABE07F-3FC7-4A33-A767-B915B071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641985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BACKHAUL</a:t>
            </a:r>
          </a:p>
        </p:txBody>
      </p:sp>
      <p:sp>
        <p:nvSpPr>
          <p:cNvPr id="47" name="s1-return-3">
            <a:extLst xmlns:a="http://schemas.openxmlformats.org/drawingml/2006/main">
              <a:ext uri="{FF2B5EF4-FFF2-40B4-BE49-F238E27FC236}">
                <a16:creationId xmlns:a16="http://schemas.microsoft.com/office/drawing/2014/main" id="{ED10BA70-B76A-44B6-A72E-FB648ABE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64198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LoRa DOWNLINK</a:t>
            </a:r>
          </a:p>
        </p:txBody>
      </p:sp>
      <p:sp>
        <p:nvSpPr>
          <p:cNvPr id="48" name="s1-return-4">
            <a:extLst xmlns:a="http://schemas.openxmlformats.org/drawingml/2006/main">
              <a:ext uri="{FF2B5EF4-FFF2-40B4-BE49-F238E27FC236}">
                <a16:creationId xmlns:a16="http://schemas.microsoft.com/office/drawing/2014/main" id="{BA4D2F5E-2151-4469-B9E2-60446A60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6419850"/>
            <a:ext cx="78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542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LOCAL STATUS</a:t>
            </a:r>
          </a:p>
        </p:txBody>
      </p:sp>
      <p:sp>
        <p:nvSpPr>
          <p:cNvPr id="49" name="footer-left-1">
            <a:extLst xmlns:a="http://schemas.openxmlformats.org/drawingml/2006/main">
              <a:ext uri="{FF2B5EF4-FFF2-40B4-BE49-F238E27FC236}">
                <a16:creationId xmlns:a16="http://schemas.microsoft.com/office/drawing/2014/main" id="{73F0B855-5F98-4CDF-B16E-36305F13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153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All shapes and connectors are editable PowerPoint objects</a:t>
            </a:r>
          </a:p>
        </p:txBody>
      </p:sp>
      <p:sp>
        <p:nvSpPr>
          <p:cNvPr id="50" name="footer-right-1">
            <a:extLst xmlns:a="http://schemas.openxmlformats.org/drawingml/2006/main">
              <a:ext uri="{FF2B5EF4-FFF2-40B4-BE49-F238E27FC236}">
                <a16:creationId xmlns:a16="http://schemas.microsoft.com/office/drawing/2014/main" id="{C919CCBE-A34D-4613-847C-065387F9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115300"/>
            <a:ext cx="733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Solid line: software path   Dashed line: optional or hardware path awaiting field verification</a:t>
            </a:r>
          </a:p>
        </p:txBody>
      </p:sp>
    </p:spTree>
    <p:extLst>
      <p:ext uri="{BB962C8B-B14F-4D97-AF65-F5344CB8AC3E}">
        <p14:creationId xmlns:p14="http://schemas.microsoft.com/office/powerpoint/2010/main" val="109521616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title-2">
            <a:extLst xmlns:a="http://schemas.openxmlformats.org/drawingml/2006/main">
              <a:ext uri="{FF2B5EF4-FFF2-40B4-BE49-F238E27FC236}">
                <a16:creationId xmlns:a16="http://schemas.microsoft.com/office/drawing/2014/main" id="{FD608F56-845C-4A88-B5C7-1A4832B4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SOS Delivery and Acknowledgement</a:t>
            </a:r>
          </a:p>
        </p:txBody>
      </p:sp>
      <p:sp>
        <p:nvSpPr>
          <p:cNvPr id="2" name="subtitle-2">
            <a:extLst xmlns:a="http://schemas.openxmlformats.org/drawingml/2006/main">
              <a:ext uri="{FF2B5EF4-FFF2-40B4-BE49-F238E27FC236}">
                <a16:creationId xmlns:a16="http://schemas.microsoft.com/office/drawing/2014/main" id="{411CBD6B-C972-46B8-80A7-911FC62A1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Numbered sequence with separate uplink and return tracks</a:t>
            </a:r>
          </a:p>
        </p:txBody>
      </p:sp>
      <p:sp>
        <p:nvSpPr>
          <p:cNvPr id="3" name="page-marker-2">
            <a:extLst xmlns:a="http://schemas.openxmlformats.org/drawingml/2006/main">
              <a:ext uri="{FF2B5EF4-FFF2-40B4-BE49-F238E27FC236}">
                <a16:creationId xmlns:a16="http://schemas.microsoft.com/office/drawing/2014/main" id="{A5F672A5-D5E9-47DD-B5EA-4296426C7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285750"/>
            <a:ext cx="13525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11430">
            <a:solidFill>
              <a:srgbClr val="D4B23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2 OF 3</a:t>
            </a:r>
          </a:p>
        </p:txBody>
      </p:sp>
      <p:sp>
        <p:nvSpPr>
          <p:cNvPr id="4" name="s2-uplink-band">
            <a:extLst xmlns:a="http://schemas.openxmlformats.org/drawingml/2006/main">
              <a:ext uri="{FF2B5EF4-FFF2-40B4-BE49-F238E27FC236}">
                <a16:creationId xmlns:a16="http://schemas.microsoft.com/office/drawing/2014/main" id="{9CAF201B-65B3-444D-A49D-293894860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90625"/>
            <a:ext cx="1443990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FF8F8"/>
          </a:solidFill>
          <a:ln xmlns:a="http://schemas.openxmlformats.org/drawingml/2006/main" w="11430">
            <a:solidFill>
              <a:srgbClr val="C73F4D"/>
            </a:solidFill>
            <a:prstDash val="solid"/>
          </a:ln>
        </p:spPr>
      </p:sp>
      <p:sp>
        <p:nvSpPr>
          <p:cNvPr id="5" name="s2-uplink-band-label">
            <a:extLst xmlns:a="http://schemas.openxmlformats.org/drawingml/2006/main">
              <a:ext uri="{FF2B5EF4-FFF2-40B4-BE49-F238E27FC236}">
                <a16:creationId xmlns:a16="http://schemas.microsoft.com/office/drawing/2014/main" id="{CC671329-8542-45E4-A1DD-45F6F30CB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668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Uplink to responders</a:t>
            </a:r>
          </a:p>
        </p:txBody>
      </p:sp>
      <p:sp>
        <p:nvSpPr>
          <p:cNvPr id="6" name="s2-top-0">
            <a:extLst xmlns:a="http://schemas.openxmlformats.org/drawingml/2006/main">
              <a:ext uri="{FF2B5EF4-FFF2-40B4-BE49-F238E27FC236}">
                <a16:creationId xmlns:a16="http://schemas.microsoft.com/office/drawing/2014/main" id="{91FF670E-951A-488D-BE53-521CA139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47875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Phone saves SOS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Write to SQLite before network attempt</a:t>
            </a:r>
          </a:p>
        </p:txBody>
      </p:sp>
      <p:sp>
        <p:nvSpPr>
          <p:cNvPr id="7" name="step-1">
            <a:extLst xmlns:a="http://schemas.openxmlformats.org/drawingml/2006/main">
              <a:ext uri="{FF2B5EF4-FFF2-40B4-BE49-F238E27FC236}">
                <a16:creationId xmlns:a16="http://schemas.microsoft.com/office/drawing/2014/main" id="{56B6D42B-10D2-4F8C-9F25-36C00475E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33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F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8" name="s2-top-1">
            <a:extLst xmlns:a="http://schemas.openxmlformats.org/drawingml/2006/main">
              <a:ext uri="{FF2B5EF4-FFF2-40B4-BE49-F238E27FC236}">
                <a16:creationId xmlns:a16="http://schemas.microsoft.com/office/drawing/2014/main" id="{2086C5BB-C307-443D-AF75-9536EDC8B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47875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Pod queues SOS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Accept before phone acknowledgement</a:t>
            </a:r>
          </a:p>
        </p:txBody>
      </p:sp>
      <p:sp>
        <p:nvSpPr>
          <p:cNvPr id="9" name="step-2">
            <a:extLst xmlns:a="http://schemas.openxmlformats.org/drawingml/2006/main">
              <a:ext uri="{FF2B5EF4-FFF2-40B4-BE49-F238E27FC236}">
                <a16:creationId xmlns:a16="http://schemas.microsoft.com/office/drawing/2014/main" id="{AC4D30A4-DA3B-4AF3-AB26-DD1E2388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33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F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0" name="s2-top-2">
            <a:extLst xmlns:a="http://schemas.openxmlformats.org/drawingml/2006/main">
              <a:ext uri="{FF2B5EF4-FFF2-40B4-BE49-F238E27FC236}">
                <a16:creationId xmlns:a16="http://schemas.microsoft.com/office/drawing/2014/main" id="{ADD3C3C2-C43A-472D-8075-5889796F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47875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Gateway verifies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Verify signature and device identity</a:t>
            </a:r>
          </a:p>
        </p:txBody>
      </p:sp>
      <p:sp>
        <p:nvSpPr>
          <p:cNvPr id="11" name="step-3">
            <a:extLst xmlns:a="http://schemas.openxmlformats.org/drawingml/2006/main">
              <a:ext uri="{FF2B5EF4-FFF2-40B4-BE49-F238E27FC236}">
                <a16:creationId xmlns:a16="http://schemas.microsoft.com/office/drawing/2014/main" id="{3245FFFB-7DB4-4797-AD70-5E89239D2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F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2" name="s2-top-3">
            <a:extLst xmlns:a="http://schemas.openxmlformats.org/drawingml/2006/main">
              <a:ext uri="{FF2B5EF4-FFF2-40B4-BE49-F238E27FC236}">
                <a16:creationId xmlns:a16="http://schemas.microsoft.com/office/drawing/2014/main" id="{DEDA0D24-48E7-46BF-B30A-518D6A0D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47875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5240">
            <a:solidFill>
              <a:srgbClr val="365D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Backend commits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Deduplicate and persist the incident</a:t>
            </a:r>
          </a:p>
        </p:txBody>
      </p:sp>
      <p:sp>
        <p:nvSpPr>
          <p:cNvPr id="13" name="step-4">
            <a:extLst xmlns:a="http://schemas.openxmlformats.org/drawingml/2006/main">
              <a:ext uri="{FF2B5EF4-FFF2-40B4-BE49-F238E27FC236}">
                <a16:creationId xmlns:a16="http://schemas.microsoft.com/office/drawing/2014/main" id="{CAB974B9-749D-4616-A477-0D71EECEE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933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F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2-top-4">
            <a:extLst xmlns:a="http://schemas.openxmlformats.org/drawingml/2006/main">
              <a:ext uri="{FF2B5EF4-FFF2-40B4-BE49-F238E27FC236}">
                <a16:creationId xmlns:a16="http://schemas.microsoft.com/office/drawing/2014/main" id="{D9970889-E598-4286-9F4C-CC68C7712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2047875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Dashboard displays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Protected polling refreshes the feed</a:t>
            </a:r>
          </a:p>
        </p:txBody>
      </p:sp>
      <p:sp>
        <p:nvSpPr>
          <p:cNvPr id="15" name="step-5">
            <a:extLst xmlns:a="http://schemas.openxmlformats.org/drawingml/2006/main">
              <a:ext uri="{FF2B5EF4-FFF2-40B4-BE49-F238E27FC236}">
                <a16:creationId xmlns:a16="http://schemas.microsoft.com/office/drawing/2014/main" id="{6E6D5AE5-B9DF-47AD-B299-7299F3C7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19335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3F4D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cxnSp>
        <p:nvCxnSpPr>
          <p:cNvPr id="67" name="s2-top-link-0"/>
          <p:cNvCxnSpPr>
            <a:stCxn xmlns:a="http://schemas.openxmlformats.org/drawingml/2006/main" id="6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857500" y="2581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17" name="s2-top-label-0">
            <a:extLst xmlns:a="http://schemas.openxmlformats.org/drawingml/2006/main">
              <a:ext uri="{FF2B5EF4-FFF2-40B4-BE49-F238E27FC236}">
                <a16:creationId xmlns:a16="http://schemas.microsoft.com/office/drawing/2014/main" id="{348768B0-ACB5-4BB2-B15D-5D8739405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6478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24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LOCAL WIFI HTTP</a:t>
            </a:r>
          </a:p>
        </p:txBody>
      </p:sp>
      <p:cxnSp>
        <p:nvCxnSpPr>
          <p:cNvPr id="69" name="s2-top-link-1"/>
          <p:cNvCxnSpPr>
            <a:stCxn xmlns:a="http://schemas.openxmlformats.org/drawingml/2006/main" id="8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715000" y="2581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19" name="s2-top-label-1">
            <a:extLst xmlns:a="http://schemas.openxmlformats.org/drawingml/2006/main">
              <a:ext uri="{FF2B5EF4-FFF2-40B4-BE49-F238E27FC236}">
                <a16:creationId xmlns:a16="http://schemas.microsoft.com/office/drawing/2014/main" id="{EC18D323-3E56-4083-AD08-537376A99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6478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24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SIGNED LoAM FRAME</a:t>
            </a:r>
          </a:p>
        </p:txBody>
      </p:sp>
      <p:cxnSp>
        <p:nvCxnSpPr>
          <p:cNvPr id="71" name="s2-top-link-2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572500" y="2581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1" name="s2-top-label-2">
            <a:extLst xmlns:a="http://schemas.openxmlformats.org/drawingml/2006/main">
              <a:ext uri="{FF2B5EF4-FFF2-40B4-BE49-F238E27FC236}">
                <a16:creationId xmlns:a16="http://schemas.microsoft.com/office/drawing/2014/main" id="{6489BD15-0109-4491-943A-1B6EF6F4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6478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24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AUTHENTICATED HTTPS</a:t>
            </a:r>
          </a:p>
        </p:txBody>
      </p:sp>
      <p:cxnSp>
        <p:nvCxnSpPr>
          <p:cNvPr id="73" name="s2-top-link-3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1430000" y="2581275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3" name="s2-top-label-3">
            <a:extLst xmlns:a="http://schemas.openxmlformats.org/drawingml/2006/main">
              <a:ext uri="{FF2B5EF4-FFF2-40B4-BE49-F238E27FC236}">
                <a16:creationId xmlns:a16="http://schemas.microsoft.com/office/drawing/2014/main" id="{B1BD6951-F40F-4C19-A40F-236BD7789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2375" y="1647825"/>
            <a:ext cx="762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94849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REST POLLING</a:t>
            </a:r>
          </a:p>
        </p:txBody>
      </p:sp>
      <p:sp>
        <p:nvSpPr>
          <p:cNvPr id="24" name="s2-state-saved">
            <a:extLst xmlns:a="http://schemas.openxmlformats.org/drawingml/2006/main">
              <a:ext uri="{FF2B5EF4-FFF2-40B4-BE49-F238E27FC236}">
                <a16:creationId xmlns:a16="http://schemas.microsoft.com/office/drawing/2014/main" id="{3D7A62D1-EF87-4FE2-9EA4-8A44E290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337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1430">
            <a:solidFill>
              <a:srgbClr val="C73F4D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SAVED</a:t>
            </a:r>
          </a:p>
        </p:txBody>
      </p:sp>
      <p:sp>
        <p:nvSpPr>
          <p:cNvPr id="25" name="s2-state-relayed">
            <a:extLst xmlns:a="http://schemas.openxmlformats.org/drawingml/2006/main">
              <a:ext uri="{FF2B5EF4-FFF2-40B4-BE49-F238E27FC236}">
                <a16:creationId xmlns:a16="http://schemas.microsoft.com/office/drawing/2014/main" id="{D4C6AAD0-39C2-42B3-9A17-E27E216D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3337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1430">
            <a:solidFill>
              <a:srgbClr val="177A78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RELAYED</a:t>
            </a:r>
          </a:p>
        </p:txBody>
      </p:sp>
      <p:sp>
        <p:nvSpPr>
          <p:cNvPr id="26" name="s2-state-delivered">
            <a:extLst xmlns:a="http://schemas.openxmlformats.org/drawingml/2006/main">
              <a:ext uri="{FF2B5EF4-FFF2-40B4-BE49-F238E27FC236}">
                <a16:creationId xmlns:a16="http://schemas.microsoft.com/office/drawing/2014/main" id="{E860B64C-E21D-4709-A882-68A82C9EC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33375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1430">
            <a:solidFill>
              <a:srgbClr val="365DB5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DELIVERED</a:t>
            </a:r>
          </a:p>
        </p:txBody>
      </p:sp>
      <p:sp>
        <p:nvSpPr>
          <p:cNvPr id="27" name="s2-return-band">
            <a:extLst xmlns:a="http://schemas.openxmlformats.org/drawingml/2006/main">
              <a:ext uri="{FF2B5EF4-FFF2-40B4-BE49-F238E27FC236}">
                <a16:creationId xmlns:a16="http://schemas.microsoft.com/office/drawing/2014/main" id="{AAC8BABC-3E0B-4468-8CC0-8C392476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14439900" cy="3095625"/>
          </a:xfrm>
          <a:prstGeom xmlns:a="http://schemas.openxmlformats.org/drawingml/2006/main" prst="roundRect">
            <a:avLst>
              <a:gd name="adj" fmla="val 3692"/>
            </a:avLst>
          </a:prstGeom>
          <a:solidFill xmlns:a="http://schemas.openxmlformats.org/drawingml/2006/main">
            <a:srgbClr val="F5F8FF"/>
          </a:solidFill>
          <a:ln xmlns:a="http://schemas.openxmlformats.org/drawingml/2006/main" w="11430">
            <a:solidFill>
              <a:srgbClr val="345DB3"/>
            </a:solidFill>
            <a:prstDash val="solid"/>
          </a:ln>
        </p:spPr>
      </p:sp>
      <p:sp>
        <p:nvSpPr>
          <p:cNvPr id="28" name="s2-return-band-label">
            <a:extLst xmlns:a="http://schemas.openxmlformats.org/drawingml/2006/main">
              <a:ext uri="{FF2B5EF4-FFF2-40B4-BE49-F238E27FC236}">
                <a16:creationId xmlns:a16="http://schemas.microsoft.com/office/drawing/2014/main" id="{AF30F36B-B3FD-45EF-AB49-237EB2EB8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33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Responder action and return</a:t>
            </a:r>
          </a:p>
        </p:txBody>
      </p:sp>
      <p:sp>
        <p:nvSpPr>
          <p:cNvPr id="29" name="s2-bottom-0">
            <a:extLst xmlns:a="http://schemas.openxmlformats.org/drawingml/2006/main">
              <a:ext uri="{FF2B5EF4-FFF2-40B4-BE49-F238E27FC236}">
                <a16:creationId xmlns:a16="http://schemas.microsoft.com/office/drawing/2014/main" id="{2A00136A-8100-4118-9BAF-175E3596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4102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FE8C5"/>
          </a:solidFill>
          <a:ln xmlns:a="http://schemas.openxmlformats.org/drawingml/2006/main" w="15240">
            <a:solidFill>
              <a:srgbClr val="C5872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Responder acknowledges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ETA, note and responder status</a:t>
            </a:r>
          </a:p>
        </p:txBody>
      </p:sp>
      <p:sp>
        <p:nvSpPr>
          <p:cNvPr id="30" name="step-6">
            <a:extLst xmlns:a="http://schemas.openxmlformats.org/drawingml/2006/main">
              <a:ext uri="{FF2B5EF4-FFF2-40B4-BE49-F238E27FC236}">
                <a16:creationId xmlns:a16="http://schemas.microsoft.com/office/drawing/2014/main" id="{9819B127-8746-45FA-9CDB-592F9527B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5295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DB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31" name="s2-bottom-1">
            <a:extLst xmlns:a="http://schemas.openxmlformats.org/drawingml/2006/main">
              <a:ext uri="{FF2B5EF4-FFF2-40B4-BE49-F238E27FC236}">
                <a16:creationId xmlns:a16="http://schemas.microsoft.com/office/drawing/2014/main" id="{6D139AC8-1D3D-454C-9CC2-12D643C4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4102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DE7FF"/>
          </a:solidFill>
          <a:ln xmlns:a="http://schemas.openxmlformats.org/drawingml/2006/main" w="15240">
            <a:solidFill>
              <a:srgbClr val="365DB5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Backend stores response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Acknowledgement becomes authoritative</a:t>
            </a:r>
          </a:p>
        </p:txBody>
      </p:sp>
      <p:sp>
        <p:nvSpPr>
          <p:cNvPr id="32" name="step-7">
            <a:extLst xmlns:a="http://schemas.openxmlformats.org/drawingml/2006/main">
              <a:ext uri="{FF2B5EF4-FFF2-40B4-BE49-F238E27FC236}">
                <a16:creationId xmlns:a16="http://schemas.microsoft.com/office/drawing/2014/main" id="{A7C273B1-569F-4BE0-80E7-308407EC4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95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DB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33" name="s2-bottom-2">
            <a:extLst xmlns:a="http://schemas.openxmlformats.org/drawingml/2006/main">
              <a:ext uri="{FF2B5EF4-FFF2-40B4-BE49-F238E27FC236}">
                <a16:creationId xmlns:a16="http://schemas.microsoft.com/office/drawing/2014/main" id="{665F61B8-9A3F-4AAB-B524-09CB40789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4102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Gateway sends downlink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Queue response when a radio path exists</a:t>
            </a:r>
          </a:p>
        </p:txBody>
      </p:sp>
      <p:sp>
        <p:nvSpPr>
          <p:cNvPr id="34" name="step-8">
            <a:extLst xmlns:a="http://schemas.openxmlformats.org/drawingml/2006/main">
              <a:ext uri="{FF2B5EF4-FFF2-40B4-BE49-F238E27FC236}">
                <a16:creationId xmlns:a16="http://schemas.microsoft.com/office/drawing/2014/main" id="{2885CB70-E34E-4694-8801-6C84DC4CB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295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DB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5" name="s2-bottom-3">
            <a:extLst xmlns:a="http://schemas.openxmlformats.org/drawingml/2006/main">
              <a:ext uri="{FF2B5EF4-FFF2-40B4-BE49-F238E27FC236}">
                <a16:creationId xmlns:a16="http://schemas.microsoft.com/office/drawing/2014/main" id="{576B6A63-BB19-4EAD-8250-787567C24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4102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9F1F0"/>
          </a:solidFill>
          <a:ln xmlns:a="http://schemas.openxmlformats.org/drawingml/2006/main" w="15240">
            <a:solidFill>
              <a:srgbClr val="177A7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Pod exposes status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Phone reads cached acknowledgement</a:t>
            </a:r>
          </a:p>
        </p:txBody>
      </p:sp>
      <p:sp>
        <p:nvSpPr>
          <p:cNvPr id="36" name="step-9">
            <a:extLst xmlns:a="http://schemas.openxmlformats.org/drawingml/2006/main">
              <a:ext uri="{FF2B5EF4-FFF2-40B4-BE49-F238E27FC236}">
                <a16:creationId xmlns:a16="http://schemas.microsoft.com/office/drawing/2014/main" id="{8552972F-BA88-480D-9A3B-B82A1352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295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DB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7" name="s2-bottom-4">
            <a:extLst xmlns:a="http://schemas.openxmlformats.org/drawingml/2006/main">
              <a:ext uri="{FF2B5EF4-FFF2-40B4-BE49-F238E27FC236}">
                <a16:creationId xmlns:a16="http://schemas.microsoft.com/office/drawing/2014/main" id="{8350FFFF-BDF6-47E6-899E-D2F1070B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10200"/>
            <a:ext cx="219075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Phone reconciles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950">
                <a:solidFill>
                  <a:srgbClr val="5B6677"/>
                </a:solidFill>
                <a:latin typeface="Arial"/>
                <a:ea typeface="Arial"/>
                <a:cs typeface="Arial"/>
              </a:rPr>
              <a:t>Show ACKNOWLEDGED only after evidence</a:t>
            </a:r>
          </a:p>
        </p:txBody>
      </p:sp>
      <p:sp>
        <p:nvSpPr>
          <p:cNvPr id="38" name="step-10">
            <a:extLst xmlns:a="http://schemas.openxmlformats.org/drawingml/2006/main">
              <a:ext uri="{FF2B5EF4-FFF2-40B4-BE49-F238E27FC236}">
                <a16:creationId xmlns:a16="http://schemas.microsoft.com/office/drawing/2014/main" id="{04CA17A5-F34E-4089-B949-D92788112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295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5DB3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cxnSp>
        <p:nvCxnSpPr>
          <p:cNvPr id="90" name="s2-transition"/>
          <p:cNvCxnSpPr>
            <a:stCxn xmlns:a="http://schemas.openxmlformats.org/drawingml/2006/main" id="14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13192125" y="3114675"/>
            <a:ext cx="0" cy="2295525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1" name="s2-bottom-link-0"/>
          <p:cNvCxnSpPr>
            <a:stCxn xmlns:a="http://schemas.openxmlformats.org/drawingml/2006/main" id="29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11430000" y="59436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2" name="s2-bottom-link-1"/>
          <p:cNvCxnSpPr>
            <a:stCxn xmlns:a="http://schemas.openxmlformats.org/drawingml/2006/main" id="31" idx="1"/>
            <a:endCxn xmlns:a="http://schemas.openxmlformats.org/drawingml/2006/main" id="33" idx="3"/>
          </p:cNvCxnSpPr>
          <p:nvPr/>
        </p:nvCxnSpPr>
        <p:spPr>
          <a:xfrm xmlns:a="http://schemas.openxmlformats.org/drawingml/2006/main" flipH="1">
            <a:off x="8572500" y="59436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93" name="s2-bottom-link-2"/>
          <p:cNvCxnSpPr>
            <a:stCxn xmlns:a="http://schemas.openxmlformats.org/drawingml/2006/main" id="33" idx="1"/>
            <a:endCxn xmlns:a="http://schemas.openxmlformats.org/drawingml/2006/main" id="35" idx="3"/>
          </p:cNvCxnSpPr>
          <p:nvPr/>
        </p:nvCxnSpPr>
        <p:spPr>
          <a:xfrm xmlns:a="http://schemas.openxmlformats.org/drawingml/2006/main" flipH="1">
            <a:off x="5715000" y="59436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dash"/>
            <a:headEnd type="none" w="med" len="med"/>
            <a:tailEnd type="triangle" w="sm" len="sm"/>
          </a:ln>
        </p:spPr>
      </p:cxnSp>
      <p:cxnSp>
        <p:nvCxnSpPr>
          <p:cNvPr id="94" name="s2-bottom-link-3"/>
          <p:cNvCxnSpPr>
            <a:stCxn xmlns:a="http://schemas.openxmlformats.org/drawingml/2006/main" id="35" idx="1"/>
            <a:endCxn xmlns:a="http://schemas.openxmlformats.org/drawingml/2006/main" id="37" idx="3"/>
          </p:cNvCxnSpPr>
          <p:nvPr/>
        </p:nvCxnSpPr>
        <p:spPr>
          <a:xfrm xmlns:a="http://schemas.openxmlformats.org/drawingml/2006/main" flipH="1">
            <a:off x="2857500" y="5943600"/>
            <a:ext cx="66675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345DB3"/>
            </a:solidFill>
            <a:prstDash val="dash"/>
            <a:headEnd type="none" w="med" len="med"/>
            <a:tailEnd type="triangle" w="sm" len="sm"/>
          </a:ln>
        </p:spPr>
      </p:cxnSp>
      <p:sp>
        <p:nvSpPr>
          <p:cNvPr id="44" name="s2-return-label-0">
            <a:extLst xmlns:a="http://schemas.openxmlformats.org/drawingml/2006/main">
              <a:ext uri="{FF2B5EF4-FFF2-40B4-BE49-F238E27FC236}">
                <a16:creationId xmlns:a16="http://schemas.microsoft.com/office/drawing/2014/main" id="{D48BB11A-1273-49A8-A01D-1BD47CC8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900" y="50101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PERSIST</a:t>
            </a:r>
          </a:p>
        </p:txBody>
      </p:sp>
      <p:sp>
        <p:nvSpPr>
          <p:cNvPr id="45" name="s2-return-label-1">
            <a:extLst xmlns:a="http://schemas.openxmlformats.org/drawingml/2006/main">
              <a:ext uri="{FF2B5EF4-FFF2-40B4-BE49-F238E27FC236}">
                <a16:creationId xmlns:a16="http://schemas.microsoft.com/office/drawing/2014/main" id="{6E44446C-DE6E-49B3-9086-28AB00590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50101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BACKHAUL</a:t>
            </a:r>
          </a:p>
        </p:txBody>
      </p:sp>
      <p:sp>
        <p:nvSpPr>
          <p:cNvPr id="46" name="s2-return-label-2">
            <a:extLst xmlns:a="http://schemas.openxmlformats.org/drawingml/2006/main">
              <a:ext uri="{FF2B5EF4-FFF2-40B4-BE49-F238E27FC236}">
                <a16:creationId xmlns:a16="http://schemas.microsoft.com/office/drawing/2014/main" id="{76ABA675-364B-4087-AF53-2307E5E0C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0101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24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LoRa DOWNLINK</a:t>
            </a:r>
          </a:p>
        </p:txBody>
      </p:sp>
      <p:sp>
        <p:nvSpPr>
          <p:cNvPr id="47" name="s2-return-label-3">
            <a:extLst xmlns:a="http://schemas.openxmlformats.org/drawingml/2006/main">
              <a:ext uri="{FF2B5EF4-FFF2-40B4-BE49-F238E27FC236}">
                <a16:creationId xmlns:a16="http://schemas.microsoft.com/office/drawing/2014/main" id="{2DC19D82-3435-443A-9FF5-3090179B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5010150"/>
            <a:ext cx="704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87246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345DB3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345DB3"/>
                </a:solidFill>
                <a:latin typeface="Arial"/>
                <a:ea typeface="Arial"/>
                <a:cs typeface="Arial"/>
              </a:rPr>
              <a:t>LOCAL STATUS</a:t>
            </a:r>
          </a:p>
        </p:txBody>
      </p:sp>
      <p:sp>
        <p:nvSpPr>
          <p:cNvPr id="48" name="s2-state-ack">
            <a:extLst xmlns:a="http://schemas.openxmlformats.org/drawingml/2006/main">
              <a:ext uri="{FF2B5EF4-FFF2-40B4-BE49-F238E27FC236}">
                <a16:creationId xmlns:a16="http://schemas.microsoft.com/office/drawing/2014/main" id="{527E89BE-A48F-4B8D-8C99-B6A70EE9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781800"/>
            <a:ext cx="15240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1430">
            <a:solidFill>
              <a:srgbClr val="188090"/>
            </a:solidFill>
            <a:prstDash val="solid"/>
          </a:ln>
        </p:spPr>
        <p:txBody>
          <a:bodyPr xmlns:a="http://schemas.openxmlformats.org/drawingml/2006/main" lIns="57150" tIns="19050" rIns="5715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ACKNOWLEDGED</a:t>
            </a:r>
          </a:p>
        </p:txBody>
      </p:sp>
      <p:sp>
        <p:nvSpPr>
          <p:cNvPr id="49" name="s2-honesty">
            <a:extLst xmlns:a="http://schemas.openxmlformats.org/drawingml/2006/main">
              <a:ext uri="{FF2B5EF4-FFF2-40B4-BE49-F238E27FC236}">
                <a16:creationId xmlns:a16="http://schemas.microsoft.com/office/drawing/2014/main" id="{C93B2AC0-B9BA-4476-B753-9B56FE6C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6877050"/>
            <a:ext cx="885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B6677"/>
                </a:solidFill>
                <a:latin typeface="Arial"/>
                <a:ea typeface="Arial"/>
                <a:cs typeface="Arial"/>
              </a:rPr>
              <a:t>If no return path exists, the handset keeps its last proven state. It never invents delivery or acknowledgement.</a:t>
            </a:r>
          </a:p>
        </p:txBody>
      </p:sp>
      <p:sp>
        <p:nvSpPr>
          <p:cNvPr id="50" name="footer-left-2">
            <a:extLst xmlns:a="http://schemas.openxmlformats.org/drawingml/2006/main">
              <a:ext uri="{FF2B5EF4-FFF2-40B4-BE49-F238E27FC236}">
                <a16:creationId xmlns:a16="http://schemas.microsoft.com/office/drawing/2014/main" id="{D33AA42A-09E0-4E33-B971-4A467DD9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153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All shapes and connectors are editable PowerPoint objects</a:t>
            </a:r>
          </a:p>
        </p:txBody>
      </p:sp>
      <p:sp>
        <p:nvSpPr>
          <p:cNvPr id="51" name="footer-right-2">
            <a:extLst xmlns:a="http://schemas.openxmlformats.org/drawingml/2006/main">
              <a:ext uri="{FF2B5EF4-FFF2-40B4-BE49-F238E27FC236}">
                <a16:creationId xmlns:a16="http://schemas.microsoft.com/office/drawing/2014/main" id="{13E67F5F-BFF2-497B-AB42-3E6A9F9E4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115300"/>
            <a:ext cx="733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Solid line: software path   Dashed line: optional or hardware path awaiting field verification</a:t>
            </a:r>
          </a:p>
        </p:txBody>
      </p:sp>
    </p:spTree>
    <p:extLst>
      <p:ext uri="{BB962C8B-B14F-4D97-AF65-F5344CB8AC3E}">
        <p14:creationId xmlns:p14="http://schemas.microsoft.com/office/powerpoint/2010/main" val="7694153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7" name="title-3">
            <a:extLst xmlns:a="http://schemas.openxmlformats.org/drawingml/2006/main">
              <a:ext uri="{FF2B5EF4-FFF2-40B4-BE49-F238E27FC236}">
                <a16:creationId xmlns:a16="http://schemas.microsoft.com/office/drawing/2014/main" id="{51FB6F7F-10A9-4B84-BF79-C6A835A1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8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AqOne Processing Pipelines</a:t>
            </a:r>
          </a:p>
        </p:txBody>
      </p:sp>
      <p:sp>
        <p:nvSpPr>
          <p:cNvPr id="2" name="subtitle-3">
            <a:extLst xmlns:a="http://schemas.openxmlformats.org/drawingml/2006/main">
              <a:ext uri="{FF2B5EF4-FFF2-40B4-BE49-F238E27FC236}">
                <a16:creationId xmlns:a16="http://schemas.microsoft.com/office/drawing/2014/main" id="{C9DECEB2-1F48-4F85-A035-15C95009B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Each pipeline has its own lane, arrow color and output surface</a:t>
            </a:r>
          </a:p>
        </p:txBody>
      </p:sp>
      <p:sp>
        <p:nvSpPr>
          <p:cNvPr id="3" name="page-marker-3">
            <a:extLst xmlns:a="http://schemas.openxmlformats.org/drawingml/2006/main">
              <a:ext uri="{FF2B5EF4-FFF2-40B4-BE49-F238E27FC236}">
                <a16:creationId xmlns:a16="http://schemas.microsoft.com/office/drawing/2014/main" id="{035B4374-069E-45B9-AE1B-13368CEA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15950" y="285750"/>
            <a:ext cx="13525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CC"/>
          </a:solidFill>
          <a:ln xmlns:a="http://schemas.openxmlformats.org/drawingml/2006/main" w="11430">
            <a:solidFill>
              <a:srgbClr val="D4B23C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3 OF 3</a:t>
            </a:r>
          </a:p>
        </p:txBody>
      </p:sp>
      <p:sp>
        <p:nvSpPr>
          <p:cNvPr id="4" name="s3-col-0">
            <a:extLst xmlns:a="http://schemas.openxmlformats.org/drawingml/2006/main">
              <a:ext uri="{FF2B5EF4-FFF2-40B4-BE49-F238E27FC236}">
                <a16:creationId xmlns:a16="http://schemas.microsoft.com/office/drawing/2014/main" id="{5C105209-318D-49BB-BE8D-D735A912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0858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677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5" name="s3-col-1">
            <a:extLst xmlns:a="http://schemas.openxmlformats.org/drawingml/2006/main">
              <a:ext uri="{FF2B5EF4-FFF2-40B4-BE49-F238E27FC236}">
                <a16:creationId xmlns:a16="http://schemas.microsoft.com/office/drawing/2014/main" id="{51041EB3-90A8-49B5-96EE-EB31EF792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0858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677"/>
                </a:solidFill>
                <a:latin typeface="Arial"/>
                <a:ea typeface="Arial"/>
                <a:cs typeface="Arial"/>
              </a:rPr>
              <a:t>QUALITY AND PREPARATION</a:t>
            </a:r>
          </a:p>
        </p:txBody>
      </p:sp>
      <p:sp>
        <p:nvSpPr>
          <p:cNvPr id="6" name="s3-col-2">
            <a:extLst xmlns:a="http://schemas.openxmlformats.org/drawingml/2006/main">
              <a:ext uri="{FF2B5EF4-FFF2-40B4-BE49-F238E27FC236}">
                <a16:creationId xmlns:a16="http://schemas.microsoft.com/office/drawing/2014/main" id="{2412409D-5289-414C-9233-A6B6C86E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858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677"/>
                </a:solidFill>
                <a:latin typeface="Arial"/>
                <a:ea typeface="Arial"/>
                <a:cs typeface="Arial"/>
              </a:rPr>
              <a:t>MODEL OR CORE LOGIC</a:t>
            </a:r>
          </a:p>
        </p:txBody>
      </p:sp>
      <p:sp>
        <p:nvSpPr>
          <p:cNvPr id="7" name="s3-col-3">
            <a:extLst xmlns:a="http://schemas.openxmlformats.org/drawingml/2006/main">
              <a:ext uri="{FF2B5EF4-FFF2-40B4-BE49-F238E27FC236}">
                <a16:creationId xmlns:a16="http://schemas.microsoft.com/office/drawing/2014/main" id="{2805F64E-A932-4B6C-9A93-481095C0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085850"/>
            <a:ext cx="2047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677"/>
                </a:solidFill>
                <a:latin typeface="Arial"/>
                <a:ea typeface="Arial"/>
                <a:cs typeface="Arial"/>
              </a:rPr>
              <a:t>DECISION WORKFLOW</a:t>
            </a:r>
          </a:p>
        </p:txBody>
      </p:sp>
      <p:sp>
        <p:nvSpPr>
          <p:cNvPr id="8" name="s3-col-4">
            <a:extLst xmlns:a="http://schemas.openxmlformats.org/drawingml/2006/main">
              <a:ext uri="{FF2B5EF4-FFF2-40B4-BE49-F238E27FC236}">
                <a16:creationId xmlns:a16="http://schemas.microsoft.com/office/drawing/2014/main" id="{BAB1E384-D77A-4630-80FC-0DB214DBD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085850"/>
            <a:ext cx="23336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5B6677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9" name="s3-sos-band">
            <a:extLst xmlns:a="http://schemas.openxmlformats.org/drawingml/2006/main">
              <a:ext uri="{FF2B5EF4-FFF2-40B4-BE49-F238E27FC236}">
                <a16:creationId xmlns:a16="http://schemas.microsoft.com/office/drawing/2014/main" id="{92CA1C73-7D47-462A-95A0-BD2E2CD2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44399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73F4D"/>
            </a:solidFill>
            <a:prstDash val="solid"/>
          </a:ln>
        </p:spPr>
      </p:sp>
      <p:sp>
        <p:nvSpPr>
          <p:cNvPr id="10" name="s3-sos-title">
            <a:extLst xmlns:a="http://schemas.openxmlformats.org/drawingml/2006/main">
              <a:ext uri="{FF2B5EF4-FFF2-40B4-BE49-F238E27FC236}">
                <a16:creationId xmlns:a16="http://schemas.microsoft.com/office/drawing/2014/main" id="{5E85314C-FBC3-489A-9D48-62B8BFCA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73F4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3F4D"/>
                </a:solidFill>
                <a:latin typeface="Arial"/>
                <a:ea typeface="Arial"/>
                <a:cs typeface="Arial"/>
              </a:rPr>
              <a:t>MANUAL SOS</a:t>
            </a:r>
          </a:p>
        </p:txBody>
      </p:sp>
      <p:sp>
        <p:nvSpPr>
          <p:cNvPr id="11" name="s3-sos-0">
            <a:extLst xmlns:a="http://schemas.openxmlformats.org/drawingml/2006/main">
              <a:ext uri="{FF2B5EF4-FFF2-40B4-BE49-F238E27FC236}">
                <a16:creationId xmlns:a16="http://schemas.microsoft.com/office/drawing/2014/main" id="{02EF78BD-7591-4B49-AD73-92B4083F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5621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Phone or pod SOS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Human-triggered distress</a:t>
            </a:r>
          </a:p>
        </p:txBody>
      </p:sp>
      <p:sp>
        <p:nvSpPr>
          <p:cNvPr id="12" name="s3-sos-1">
            <a:extLst xmlns:a="http://schemas.openxmlformats.org/drawingml/2006/main">
              <a:ext uri="{FF2B5EF4-FFF2-40B4-BE49-F238E27FC236}">
                <a16:creationId xmlns:a16="http://schemas.microsoft.com/office/drawing/2014/main" id="{4855C8AC-B9F6-4518-B1B4-9E73E001C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5621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Validate and deduplicate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Emergency intake remains unconditional</a:t>
            </a:r>
          </a:p>
        </p:txBody>
      </p:sp>
      <p:sp>
        <p:nvSpPr>
          <p:cNvPr id="13" name="s3-sos-2">
            <a:extLst xmlns:a="http://schemas.openxmlformats.org/drawingml/2006/main">
              <a:ext uri="{FF2B5EF4-FFF2-40B4-BE49-F238E27FC236}">
                <a16:creationId xmlns:a16="http://schemas.microsoft.com/office/drawing/2014/main" id="{74D33736-A41A-415F-9823-0D562852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621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Persist incident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AI does not gate delivery</a:t>
            </a:r>
          </a:p>
        </p:txBody>
      </p:sp>
      <p:sp>
        <p:nvSpPr>
          <p:cNvPr id="14" name="s3-sos-3">
            <a:extLst xmlns:a="http://schemas.openxmlformats.org/drawingml/2006/main">
              <a:ext uri="{FF2B5EF4-FFF2-40B4-BE49-F238E27FC236}">
                <a16:creationId xmlns:a16="http://schemas.microsoft.com/office/drawing/2014/main" id="{292184C2-FFD2-46A9-BBB2-B132B658F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5621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D7DA"/>
          </a:solidFill>
          <a:ln xmlns:a="http://schemas.openxmlformats.org/drawingml/2006/main" w="15240">
            <a:solidFill>
              <a:srgbClr val="C73F4D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Responder acknowledgement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ETA, note and resolution</a:t>
            </a:r>
          </a:p>
        </p:txBody>
      </p:sp>
      <p:sp>
        <p:nvSpPr>
          <p:cNvPr id="15" name="s3-sos-4">
            <a:extLst xmlns:a="http://schemas.openxmlformats.org/drawingml/2006/main">
              <a:ext uri="{FF2B5EF4-FFF2-40B4-BE49-F238E27FC236}">
                <a16:creationId xmlns:a16="http://schemas.microsoft.com/office/drawing/2014/main" id="{BFE32C8B-B1A2-4690-B70B-AF0507E5F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156210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Dashboard and phone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Delivery state evidence</a:t>
            </a:r>
          </a:p>
        </p:txBody>
      </p:sp>
      <p:cxnSp>
        <p:nvCxnSpPr>
          <p:cNvPr id="82" name="s3-sos-link-0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286250" y="1952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3" name="s3-sos-link-1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762750" y="1952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4" name="s3-sos-link-2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9239250" y="1952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85" name="s3-sos-link-3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1715750" y="19526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C73F4D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20" name="s3-weather-band">
            <a:extLst xmlns:a="http://schemas.openxmlformats.org/drawingml/2006/main">
              <a:ext uri="{FF2B5EF4-FFF2-40B4-BE49-F238E27FC236}">
                <a16:creationId xmlns:a16="http://schemas.microsoft.com/office/drawing/2014/main" id="{B73D309C-59A3-4CA0-B1A1-DE5F67B5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144399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552A8"/>
            </a:solidFill>
            <a:prstDash val="solid"/>
          </a:ln>
        </p:spPr>
      </p:sp>
      <p:sp>
        <p:nvSpPr>
          <p:cNvPr id="21" name="s3-weather-title">
            <a:extLst xmlns:a="http://schemas.openxmlformats.org/drawingml/2006/main">
              <a:ext uri="{FF2B5EF4-FFF2-40B4-BE49-F238E27FC236}">
                <a16:creationId xmlns:a16="http://schemas.microsoft.com/office/drawing/2014/main" id="{BBB759C7-F449-47DF-AAD4-B0D89E10D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7180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7552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7552A8"/>
                </a:solidFill>
                <a:latin typeface="Arial"/>
                <a:ea typeface="Arial"/>
                <a:cs typeface="Arial"/>
              </a:rPr>
              <a:t>ENVIRONMENTAL WARNING</a:t>
            </a:r>
          </a:p>
        </p:txBody>
      </p:sp>
      <p:sp>
        <p:nvSpPr>
          <p:cNvPr id="22" name="s3-weather-0">
            <a:extLst xmlns:a="http://schemas.openxmlformats.org/drawingml/2006/main">
              <a:ext uri="{FF2B5EF4-FFF2-40B4-BE49-F238E27FC236}">
                <a16:creationId xmlns:a16="http://schemas.microsoft.com/office/drawing/2014/main" id="{19BB14AD-5A7B-42DF-AC8F-F40FDA25E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194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Pressure and weather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Fixed buoys plus Open-Meteo</a:t>
            </a:r>
          </a:p>
        </p:txBody>
      </p:sp>
      <p:sp>
        <p:nvSpPr>
          <p:cNvPr id="23" name="s3-weather-1">
            <a:extLst xmlns:a="http://schemas.openxmlformats.org/drawingml/2006/main">
              <a:ext uri="{FF2B5EF4-FFF2-40B4-BE49-F238E27FC236}">
                <a16:creationId xmlns:a16="http://schemas.microsoft.com/office/drawing/2014/main" id="{6E47A27C-9947-4BF3-A525-AF2A3B40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194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Quality and freshness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Reject stale or insufficient input</a:t>
            </a:r>
          </a:p>
        </p:txBody>
      </p:sp>
      <p:sp>
        <p:nvSpPr>
          <p:cNvPr id="24" name="s3-weather-2">
            <a:extLst xmlns:a="http://schemas.openxmlformats.org/drawingml/2006/main">
              <a:ext uri="{FF2B5EF4-FFF2-40B4-BE49-F238E27FC236}">
                <a16:creationId xmlns:a16="http://schemas.microsoft.com/office/drawing/2014/main" id="{3ABC8FC5-78C7-4974-989F-623DD5405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194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Squall and danger models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Backend and browser inference</a:t>
            </a:r>
          </a:p>
        </p:txBody>
      </p:sp>
      <p:sp>
        <p:nvSpPr>
          <p:cNvPr id="25" name="s3-weather-3">
            <a:extLst xmlns:a="http://schemas.openxmlformats.org/drawingml/2006/main">
              <a:ext uri="{FF2B5EF4-FFF2-40B4-BE49-F238E27FC236}">
                <a16:creationId xmlns:a16="http://schemas.microsoft.com/office/drawing/2014/main" id="{86A94381-C013-4AA8-BFEF-62B2665E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194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9DBFA"/>
          </a:solidFill>
          <a:ln xmlns:a="http://schemas.openxmlformats.org/drawingml/2006/main" w="15240">
            <a:solidFill>
              <a:srgbClr val="7552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Advisory review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Official and human warnings take precedence</a:t>
            </a:r>
          </a:p>
        </p:txBody>
      </p:sp>
      <p:sp>
        <p:nvSpPr>
          <p:cNvPr id="26" name="s3-weather-4">
            <a:extLst xmlns:a="http://schemas.openxmlformats.org/drawingml/2006/main">
              <a:ext uri="{FF2B5EF4-FFF2-40B4-BE49-F238E27FC236}">
                <a16:creationId xmlns:a16="http://schemas.microsoft.com/office/drawing/2014/main" id="{12847C53-6140-4F26-8B85-9B3691AC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81940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Mobile and dashboard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Warning with source and age</a:t>
            </a:r>
          </a:p>
        </p:txBody>
      </p:sp>
      <p:cxnSp>
        <p:nvCxnSpPr>
          <p:cNvPr id="93" name="s3-weather-link-0"/>
          <p:cNvCxnSpPr>
            <a:stCxn xmlns:a="http://schemas.openxmlformats.org/drawingml/2006/main" id="22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28625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4" name="s3-weather-link-1"/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676275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5" name="s3-weather-link-2"/>
          <p:cNvCxnSpPr>
            <a:stCxn xmlns:a="http://schemas.openxmlformats.org/drawingml/2006/main" id="24" idx="3"/>
            <a:endCxn xmlns:a="http://schemas.openxmlformats.org/drawingml/2006/main" id="25" idx="1"/>
          </p:cNvCxnSpPr>
          <p:nvPr/>
        </p:nvCxnSpPr>
        <p:spPr>
          <a:xfrm xmlns:a="http://schemas.openxmlformats.org/drawingml/2006/main">
            <a:off x="923925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96" name="s3-weather-link-3"/>
          <p:cNvCxnSpPr>
            <a:stCxn xmlns:a="http://schemas.openxmlformats.org/drawingml/2006/main" id="25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11715750" y="32099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7552A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31" name="s3-trip-band">
            <a:extLst xmlns:a="http://schemas.openxmlformats.org/drawingml/2006/main">
              <a:ext uri="{FF2B5EF4-FFF2-40B4-BE49-F238E27FC236}">
                <a16:creationId xmlns:a16="http://schemas.microsoft.com/office/drawing/2014/main" id="{1DEA652F-DB78-4A3B-93E0-87124D1F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43350"/>
            <a:ext cx="144399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B5CB8"/>
            </a:solidFill>
            <a:prstDash val="solid"/>
          </a:ln>
        </p:spPr>
      </p:sp>
      <p:sp>
        <p:nvSpPr>
          <p:cNvPr id="32" name="s3-trip-title">
            <a:extLst xmlns:a="http://schemas.openxmlformats.org/drawingml/2006/main">
              <a:ext uri="{FF2B5EF4-FFF2-40B4-BE49-F238E27FC236}">
                <a16:creationId xmlns:a16="http://schemas.microsoft.com/office/drawing/2014/main" id="{2CF47E67-6B16-4805-9AC8-A11B4637C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2910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5CB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B5CB8"/>
                </a:solidFill>
                <a:latin typeface="Arial"/>
                <a:ea typeface="Arial"/>
                <a:cs typeface="Arial"/>
              </a:rPr>
              <a:t>TRIP ANOMALY</a:t>
            </a:r>
          </a:p>
        </p:txBody>
      </p:sp>
      <p:sp>
        <p:nvSpPr>
          <p:cNvPr id="33" name="s3-trip-0">
            <a:extLst xmlns:a="http://schemas.openxmlformats.org/drawingml/2006/main">
              <a:ext uri="{FF2B5EF4-FFF2-40B4-BE49-F238E27FC236}">
                <a16:creationId xmlns:a16="http://schemas.microsoft.com/office/drawing/2014/main" id="{2D48DA4E-4E76-4E6F-95A9-F6F53641E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0767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4E3FA"/>
          </a:solidFill>
          <a:ln xmlns:a="http://schemas.openxmlformats.org/drawingml/2006/main" w="15240">
            <a:solidFill>
              <a:srgbClr val="5B5CB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Contacts and trip history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Routine vessel observations</a:t>
            </a:r>
          </a:p>
        </p:txBody>
      </p:sp>
      <p:sp>
        <p:nvSpPr>
          <p:cNvPr id="34" name="s3-trip-1">
            <a:extLst xmlns:a="http://schemas.openxmlformats.org/drawingml/2006/main">
              <a:ext uri="{FF2B5EF4-FFF2-40B4-BE49-F238E27FC236}">
                <a16:creationId xmlns:a16="http://schemas.microsoft.com/office/drawing/2014/main" id="{7D638152-EE73-4649-83AE-321D2ECBE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767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4E3FA"/>
          </a:solidFill>
          <a:ln xmlns:a="http://schemas.openxmlformats.org/drawingml/2006/main" w="15240">
            <a:solidFill>
              <a:srgbClr val="5B5CB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Causal history filter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No future or candidate leakage</a:t>
            </a:r>
          </a:p>
        </p:txBody>
      </p:sp>
      <p:sp>
        <p:nvSpPr>
          <p:cNvPr id="35" name="s3-trip-2">
            <a:extLst xmlns:a="http://schemas.openxmlformats.org/drawingml/2006/main">
              <a:ext uri="{FF2B5EF4-FFF2-40B4-BE49-F238E27FC236}">
                <a16:creationId xmlns:a16="http://schemas.microsoft.com/office/drawing/2014/main" id="{DB4BBB75-70FD-4520-AA39-ED49919D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767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4E3FA"/>
          </a:solidFill>
          <a:ln xmlns:a="http://schemas.openxmlformats.org/drawingml/2006/main" w="15240">
            <a:solidFill>
              <a:srgbClr val="5B5CB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Per-vessel profile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Duration and route comparison</a:t>
            </a:r>
          </a:p>
        </p:txBody>
      </p:sp>
      <p:sp>
        <p:nvSpPr>
          <p:cNvPr id="36" name="s3-trip-3">
            <a:extLst xmlns:a="http://schemas.openxmlformats.org/drawingml/2006/main">
              <a:ext uri="{FF2B5EF4-FFF2-40B4-BE49-F238E27FC236}">
                <a16:creationId xmlns:a16="http://schemas.microsoft.com/office/drawing/2014/main" id="{39B8E592-6D96-452B-A768-49886C929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0767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4E3FA"/>
          </a:solidFill>
          <a:ln xmlns:a="http://schemas.openxmlformats.org/drawingml/2006/main" w="15240">
            <a:solidFill>
              <a:srgbClr val="5B5CB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Verification and escalation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Silence alone does not prove distress</a:t>
            </a:r>
          </a:p>
        </p:txBody>
      </p:sp>
      <p:sp>
        <p:nvSpPr>
          <p:cNvPr id="37" name="s3-trip-4">
            <a:extLst xmlns:a="http://schemas.openxmlformats.org/drawingml/2006/main">
              <a:ext uri="{FF2B5EF4-FFF2-40B4-BE49-F238E27FC236}">
                <a16:creationId xmlns:a16="http://schemas.microsoft.com/office/drawing/2014/main" id="{4E281DF8-033E-4B17-97B8-BD7B40D3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407670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Responder review queue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Evidence and confidence</a:t>
            </a:r>
          </a:p>
        </p:txBody>
      </p:sp>
      <p:cxnSp>
        <p:nvCxnSpPr>
          <p:cNvPr id="104" name="s3-trip-link-0"/>
          <p:cNvCxnSpPr>
            <a:stCxn xmlns:a="http://schemas.openxmlformats.org/drawingml/2006/main" id="33" idx="3"/>
            <a:endCxn xmlns:a="http://schemas.openxmlformats.org/drawingml/2006/main" id="34" idx="1"/>
          </p:cNvCxnSpPr>
          <p:nvPr/>
        </p:nvCxnSpPr>
        <p:spPr>
          <a:xfrm xmlns:a="http://schemas.openxmlformats.org/drawingml/2006/main">
            <a:off x="4286250" y="44672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B5CB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5" name="s3-trip-link-1"/>
          <p:cNvCxnSpPr>
            <a:stCxn xmlns:a="http://schemas.openxmlformats.org/drawingml/2006/main" id="34" idx="3"/>
            <a:endCxn xmlns:a="http://schemas.openxmlformats.org/drawingml/2006/main" id="35" idx="1"/>
          </p:cNvCxnSpPr>
          <p:nvPr/>
        </p:nvCxnSpPr>
        <p:spPr>
          <a:xfrm xmlns:a="http://schemas.openxmlformats.org/drawingml/2006/main">
            <a:off x="6762750" y="44672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B5CB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6" name="s3-trip-link-2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9239250" y="44672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B5CB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07" name="s3-trip-link-3"/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11715750" y="44672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B5CB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42" name="s3-drift-band">
            <a:extLst xmlns:a="http://schemas.openxmlformats.org/drawingml/2006/main">
              <a:ext uri="{FF2B5EF4-FFF2-40B4-BE49-F238E27FC236}">
                <a16:creationId xmlns:a16="http://schemas.microsoft.com/office/drawing/2014/main" id="{00C3A751-0485-48D6-8DCC-5F10F9B4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00650"/>
            <a:ext cx="144399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361A8"/>
            </a:solidFill>
            <a:prstDash val="solid"/>
          </a:ln>
        </p:spPr>
      </p:sp>
      <p:sp>
        <p:nvSpPr>
          <p:cNvPr id="43" name="s3-drift-title">
            <a:extLst xmlns:a="http://schemas.openxmlformats.org/drawingml/2006/main">
              <a:ext uri="{FF2B5EF4-FFF2-40B4-BE49-F238E27FC236}">
                <a16:creationId xmlns:a16="http://schemas.microsoft.com/office/drawing/2014/main" id="{241D2B8E-F382-45C7-A043-41C29EFA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8640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361A8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1A8"/>
                </a:solidFill>
                <a:latin typeface="Arial"/>
                <a:ea typeface="Arial"/>
                <a:cs typeface="Arial"/>
              </a:rPr>
              <a:t>DRIFT AND SEARCH</a:t>
            </a:r>
          </a:p>
        </p:txBody>
      </p:sp>
      <p:sp>
        <p:nvSpPr>
          <p:cNvPr id="44" name="s3-drift-0">
            <a:extLst xmlns:a="http://schemas.openxmlformats.org/drawingml/2006/main">
              <a:ext uri="{FF2B5EF4-FFF2-40B4-BE49-F238E27FC236}">
                <a16:creationId xmlns:a16="http://schemas.microsoft.com/office/drawing/2014/main" id="{82504C5B-DEEB-4A49-BA65-E845E0E5D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3340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1E7FA"/>
          </a:solidFill>
          <a:ln xmlns:a="http://schemas.openxmlformats.org/drawingml/2006/main" w="15240">
            <a:solidFill>
              <a:srgbClr val="5361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Confirmed incident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Last reliable fix and object class</a:t>
            </a:r>
          </a:p>
        </p:txBody>
      </p:sp>
      <p:sp>
        <p:nvSpPr>
          <p:cNvPr id="45" name="s3-drift-1">
            <a:extLst xmlns:a="http://schemas.openxmlformats.org/drawingml/2006/main">
              <a:ext uri="{FF2B5EF4-FFF2-40B4-BE49-F238E27FC236}">
                <a16:creationId xmlns:a16="http://schemas.microsoft.com/office/drawing/2014/main" id="{06EB5F6E-97BA-4A00-B232-2EC79F16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3340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1E7FA"/>
          </a:solidFill>
          <a:ln xmlns:a="http://schemas.openxmlformats.org/drawingml/2006/main" w="15240">
            <a:solidFill>
              <a:srgbClr val="5361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Environmental forcing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Wind, current and coastline</a:t>
            </a:r>
          </a:p>
        </p:txBody>
      </p:sp>
      <p:sp>
        <p:nvSpPr>
          <p:cNvPr id="46" name="s3-drift-2">
            <a:extLst xmlns:a="http://schemas.openxmlformats.org/drawingml/2006/main">
              <a:ext uri="{FF2B5EF4-FFF2-40B4-BE49-F238E27FC236}">
                <a16:creationId xmlns:a16="http://schemas.microsoft.com/office/drawing/2014/main" id="{EBB9F035-DCE0-46CA-B9FC-24A3B6BA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1E7FA"/>
          </a:solidFill>
          <a:ln xmlns:a="http://schemas.openxmlformats.org/drawingml/2006/main" w="15240">
            <a:solidFill>
              <a:srgbClr val="5361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Monte Carlo leeway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Particle paths and uncertainty</a:t>
            </a:r>
          </a:p>
        </p:txBody>
      </p:sp>
      <p:sp>
        <p:nvSpPr>
          <p:cNvPr id="47" name="s3-drift-3">
            <a:extLst xmlns:a="http://schemas.openxmlformats.org/drawingml/2006/main">
              <a:ext uri="{FF2B5EF4-FFF2-40B4-BE49-F238E27FC236}">
                <a16:creationId xmlns:a16="http://schemas.microsoft.com/office/drawing/2014/main" id="{4C1AE497-F298-4360-8816-158CF71B1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53340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1E7FA"/>
          </a:solidFill>
          <a:ln xmlns:a="http://schemas.openxmlformats.org/drawingml/2006/main" w="15240">
            <a:solidFill>
              <a:srgbClr val="5361A8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Search posterior update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Negative search evidence</a:t>
            </a:r>
          </a:p>
        </p:txBody>
      </p:sp>
      <p:sp>
        <p:nvSpPr>
          <p:cNvPr id="48" name="s3-drift-4">
            <a:extLst xmlns:a="http://schemas.openxmlformats.org/drawingml/2006/main">
              <a:ext uri="{FF2B5EF4-FFF2-40B4-BE49-F238E27FC236}">
                <a16:creationId xmlns:a16="http://schemas.microsoft.com/office/drawing/2014/main" id="{4145BDDC-FE13-4DC1-A169-6D2F51D2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33400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Search contours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50, 75 and 95 percent zones</a:t>
            </a:r>
          </a:p>
        </p:txBody>
      </p:sp>
      <p:cxnSp>
        <p:nvCxnSpPr>
          <p:cNvPr id="115" name="s3-drift-link-0"/>
          <p:cNvCxnSpPr>
            <a:stCxn xmlns:a="http://schemas.openxmlformats.org/drawingml/2006/main" id="44" idx="3"/>
            <a:endCxn xmlns:a="http://schemas.openxmlformats.org/drawingml/2006/main" id="45" idx="1"/>
          </p:cNvCxnSpPr>
          <p:nvPr/>
        </p:nvCxnSpPr>
        <p:spPr>
          <a:xfrm xmlns:a="http://schemas.openxmlformats.org/drawingml/2006/main">
            <a:off x="4286250" y="57245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361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16" name="s3-drift-link-1"/>
          <p:cNvCxnSpPr>
            <a:stCxn xmlns:a="http://schemas.openxmlformats.org/drawingml/2006/main" id="45" idx="3"/>
            <a:endCxn xmlns:a="http://schemas.openxmlformats.org/drawingml/2006/main" id="46" idx="1"/>
          </p:cNvCxnSpPr>
          <p:nvPr/>
        </p:nvCxnSpPr>
        <p:spPr>
          <a:xfrm xmlns:a="http://schemas.openxmlformats.org/drawingml/2006/main">
            <a:off x="6762750" y="57245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361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17" name="s3-drift-link-2"/>
          <p:cNvCxnSpPr>
            <a:stCxn xmlns:a="http://schemas.openxmlformats.org/drawingml/2006/main" id="46" idx="3"/>
            <a:endCxn xmlns:a="http://schemas.openxmlformats.org/drawingml/2006/main" id="47" idx="1"/>
          </p:cNvCxnSpPr>
          <p:nvPr/>
        </p:nvCxnSpPr>
        <p:spPr>
          <a:xfrm xmlns:a="http://schemas.openxmlformats.org/drawingml/2006/main">
            <a:off x="9239250" y="57245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361A8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18" name="s3-drift-link-3"/>
          <p:cNvCxnSpPr>
            <a:stCxn xmlns:a="http://schemas.openxmlformats.org/drawingml/2006/main" id="47" idx="3"/>
            <a:endCxn xmlns:a="http://schemas.openxmlformats.org/drawingml/2006/main" id="48" idx="1"/>
          </p:cNvCxnSpPr>
          <p:nvPr/>
        </p:nvCxnSpPr>
        <p:spPr>
          <a:xfrm xmlns:a="http://schemas.openxmlformats.org/drawingml/2006/main">
            <a:off x="11715750" y="57245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5361A8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53" name="s3-catch-band">
            <a:extLst xmlns:a="http://schemas.openxmlformats.org/drawingml/2006/main">
              <a:ext uri="{FF2B5EF4-FFF2-40B4-BE49-F238E27FC236}">
                <a16:creationId xmlns:a16="http://schemas.microsoft.com/office/drawing/2014/main" id="{2F6FBA12-068C-457D-8216-FA96BC5CA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144399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D54"/>
            </a:solidFill>
            <a:prstDash val="solid"/>
          </a:ln>
        </p:spPr>
      </p:sp>
      <p:sp>
        <p:nvSpPr>
          <p:cNvPr id="54" name="s3-catch-title">
            <a:extLst xmlns:a="http://schemas.openxmlformats.org/drawingml/2006/main">
              <a:ext uri="{FF2B5EF4-FFF2-40B4-BE49-F238E27FC236}">
                <a16:creationId xmlns:a16="http://schemas.microsoft.com/office/drawing/2014/main" id="{23AA3D8B-C145-45C4-A5EB-A29A61B3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743700"/>
            <a:ext cx="1476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7D5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F7D54"/>
                </a:solidFill>
                <a:latin typeface="Arial"/>
                <a:ea typeface="Arial"/>
                <a:cs typeface="Arial"/>
              </a:rPr>
              <a:t>CONSENTED CATCH ACTIVITY</a:t>
            </a:r>
          </a:p>
        </p:txBody>
      </p:sp>
      <p:sp>
        <p:nvSpPr>
          <p:cNvPr id="55" name="s3-catch-0">
            <a:extLst xmlns:a="http://schemas.openxmlformats.org/drawingml/2006/main">
              <a:ext uri="{FF2B5EF4-FFF2-40B4-BE49-F238E27FC236}">
                <a16:creationId xmlns:a16="http://schemas.microsoft.com/office/drawing/2014/main" id="{33375041-6F46-4A8C-B6C7-ADB60DE4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5913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Consented catch log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Separate optional purpose</a:t>
            </a:r>
          </a:p>
        </p:txBody>
      </p:sp>
      <p:sp>
        <p:nvSpPr>
          <p:cNvPr id="56" name="s3-catch-1">
            <a:extLst xmlns:a="http://schemas.openxmlformats.org/drawingml/2006/main">
              <a:ext uri="{FF2B5EF4-FFF2-40B4-BE49-F238E27FC236}">
                <a16:creationId xmlns:a16="http://schemas.microsoft.com/office/drawing/2014/main" id="{1B23BE17-5DAA-4797-8509-129A99CDF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65913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Auth and validation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Safety access remains independent</a:t>
            </a:r>
          </a:p>
        </p:txBody>
      </p:sp>
      <p:sp>
        <p:nvSpPr>
          <p:cNvPr id="57" name="s3-catch-2">
            <a:extLst xmlns:a="http://schemas.openxmlformats.org/drawingml/2006/main">
              <a:ext uri="{FF2B5EF4-FFF2-40B4-BE49-F238E27FC236}">
                <a16:creationId xmlns:a16="http://schemas.microsoft.com/office/drawing/2014/main" id="{A12B672A-EE59-4E2B-A227-E73A8CB1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5913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Privacy aggregation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Coarse cells and reporter threshold</a:t>
            </a:r>
          </a:p>
        </p:txBody>
      </p:sp>
      <p:sp>
        <p:nvSpPr>
          <p:cNvPr id="58" name="s3-catch-3">
            <a:extLst xmlns:a="http://schemas.openxmlformats.org/drawingml/2006/main">
              <a:ext uri="{FF2B5EF4-FFF2-40B4-BE49-F238E27FC236}">
                <a16:creationId xmlns:a16="http://schemas.microsoft.com/office/drawing/2014/main" id="{03F4E0C5-CB00-494B-860A-CE8C837E7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591300"/>
            <a:ext cx="200025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9F2E2"/>
          </a:solidFill>
          <a:ln xmlns:a="http://schemas.openxmlformats.org/drawingml/2006/main" w="15240">
            <a:solidFill>
              <a:srgbClr val="2F7D54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Recent activity surface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No guaranteed catch claim</a:t>
            </a:r>
          </a:p>
        </p:txBody>
      </p:sp>
      <p:sp>
        <p:nvSpPr>
          <p:cNvPr id="59" name="s3-catch-4">
            <a:extLst xmlns:a="http://schemas.openxmlformats.org/drawingml/2006/main">
              <a:ext uri="{FF2B5EF4-FFF2-40B4-BE49-F238E27FC236}">
                <a16:creationId xmlns:a16="http://schemas.microsoft.com/office/drawing/2014/main" id="{0E4A6F37-4C8A-403A-9BCC-A03E84ED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659130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D6F5FA"/>
          </a:solidFill>
          <a:ln xmlns:a="http://schemas.openxmlformats.org/drawingml/2006/main" w="15240">
            <a:solidFill>
              <a:srgbClr val="188090"/>
            </a:solidFill>
            <a:prstDash val="solid"/>
          </a:ln>
        </p:spPr>
        <p:txBody>
          <a:bodyPr xmlns:a="http://schemas.openxmlformats.org/drawingml/2006/main" lIns="76200" tIns="66675" rIns="762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1150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Mobile and LGU view</a:t>
            </a:r>
          </a:p>
          <a:p xmlns:a="http://schemas.openxmlformats.org/drawingml/2006/main">
            <a:pPr algn="ctr">
              <a:defRPr>
                <a:latin typeface="Arial"/>
                <a:ea typeface="Arial"/>
                <a:cs typeface="Arial"/>
              </a:defRPr>
            </a:pPr>
            <a:r>
              <a:rPr sz="770">
                <a:solidFill>
                  <a:srgbClr val="5B6677"/>
                </a:solidFill>
                <a:latin typeface="Arial"/>
                <a:ea typeface="Arial"/>
                <a:cs typeface="Arial"/>
              </a:rPr>
              <a:t>No exact public positions</a:t>
            </a:r>
          </a:p>
        </p:txBody>
      </p:sp>
      <p:cxnSp>
        <p:nvCxnSpPr>
          <p:cNvPr id="126" name="s3-catch-link-0"/>
          <p:cNvCxnSpPr>
            <a:stCxn xmlns:a="http://schemas.openxmlformats.org/drawingml/2006/main" id="55" idx="3"/>
            <a:endCxn xmlns:a="http://schemas.openxmlformats.org/drawingml/2006/main" id="56" idx="1"/>
          </p:cNvCxnSpPr>
          <p:nvPr/>
        </p:nvCxnSpPr>
        <p:spPr>
          <a:xfrm xmlns:a="http://schemas.openxmlformats.org/drawingml/2006/main">
            <a:off x="4286250" y="6981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27" name="s3-catch-link-1"/>
          <p:cNvCxnSpPr>
            <a:stCxn xmlns:a="http://schemas.openxmlformats.org/drawingml/2006/main" id="56" idx="3"/>
            <a:endCxn xmlns:a="http://schemas.openxmlformats.org/drawingml/2006/main" id="57" idx="1"/>
          </p:cNvCxnSpPr>
          <p:nvPr/>
        </p:nvCxnSpPr>
        <p:spPr>
          <a:xfrm xmlns:a="http://schemas.openxmlformats.org/drawingml/2006/main">
            <a:off x="6762750" y="6981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28" name="s3-catch-link-2"/>
          <p:cNvCxnSpPr>
            <a:stCxn xmlns:a="http://schemas.openxmlformats.org/drawingml/2006/main" id="57" idx="3"/>
            <a:endCxn xmlns:a="http://schemas.openxmlformats.org/drawingml/2006/main" id="58" idx="1"/>
          </p:cNvCxnSpPr>
          <p:nvPr/>
        </p:nvCxnSpPr>
        <p:spPr>
          <a:xfrm xmlns:a="http://schemas.openxmlformats.org/drawingml/2006/main">
            <a:off x="9239250" y="6981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cxnSp>
        <p:nvCxnSpPr>
          <p:cNvPr id="129" name="s3-catch-link-3"/>
          <p:cNvCxnSpPr>
            <a:stCxn xmlns:a="http://schemas.openxmlformats.org/drawingml/2006/main" id="58" idx="3"/>
            <a:endCxn xmlns:a="http://schemas.openxmlformats.org/drawingml/2006/main" id="59" idx="1"/>
          </p:cNvCxnSpPr>
          <p:nvPr/>
        </p:nvCxnSpPr>
        <p:spPr>
          <a:xfrm xmlns:a="http://schemas.openxmlformats.org/drawingml/2006/main">
            <a:off x="11715750" y="698182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20955">
            <a:solidFill>
              <a:srgbClr val="2F7D54"/>
            </a:solidFill>
            <a:prstDash val="solid"/>
            <a:headEnd type="none" w="med" len="med"/>
            <a:tailEnd type="triangle" w="sm" len="sm"/>
          </a:ln>
        </p:spPr>
      </p:cxnSp>
      <p:sp>
        <p:nvSpPr>
          <p:cNvPr id="64" name="s3-boundary">
            <a:extLst xmlns:a="http://schemas.openxmlformats.org/drawingml/2006/main">
              <a:ext uri="{FF2B5EF4-FFF2-40B4-BE49-F238E27FC236}">
                <a16:creationId xmlns:a16="http://schemas.microsoft.com/office/drawing/2014/main" id="{F6B067EF-FBE8-4501-B360-A5A61515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7762875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72033"/>
                </a:solidFill>
                <a:latin typeface="Arial"/>
                <a:ea typeface="Arial"/>
                <a:cs typeface="Arial"/>
              </a:rPr>
              <a:t>Manual SOS stays operational when every model is unavailable. Model outputs support authorized human decisions.</a:t>
            </a:r>
          </a:p>
        </p:txBody>
      </p:sp>
      <p:sp>
        <p:nvSpPr>
          <p:cNvPr id="65" name="footer-left-3">
            <a:extLst xmlns:a="http://schemas.openxmlformats.org/drawingml/2006/main">
              <a:ext uri="{FF2B5EF4-FFF2-40B4-BE49-F238E27FC236}">
                <a16:creationId xmlns:a16="http://schemas.microsoft.com/office/drawing/2014/main" id="{0751BF27-0B26-494D-A012-CA83A7F7B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11530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All shapes and connectors are editable PowerPoint objects</a:t>
            </a:r>
          </a:p>
        </p:txBody>
      </p:sp>
      <p:sp>
        <p:nvSpPr>
          <p:cNvPr id="66" name="footer-right-3">
            <a:extLst xmlns:a="http://schemas.openxmlformats.org/drawingml/2006/main">
              <a:ext uri="{FF2B5EF4-FFF2-40B4-BE49-F238E27FC236}">
                <a16:creationId xmlns:a16="http://schemas.microsoft.com/office/drawing/2014/main" id="{8E0FFD51-45B7-4448-BB68-29B29A8AA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115300"/>
            <a:ext cx="733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88" b="0">
                <a:solidFill>
                  <a:srgbClr val="5B6677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5B6677"/>
                </a:solidFill>
                <a:latin typeface="Arial"/>
                <a:ea typeface="Arial"/>
                <a:cs typeface="Arial"/>
              </a:rPr>
              <a:t>Solid line: software path   Dashed line: optional or hardware path awaiting field verification</a:t>
            </a:r>
          </a:p>
        </p:txBody>
      </p:sp>
    </p:spTree>
    <p:extLst>
      <p:ext uri="{BB962C8B-B14F-4D97-AF65-F5344CB8AC3E}">
        <p14:creationId xmlns:p14="http://schemas.microsoft.com/office/powerpoint/2010/main" val="124632122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2026-09-18T14:42:46.3990000Z</dcterms:created>
  <dcterms:modified xsi:type="dcterms:W3CDTF">2026-09-18T14:42:46.3990000Z</dcterms:modified>
</coreProperties>
</file>