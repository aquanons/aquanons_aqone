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591b79a87c4995" /><Relationship Type="http://schemas.openxmlformats.org/officeDocument/2006/relationships/extended-properties" Target="/docProps/app.xml" Id="R74feb7734031443e" /><Relationship Type="http://schemas.openxmlformats.org/officeDocument/2006/relationships/officeDocument" Target="/ppt/presentation.xml" Id="R0b2ed214630b49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29243dd0c34275"/>
  </p:sldMasterIdLst>
  <p:notesMasterIdLst>
    <p:notesMasterId xmlns:r="http://schemas.openxmlformats.org/officeDocument/2006/relationships" r:id="Rbbce4677962e4b30"/>
  </p:notesMasterIdLst>
  <p:sldIdLst>
    <p:sldId xmlns:r="http://schemas.openxmlformats.org/officeDocument/2006/relationships" id="256" r:id="R0e7c57b5d82845d6"/>
  </p:sldIdLst>
  <p:sldSz cx="13335000" cy="2000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f9005770234076" /><Relationship Type="http://schemas.openxmlformats.org/officeDocument/2006/relationships/slideMaster" Target="/ppt/slideMasters/slideMaster1.xml" Id="R6129243dd0c34275" /><Relationship Type="http://schemas.openxmlformats.org/officeDocument/2006/relationships/notesMaster" Target="/ppt/notesMasters/notesMaster1.xml" Id="Rbbce4677962e4b30" /><Relationship Type="http://schemas.openxmlformats.org/officeDocument/2006/relationships/presProps" Target="/ppt/presProps.xml" Id="R1712e91c05db41f6" /><Relationship Type="http://schemas.openxmlformats.org/officeDocument/2006/relationships/tableStyles" Target="/ppt/tableStyles.xml" Id="Re63a3953ffa54c42" /><Relationship Type="http://schemas.openxmlformats.org/officeDocument/2006/relationships/slide" Target="/ppt/slides/slide1.xml" Id="R0e7c57b5d828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3e212dcf0e40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447bc1217c4693" /><Relationship Type="http://schemas.openxmlformats.org/officeDocument/2006/relationships/notesMaster" Target="/ppt/notesMasters/notesMaster1.xml" Id="R54cf84ffde25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AqOne architecture sources:</a:t>
            </a:r>
          </a:p>
          <a:p xmlns:a="http://schemas.openxmlformats.org/drawingml/2006/main">
            <a:r>
              <a:t>README.md, current status and implemented versus unverified paths.</a:t>
            </a:r>
          </a:p>
          <a:p xmlns:a="http://schemas.openxmlformats.org/drawingml/2006/main">
            <a:r>
              <a:t>docs/55_HYBRID_TRANSPORT_ARCHITECTURE_DECISION.md, active boat-pod and direct-to-shore topology.</a:t>
            </a:r>
          </a:p>
          <a:p xmlns:a="http://schemas.openxmlformats.org/drawingml/2006/main">
            <a:r>
              <a:t>docs/06_DELIVERY_STATES.md, saved, relayed, delivered and acknowledged authorities.</a:t>
            </a:r>
          </a:p>
          <a:p xmlns:a="http://schemas.openxmlformats.org/drawingml/2006/main">
            <a:r>
              <a:t>docs/Aqone_PRD (2).md, canonical product and AI scope.</a:t>
            </a:r>
          </a:p>
          <a:p xmlns:a="http://schemas.openxmlformats.org/drawingml/2006/main">
            <a:r>
              <a:t>docs/17_AI_EXPLAINED_SIMPLY.md, squall, trip anomaly, drift and browser danger-zone implementation.</a:t>
            </a:r>
          </a:p>
          <a:p xmlns:a="http://schemas.openxmlformats.org/drawingml/2006/main">
            <a:r>
              <a:t>web/js/dashboard/dashboard-live-sos.js, current three-second REST polling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5696b0224a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0c373b7f764c43" /><Relationship Type="http://schemas.openxmlformats.org/officeDocument/2006/relationships/slideLayout" Target="/ppt/slideLayouts/slideLayout1.xml" Id="R58eab70b8cd249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ab70b8cd249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793e9bf9e4d93" /><Relationship Type="http://schemas.openxmlformats.org/officeDocument/2006/relationships/notesSlide" Target="/ppt/notesSlides/notesSlide1.xml" Id="R6ed049e9f5fc44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5A21EF1-F0E2-4394-A233-9A0CF37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Detailed Architecture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AAF1EF8-CB98-4105-984B-ECBFCA45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Offline SOS transport, safety intelligence and responder loop</a:t>
            </a:r>
          </a:p>
        </p:txBody>
      </p:sp>
      <p:sp>
        <p:nvSpPr>
          <p:cNvPr id="3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E4304240-14BE-407A-8755-663AAA07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6700"/>
            <a:ext cx="3143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SOURCE BUILT  |  FIELD VALIDATION PENDING</a:t>
            </a:r>
          </a:p>
        </p:txBody>
      </p:sp>
      <p:sp>
        <p:nvSpPr>
          <p:cNvPr id="4" name="inputs-boundary">
            <a:extLst xmlns:a="http://schemas.openxmlformats.org/drawingml/2006/main">
              <a:ext uri="{FF2B5EF4-FFF2-40B4-BE49-F238E27FC236}">
                <a16:creationId xmlns:a16="http://schemas.microsoft.com/office/drawing/2014/main" id="{75BE2986-DE90-456E-9DDB-D59D0671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5" name="inputs-title">
            <a:extLst xmlns:a="http://schemas.openxmlformats.org/drawingml/2006/main">
              <a:ext uri="{FF2B5EF4-FFF2-40B4-BE49-F238E27FC236}">
                <a16:creationId xmlns:a16="http://schemas.microsoft.com/office/drawing/2014/main" id="{B5936B9C-E95F-497E-8B15-374D15FD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Input and Field Layer</a:t>
            </a:r>
          </a:p>
        </p:txBody>
      </p:sp>
      <p:sp>
        <p:nvSpPr>
          <p:cNvPr id="6" name="inputs-note">
            <a:extLst xmlns:a="http://schemas.openxmlformats.org/drawingml/2006/main">
              <a:ext uri="{FF2B5EF4-FFF2-40B4-BE49-F238E27FC236}">
                <a16:creationId xmlns:a16="http://schemas.microsoft.com/office/drawing/2014/main" id="{84156C69-A904-48C3-9170-B01A0ABC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23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Evidence sources and human actions</a:t>
            </a:r>
          </a:p>
        </p:txBody>
      </p:sp>
      <p:sp>
        <p:nvSpPr>
          <p:cNvPr id="7" name="transport-boundary">
            <a:extLst xmlns:a="http://schemas.openxmlformats.org/drawingml/2006/main">
              <a:ext uri="{FF2B5EF4-FFF2-40B4-BE49-F238E27FC236}">
                <a16:creationId xmlns:a16="http://schemas.microsoft.com/office/drawing/2014/main" id="{F42666A9-E97F-4961-9AA5-9F6DF82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76625"/>
            <a:ext cx="128016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8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F5230E6E-215D-46C8-9B35-F165FBEE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Edge and Transport Layer</a:t>
            </a:r>
          </a:p>
        </p:txBody>
      </p:sp>
      <p:sp>
        <p:nvSpPr>
          <p:cNvPr id="9" name="transport-note">
            <a:extLst xmlns:a="http://schemas.openxmlformats.org/drawingml/2006/main">
              <a:ext uri="{FF2B5EF4-FFF2-40B4-BE49-F238E27FC236}">
                <a16:creationId xmlns:a16="http://schemas.microsoft.com/office/drawing/2014/main" id="{8BC1C167-5BC8-4E34-BAA0-2B51229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52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Store first, forward when a path exists</a:t>
            </a:r>
          </a:p>
        </p:txBody>
      </p:sp>
      <p:sp>
        <p:nvSpPr>
          <p:cNvPr id="10" name="backend-boundary">
            <a:extLst xmlns:a="http://schemas.openxmlformats.org/drawingml/2006/main">
              <a:ext uri="{FF2B5EF4-FFF2-40B4-BE49-F238E27FC236}">
                <a16:creationId xmlns:a16="http://schemas.microsoft.com/office/drawing/2014/main" id="{EB8EA88B-F58D-4BEA-AD6A-BDBB1BC7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81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1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81246217-3B0A-4B37-B4CA-32105A5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and Data Layer</a:t>
            </a:r>
          </a:p>
        </p:txBody>
      </p:sp>
      <p:sp>
        <p:nvSpPr>
          <p:cNvPr id="12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1D5B4DB9-7E4D-46AA-99FF-4B2D3E80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457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Provider-neutral logical architecture</a:t>
            </a:r>
          </a:p>
        </p:txBody>
      </p:sp>
      <p:sp>
        <p:nvSpPr>
          <p:cNvPr id="13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50A8613A-BBC2-4D41-8778-D5CC2BA8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810625"/>
            <a:ext cx="12801600" cy="65722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4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7E6AF2FD-A0BA-459A-876F-4B27875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877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Processing and Decision Support Layer</a:t>
            </a:r>
          </a:p>
        </p:txBody>
      </p:sp>
      <p:sp>
        <p:nvSpPr>
          <p:cNvPr id="1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3706A427-6456-47CB-B600-14136964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886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 remains independent of every model</a:t>
            </a:r>
          </a:p>
        </p:txBody>
      </p:sp>
      <p:sp>
        <p:nvSpPr>
          <p:cNvPr id="16" name="outputs-boundary">
            <a:extLst xmlns:a="http://schemas.openxmlformats.org/drawingml/2006/main">
              <a:ext uri="{FF2B5EF4-FFF2-40B4-BE49-F238E27FC236}">
                <a16:creationId xmlns:a16="http://schemas.microsoft.com/office/drawing/2014/main" id="{4E88D2B7-4FBD-4008-81E9-F73F753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573375"/>
            <a:ext cx="128016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7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F40129A3-789E-4B62-8146-BA1B14B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40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and Human Response Layer</a:t>
            </a:r>
          </a:p>
        </p:txBody>
      </p:sp>
      <p:sp>
        <p:nvSpPr>
          <p:cNvPr id="18" name="outputs-note">
            <a:extLst xmlns:a="http://schemas.openxmlformats.org/drawingml/2006/main">
              <a:ext uri="{FF2B5EF4-FFF2-40B4-BE49-F238E27FC236}">
                <a16:creationId xmlns:a16="http://schemas.microsoft.com/office/drawing/2014/main" id="{8A7E7282-5116-41E9-8830-4BAC010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649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Human authority remains explicit</a:t>
            </a:r>
          </a:p>
        </p:txBody>
      </p:sp>
      <p:sp>
        <p:nvSpPr>
          <p:cNvPr id="19" name="input-mobile">
            <a:extLst xmlns:a="http://schemas.openxmlformats.org/drawingml/2006/main">
              <a:ext uri="{FF2B5EF4-FFF2-40B4-BE49-F238E27FC236}">
                <a16:creationId xmlns:a16="http://schemas.microsoft.com/office/drawing/2014/main" id="{CD9A21E9-D7FB-44D1-A281-6BC6DC1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SOS, GPS, timestamp, trip check-ins, optional catch logs</a:t>
            </a:r>
          </a:p>
        </p:txBody>
      </p:sp>
      <p:sp>
        <p:nvSpPr>
          <p:cNvPr id="20" name="input-pod">
            <a:extLst xmlns:a="http://schemas.openxmlformats.org/drawingml/2006/main">
              <a:ext uri="{FF2B5EF4-FFF2-40B4-BE49-F238E27FC236}">
                <a16:creationId xmlns:a16="http://schemas.microsoft.com/office/drawing/2014/main" id="{E8498351-30D0-4322-B33A-EAFBC63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Physical SOS button, GNSS, battery and radio events</a:t>
            </a:r>
          </a:p>
        </p:txBody>
      </p:sp>
      <p:sp>
        <p:nvSpPr>
          <p:cNvPr id="21" name="input-sensor">
            <a:extLst xmlns:a="http://schemas.openxmlformats.org/drawingml/2006/main">
              <a:ext uri="{FF2B5EF4-FFF2-40B4-BE49-F238E27FC236}">
                <a16:creationId xmlns:a16="http://schemas.microsoft.com/office/drawing/2014/main" id="{A4C7053B-7BA4-4F79-9081-D27952C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Stationary sensor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Fixed pressure, current observations and device health</a:t>
            </a:r>
          </a:p>
        </p:txBody>
      </p:sp>
      <p:sp>
        <p:nvSpPr>
          <p:cNvPr id="22" name="input-external">
            <a:extLst xmlns:a="http://schemas.openxmlformats.org/drawingml/2006/main">
              <a:ext uri="{FF2B5EF4-FFF2-40B4-BE49-F238E27FC236}">
                <a16:creationId xmlns:a16="http://schemas.microsoft.com/office/drawing/2014/main" id="{340151D2-1EDE-4E1A-BF6D-222B41EA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data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Open-Meteo weather and marine observations</a:t>
            </a:r>
          </a:p>
        </p:txBody>
      </p:sp>
      <p:sp>
        <p:nvSpPr>
          <p:cNvPr id="23" name="input-responder">
            <a:extLst xmlns:a="http://schemas.openxmlformats.org/drawingml/2006/main">
              <a:ext uri="{FF2B5EF4-FFF2-40B4-BE49-F238E27FC236}">
                <a16:creationId xmlns:a16="http://schemas.microsoft.com/office/drawing/2014/main" id="{5AD7798E-89EA-47C8-B200-45CD7D6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actions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resolution and searched sectors</a:t>
            </a:r>
          </a:p>
        </p:txBody>
      </p:sp>
      <p:sp>
        <p:nvSpPr>
          <p:cNvPr id="24" name="transport-phone">
            <a:extLst xmlns:a="http://schemas.openxmlformats.org/drawingml/2006/main">
              <a:ext uri="{FF2B5EF4-FFF2-40B4-BE49-F238E27FC236}">
                <a16:creationId xmlns:a16="http://schemas.microsoft.com/office/drawing/2014/main" id="{65C02CEA-3A97-4CC9-85EB-A276DE9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266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SQLite outbox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Persists an SOS before any network attempt
Delivery state: SAVED</a:t>
            </a:r>
          </a:p>
        </p:txBody>
      </p:sp>
      <p:sp>
        <p:nvSpPr>
          <p:cNvPr id="25" name="transport-direct">
            <a:extLst xmlns:a="http://schemas.openxmlformats.org/drawingml/2006/main">
              <a:ext uri="{FF2B5EF4-FFF2-40B4-BE49-F238E27FC236}">
                <a16:creationId xmlns:a16="http://schemas.microsoft.com/office/drawing/2014/main" id="{26D52591-77FC-4810-A74A-DB97483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9240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8558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Direct internet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HTTPS when cellular or WiFi internet is available</a:t>
            </a:r>
          </a:p>
        </p:txBody>
      </p:sp>
      <p:sp>
        <p:nvSpPr>
          <p:cNvPr id="26" name="transport-pod">
            <a:extLst xmlns:a="http://schemas.openxmlformats.org/drawingml/2006/main">
              <a:ext uri="{FF2B5EF4-FFF2-40B4-BE49-F238E27FC236}">
                <a16:creationId xmlns:a16="http://schemas.microsoft.com/office/drawing/2014/main" id="{F76115A5-D136-4F7F-8D0F-80613CD1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 flash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Accepts before acknowledgement and retries after outages
Delivery state: RELAYED</a:t>
            </a:r>
          </a:p>
        </p:txBody>
      </p:sp>
      <p:sp>
        <p:nvSpPr>
          <p:cNvPr id="27" name="transport-relay">
            <a:extLst xmlns:a="http://schemas.openxmlformats.org/drawingml/2006/main">
              <a:ext uri="{FF2B5EF4-FFF2-40B4-BE49-F238E27FC236}">
                <a16:creationId xmlns:a16="http://schemas.microsoft.com/office/drawing/2014/main" id="{B2DEE6D8-1943-4B55-93BB-8FDD687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2143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Optional 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TTL flooding and duplicate suppression only where field tests justify it</a:t>
            </a:r>
          </a:p>
        </p:txBody>
      </p:sp>
      <p:sp>
        <p:nvSpPr>
          <p:cNvPr id="28" name="transport-gateway">
            <a:extLst xmlns:a="http://schemas.openxmlformats.org/drawingml/2006/main">
              <a:ext uri="{FF2B5EF4-FFF2-40B4-BE49-F238E27FC236}">
                <a16:creationId xmlns:a16="http://schemas.microsoft.com/office/drawing/2014/main" id="{A3574406-5130-4E41-B8BA-E151089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Tall shoreline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Verifies LoAM signature, maps device identity and forwards over HTTPS</a:t>
            </a:r>
          </a:p>
        </p:txBody>
      </p:sp>
      <p:sp>
        <p:nvSpPr>
          <p:cNvPr id="29" name="transport-return">
            <a:extLst xmlns:a="http://schemas.openxmlformats.org/drawingml/2006/main">
              <a:ext uri="{FF2B5EF4-FFF2-40B4-BE49-F238E27FC236}">
                <a16:creationId xmlns:a16="http://schemas.microsoft.com/office/drawing/2014/main" id="{E9E8288C-3E14-4D8C-8A95-BE0F5B81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95750"/>
            <a:ext cx="1666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Return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Warnings, acknowledgement and ETA when radio or internet is available</a:t>
            </a:r>
          </a:p>
        </p:txBody>
      </p:sp>
      <p:cxnSp>
        <p:nvCxnSpPr>
          <p:cNvPr id="161" name="mobile-input-to-outbox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571625" y="2705100"/>
            <a:ext cx="152400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2" name="pod-input-to-queue"/>
          <p:cNvCxnSpPr>
            <a:stCxn xmlns:a="http://schemas.openxmlformats.org/drawingml/2006/main" id="2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067175" y="2705100"/>
            <a:ext cx="481013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3" name="sensor-input-to-relay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562725" y="2705100"/>
            <a:ext cx="509588" cy="2486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64" name="phone-to-pod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857500" y="45958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4" name="label-wifi">
            <a:extLst xmlns:a="http://schemas.openxmlformats.org/drawingml/2006/main">
              <a:ext uri="{FF2B5EF4-FFF2-40B4-BE49-F238E27FC236}">
                <a16:creationId xmlns:a16="http://schemas.microsoft.com/office/drawing/2014/main" id="{85757C16-A5EF-4B4E-A699-96C1F835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WIFI HTTP</a:t>
            </a:r>
          </a:p>
        </p:txBody>
      </p:sp>
      <p:cxnSp>
        <p:nvCxnSpPr>
          <p:cNvPr id="166" name="phone-to-direct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24025" y="50958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7" name="pod-direct-lora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62625" y="45958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7" name="label-direct-lora">
            <a:extLst xmlns:a="http://schemas.openxmlformats.org/drawingml/2006/main">
              <a:ext uri="{FF2B5EF4-FFF2-40B4-BE49-F238E27FC236}">
                <a16:creationId xmlns:a16="http://schemas.microsoft.com/office/drawing/2014/main" id="{96615480-88C6-4586-8033-0AD229E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cxnSp>
        <p:nvCxnSpPr>
          <p:cNvPr id="169" name="pod-to-relay"/>
          <p:cNvCxnSpPr>
            <a:stCxn xmlns:a="http://schemas.openxmlformats.org/drawingml/2006/main" id="26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548188" y="5095875"/>
            <a:ext cx="1452563" cy="4572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70" name="relay-to-gateway"/>
          <p:cNvCxnSpPr>
            <a:stCxn xmlns:a="http://schemas.openxmlformats.org/drawingml/2006/main" id="27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8143875" y="5095875"/>
            <a:ext cx="1595438" cy="4572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0" name="label-optional-relay">
            <a:extLst xmlns:a="http://schemas.openxmlformats.org/drawingml/2006/main">
              <a:ext uri="{FF2B5EF4-FFF2-40B4-BE49-F238E27FC236}">
                <a16:creationId xmlns:a16="http://schemas.microsoft.com/office/drawing/2014/main" id="{315493B7-68CC-4463-97BF-E164C8A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626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OPTIONAL RELAY</a:t>
            </a:r>
          </a:p>
        </p:txBody>
      </p:sp>
      <p:cxnSp>
        <p:nvCxnSpPr>
          <p:cNvPr id="172" name="gateway-return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953750" y="459581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2" name="backend-api">
            <a:extLst xmlns:a="http://schemas.openxmlformats.org/drawingml/2006/main">
              <a:ext uri="{FF2B5EF4-FFF2-40B4-BE49-F238E27FC236}">
                <a16:creationId xmlns:a16="http://schemas.microsoft.com/office/drawing/2014/main" id="{753719BC-7695-4238-B78B-7A11A57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72300"/>
            <a:ext cx="7239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application services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Authentication and roles  |  validation and deduplication  |  SOS, sensor and trip ingest  |  incident, advisory and audit workflows</a:t>
            </a:r>
          </a:p>
        </p:txBody>
      </p:sp>
      <p:sp>
        <p:nvSpPr>
          <p:cNvPr id="43" name="backend-db">
            <a:extLst xmlns:a="http://schemas.openxmlformats.org/drawingml/2006/main">
              <a:ext uri="{FF2B5EF4-FFF2-40B4-BE49-F238E27FC236}">
                <a16:creationId xmlns:a16="http://schemas.microsoft.com/office/drawing/2014/main" id="{190D99C2-1A41-4A0B-90A6-31A264A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972300"/>
            <a:ext cx="3000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SOS and responder actions
Trips and contact events
Sensor, advisory, model and audit records</a:t>
            </a:r>
          </a:p>
        </p:txBody>
      </p:sp>
      <p:sp>
        <p:nvSpPr>
          <p:cNvPr id="44" name="backend-polling">
            <a:extLst xmlns:a="http://schemas.openxmlformats.org/drawingml/2006/main">
              <a:ext uri="{FF2B5EF4-FFF2-40B4-BE49-F238E27FC236}">
                <a16:creationId xmlns:a16="http://schemas.microsoft.com/office/drawing/2014/main" id="{EEAD35E3-DDF7-475B-8733-3EC85A2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91500"/>
            <a:ext cx="43338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3335">
            <a:solidFill>
              <a:srgbClr val="395EB7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Current dashboard path: protected REST polling every 3 seconds</a:t>
            </a:r>
          </a:p>
        </p:txBody>
      </p:sp>
      <p:cxnSp>
        <p:nvCxnSpPr>
          <p:cNvPr id="176" name="gateway-to-api"/>
          <p:cNvCxnSpPr>
            <a:stCxn xmlns:a="http://schemas.openxmlformats.org/drawingml/2006/main" id="28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5095875"/>
            <a:ext cx="5119688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6" name="label-https">
            <a:extLst xmlns:a="http://schemas.openxmlformats.org/drawingml/2006/main">
              <a:ext uri="{FF2B5EF4-FFF2-40B4-BE49-F238E27FC236}">
                <a16:creationId xmlns:a16="http://schemas.microsoft.com/office/drawing/2014/main" id="{C78E96DB-A042-4CB4-93C9-087967B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579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178" name="direct-to-api"/>
          <p:cNvCxnSpPr>
            <a:stCxn xmlns:a="http://schemas.openxmlformats.org/drawingml/2006/main" id="25" idx="2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1000125" y="5876925"/>
            <a:ext cx="723900" cy="16430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9" name="external-to-api"/>
          <p:cNvCxnSpPr>
            <a:stCxn xmlns:a="http://schemas.openxmlformats.org/drawingml/2006/main" id="22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2705100"/>
            <a:ext cx="4438650" cy="426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0" name="responder-to-api"/>
          <p:cNvCxnSpPr>
            <a:stCxn xmlns:a="http://schemas.openxmlformats.org/drawingml/2006/main" id="23" idx="2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8239125" y="2705100"/>
            <a:ext cx="3314700" cy="48148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1" name="api-to-db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39125" y="7519988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EB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1" name="lane-sos-header">
            <a:extLst xmlns:a="http://schemas.openxmlformats.org/drawingml/2006/main">
              <a:ext uri="{FF2B5EF4-FFF2-40B4-BE49-F238E27FC236}">
                <a16:creationId xmlns:a16="http://schemas.microsoft.com/office/drawing/2014/main" id="{0FDF13EF-6189-48C3-BC2B-AB3886C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AI-independent emergency path</a:t>
            </a:r>
          </a:p>
        </p:txBody>
      </p:sp>
      <p:sp>
        <p:nvSpPr>
          <p:cNvPr id="52" name="lane-weather-header">
            <a:extLst xmlns:a="http://schemas.openxmlformats.org/drawingml/2006/main">
              <a:ext uri="{FF2B5EF4-FFF2-40B4-BE49-F238E27FC236}">
                <a16:creationId xmlns:a16="http://schemas.microsoft.com/office/drawing/2014/main" id="{E9DBC8AD-290D-47F7-BBCF-8E97D20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warning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and marine danger</a:t>
            </a:r>
          </a:p>
        </p:txBody>
      </p:sp>
      <p:sp>
        <p:nvSpPr>
          <p:cNvPr id="53" name="lane-trip-header">
            <a:extLst xmlns:a="http://schemas.openxmlformats.org/drawingml/2006/main">
              <a:ext uri="{FF2B5EF4-FFF2-40B4-BE49-F238E27FC236}">
                <a16:creationId xmlns:a16="http://schemas.microsoft.com/office/drawing/2014/main" id="{08F66DBE-D420-471B-9BB7-A9F724D3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Trip anomaly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Overdue verification support</a:t>
            </a:r>
          </a:p>
        </p:txBody>
      </p:sp>
      <p:sp>
        <p:nvSpPr>
          <p:cNvPr id="54" name="lane-drift-header">
            <a:extLst xmlns:a="http://schemas.openxmlformats.org/drawingml/2006/main">
              <a:ext uri="{FF2B5EF4-FFF2-40B4-BE49-F238E27FC236}">
                <a16:creationId xmlns:a16="http://schemas.microsoft.com/office/drawing/2014/main" id="{3EC155DD-1DD9-41F7-B846-05B516C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Drift and search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Physics-based decision support</a:t>
            </a:r>
          </a:p>
        </p:txBody>
      </p:sp>
      <p:sp>
        <p:nvSpPr>
          <p:cNvPr id="55" name="lane-catch-header">
            <a:extLst xmlns:a="http://schemas.openxmlformats.org/drawingml/2006/main">
              <a:ext uri="{FF2B5EF4-FFF2-40B4-BE49-F238E27FC236}">
                <a16:creationId xmlns:a16="http://schemas.microsoft.com/office/drawing/2014/main" id="{AFD35D24-1598-47B5-9A4A-8725D6BB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activity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Separate optional data purpose</a:t>
            </a:r>
          </a:p>
        </p:txBody>
      </p:sp>
      <p:sp>
        <p:nvSpPr>
          <p:cNvPr id="56" name="sos-validate">
            <a:extLst xmlns:a="http://schemas.openxmlformats.org/drawingml/2006/main">
              <a:ext uri="{FF2B5EF4-FFF2-40B4-BE49-F238E27FC236}">
                <a16:creationId xmlns:a16="http://schemas.microsoft.com/office/drawing/2014/main" id="{573EA544-03C5-4EEE-A877-349B1349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 distress even before vessel registration</a:t>
            </a:r>
          </a:p>
        </p:txBody>
      </p:sp>
      <p:sp>
        <p:nvSpPr>
          <p:cNvPr id="57" name="sos-persist">
            <a:extLst xmlns:a="http://schemas.openxmlformats.org/drawingml/2006/main">
              <a:ext uri="{FF2B5EF4-FFF2-40B4-BE49-F238E27FC236}">
                <a16:creationId xmlns:a16="http://schemas.microsoft.com/office/drawing/2014/main" id="{786F1CE8-C4E6-44A5-AC6C-BE3C84C2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becomes authority for DELIVERED</a:t>
            </a:r>
          </a:p>
        </p:txBody>
      </p:sp>
      <p:sp>
        <p:nvSpPr>
          <p:cNvPr id="58" name="sos-dispatch">
            <a:extLst xmlns:a="http://schemas.openxmlformats.org/drawingml/2006/main">
              <a:ext uri="{FF2B5EF4-FFF2-40B4-BE49-F238E27FC236}">
                <a16:creationId xmlns:a16="http://schemas.microsoft.com/office/drawing/2014/main" id="{84C32B3F-853B-4E56-B9F9-1FDF049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workflow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reply and resolution</a:t>
            </a:r>
          </a:p>
        </p:txBody>
      </p:sp>
      <p:sp>
        <p:nvSpPr>
          <p:cNvPr id="59" name="sos-result">
            <a:extLst xmlns:a="http://schemas.openxmlformats.org/drawingml/2006/main">
              <a:ext uri="{FF2B5EF4-FFF2-40B4-BE49-F238E27FC236}">
                <a16:creationId xmlns:a16="http://schemas.microsoft.com/office/drawing/2014/main" id="{7BD760A7-20E9-425F-8F93-6281D6A5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3335">
            <a:solidFill>
              <a:srgbClr val="C73F4D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  •  ACKNOWLEDGED</a:t>
            </a:r>
          </a:p>
        </p:txBody>
      </p:sp>
      <p:sp>
        <p:nvSpPr>
          <p:cNvPr id="60" name="weather-quality">
            <a:extLst xmlns:a="http://schemas.openxmlformats.org/drawingml/2006/main">
              <a:ext uri="{FF2B5EF4-FFF2-40B4-BE49-F238E27FC236}">
                <a16:creationId xmlns:a16="http://schemas.microsoft.com/office/drawing/2014/main" id="{C8219823-95C3-4A10-8271-F34D963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 gate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Reject stale, missing or insufficient observations</a:t>
            </a:r>
          </a:p>
        </p:txBody>
      </p:sp>
      <p:sp>
        <p:nvSpPr>
          <p:cNvPr id="61" name="weather-models">
            <a:extLst xmlns:a="http://schemas.openxmlformats.org/drawingml/2006/main">
              <a:ext uri="{FF2B5EF4-FFF2-40B4-BE49-F238E27FC236}">
                <a16:creationId xmlns:a16="http://schemas.microsoft.com/office/drawing/2014/main" id="{5174C106-4615-41E6-A403-AA6E0245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Two distinct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squall nowcast
Browser danger-zone GBDT</a:t>
            </a:r>
          </a:p>
        </p:txBody>
      </p:sp>
      <p:sp>
        <p:nvSpPr>
          <p:cNvPr id="62" name="weather-advisory">
            <a:extLst xmlns:a="http://schemas.openxmlformats.org/drawingml/2006/main">
              <a:ext uri="{FF2B5EF4-FFF2-40B4-BE49-F238E27FC236}">
                <a16:creationId xmlns:a16="http://schemas.microsoft.com/office/drawing/2014/main" id="{3E0F52F8-0687-42B7-8D61-CFE97E34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candidate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Shows source, age, confidence and limitations</a:t>
            </a:r>
          </a:p>
        </p:txBody>
      </p:sp>
      <p:sp>
        <p:nvSpPr>
          <p:cNvPr id="63" name="weather-result">
            <a:extLst xmlns:a="http://schemas.openxmlformats.org/drawingml/2006/main">
              <a:ext uri="{FF2B5EF4-FFF2-40B4-BE49-F238E27FC236}">
                <a16:creationId xmlns:a16="http://schemas.microsoft.com/office/drawing/2014/main" id="{07B4A0F6-D9F9-44B7-B52C-D463740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9210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WARNING / RETURN NOW CANDIDATE</a:t>
            </a:r>
          </a:p>
        </p:txBody>
      </p:sp>
      <p:sp>
        <p:nvSpPr>
          <p:cNvPr id="64" name="trip-history">
            <a:extLst xmlns:a="http://schemas.openxmlformats.org/drawingml/2006/main">
              <a:ext uri="{FF2B5EF4-FFF2-40B4-BE49-F238E27FC236}">
                <a16:creationId xmlns:a16="http://schemas.microsoft.com/office/drawing/2014/main" id="{FB6EB81A-4BB3-4E95-A171-86459F4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Only observations at or before decision time</a:t>
            </a:r>
          </a:p>
        </p:txBody>
      </p:sp>
      <p:sp>
        <p:nvSpPr>
          <p:cNvPr id="65" name="trip-profile">
            <a:extLst xmlns:a="http://schemas.openxmlformats.org/drawingml/2006/main">
              <a:ext uri="{FF2B5EF4-FFF2-40B4-BE49-F238E27FC236}">
                <a16:creationId xmlns:a16="http://schemas.microsoft.com/office/drawing/2014/main" id="{17776817-83A6-476A-9891-0910A64C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Compares duration and route against that vessel</a:t>
            </a:r>
          </a:p>
        </p:txBody>
      </p:sp>
      <p:sp>
        <p:nvSpPr>
          <p:cNvPr id="66" name="trip-case">
            <a:extLst xmlns:a="http://schemas.openxmlformats.org/drawingml/2006/main">
              <a:ext uri="{FF2B5EF4-FFF2-40B4-BE49-F238E27FC236}">
                <a16:creationId xmlns:a16="http://schemas.microsoft.com/office/drawing/2014/main" id="{7E295D39-9DF4-40F8-9C55-9A07233F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Silence alone never proves distress</a:t>
            </a:r>
          </a:p>
        </p:txBody>
      </p:sp>
      <p:sp>
        <p:nvSpPr>
          <p:cNvPr id="67" name="trip-result">
            <a:extLst xmlns:a="http://schemas.openxmlformats.org/drawingml/2006/main">
              <a:ext uri="{FF2B5EF4-FFF2-40B4-BE49-F238E27FC236}">
                <a16:creationId xmlns:a16="http://schemas.microsoft.com/office/drawing/2014/main" id="{E0E4494B-49AE-4829-A9A2-F4A58A8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 CASE</a:t>
            </a:r>
          </a:p>
        </p:txBody>
      </p:sp>
      <p:sp>
        <p:nvSpPr>
          <p:cNvPr id="68" name="drift-datum">
            <a:extLst xmlns:a="http://schemas.openxmlformats.org/drawingml/2006/main">
              <a:ext uri="{FF2B5EF4-FFF2-40B4-BE49-F238E27FC236}">
                <a16:creationId xmlns:a16="http://schemas.microsoft.com/office/drawing/2014/main" id="{C1F74201-516A-4278-86B2-05DEE16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 datum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Last reliable fix, object class, wind, current and coastline</a:t>
            </a:r>
          </a:p>
        </p:txBody>
      </p:sp>
      <p:sp>
        <p:nvSpPr>
          <p:cNvPr id="69" name="drift-model">
            <a:extLst xmlns:a="http://schemas.openxmlformats.org/drawingml/2006/main">
              <a:ext uri="{FF2B5EF4-FFF2-40B4-BE49-F238E27FC236}">
                <a16:creationId xmlns:a16="http://schemas.microsoft.com/office/drawing/2014/main" id="{1B6D9823-B23F-4E62-8BDF-44F866AF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Particle paths with land stranding and uncertainty</a:t>
            </a:r>
          </a:p>
        </p:txBody>
      </p:sp>
      <p:sp>
        <p:nvSpPr>
          <p:cNvPr id="70" name="drift-search">
            <a:extLst xmlns:a="http://schemas.openxmlformats.org/drawingml/2006/main">
              <a:ext uri="{FF2B5EF4-FFF2-40B4-BE49-F238E27FC236}">
                <a16:creationId xmlns:a16="http://schemas.microsoft.com/office/drawing/2014/main" id="{435E53AF-8E0E-4006-8B88-BC62F6E8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Negative search evidence shifts remaining probability</a:t>
            </a:r>
          </a:p>
        </p:txBody>
      </p:sp>
      <p:sp>
        <p:nvSpPr>
          <p:cNvPr id="71" name="drift-result">
            <a:extLst xmlns:a="http://schemas.openxmlformats.org/drawingml/2006/main">
              <a:ext uri="{FF2B5EF4-FFF2-40B4-BE49-F238E27FC236}">
                <a16:creationId xmlns:a16="http://schemas.microsoft.com/office/drawing/2014/main" id="{42344A08-2991-4291-A569-8E355FA3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50 / 75 / 95% SEARCH CONTOURS</a:t>
            </a:r>
          </a:p>
        </p:txBody>
      </p:sp>
      <p:sp>
        <p:nvSpPr>
          <p:cNvPr id="72" name="catch-consent">
            <a:extLst xmlns:a="http://schemas.openxmlformats.org/drawingml/2006/main">
              <a:ext uri="{FF2B5EF4-FFF2-40B4-BE49-F238E27FC236}">
                <a16:creationId xmlns:a16="http://schemas.microsoft.com/office/drawing/2014/main" id="{EC0F04E5-FEDB-4CCA-9A2A-60A65BEE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Explicitly consented logs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Safety access never depends on participation</a:t>
            </a:r>
          </a:p>
        </p:txBody>
      </p:sp>
      <p:sp>
        <p:nvSpPr>
          <p:cNvPr id="73" name="catch-privacy">
            <a:extLst xmlns:a="http://schemas.openxmlformats.org/drawingml/2006/main">
              <a:ext uri="{FF2B5EF4-FFF2-40B4-BE49-F238E27FC236}">
                <a16:creationId xmlns:a16="http://schemas.microsoft.com/office/drawing/2014/main" id="{37047385-CA5F-46CE-917A-71085927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Coarse cells and minimum independent reporters</a:t>
            </a:r>
          </a:p>
        </p:txBody>
      </p:sp>
      <p:sp>
        <p:nvSpPr>
          <p:cNvPr id="74" name="catch-activity">
            <a:extLst xmlns:a="http://schemas.openxmlformats.org/drawingml/2006/main">
              <a:ext uri="{FF2B5EF4-FFF2-40B4-BE49-F238E27FC236}">
                <a16:creationId xmlns:a16="http://schemas.microsoft.com/office/drawing/2014/main" id="{7B7C89F9-1B60-4A12-A8D7-8EA665FA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No guaranteed catch and no exact public locations</a:t>
            </a:r>
          </a:p>
        </p:txBody>
      </p:sp>
      <p:sp>
        <p:nvSpPr>
          <p:cNvPr id="75" name="catch-result">
            <a:extLst xmlns:a="http://schemas.openxmlformats.org/drawingml/2006/main">
              <a:ext uri="{FF2B5EF4-FFF2-40B4-BE49-F238E27FC236}">
                <a16:creationId xmlns:a16="http://schemas.microsoft.com/office/drawing/2014/main" id="{09641966-7654-44C9-85A9-092B53B0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3335">
            <a:solidFill>
              <a:srgbClr val="2F7D54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COARSE ACTIVITY VIEW</a:t>
            </a:r>
          </a:p>
        </p:txBody>
      </p:sp>
      <p:cxnSp>
        <p:nvCxnSpPr>
          <p:cNvPr id="207" name="sos-flow-1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609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8" name="sos-flow-2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609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9" name="sos-flow-3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609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0" name="weather-flow-1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086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1" name="weather-flow-2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4086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2" name="weather-flow-3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086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3" name="trip-flow-1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562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4" name="trip-flow-2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562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5" name="trip-flow-3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6562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6" name="drift-flow-1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9039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7" name="drift-flow-2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9039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8" name="drift-flow-3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9039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9" name="catch-flow-1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1515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0" name="catch-flow-2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515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1" name="catch-flow-3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1515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2" name="api-to-sos"/>
          <p:cNvCxnSpPr>
            <a:stCxn xmlns:a="http://schemas.openxmlformats.org/drawingml/2006/main" id="42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1609725" y="8067675"/>
            <a:ext cx="30099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3" name="api-to-weather"/>
          <p:cNvCxnSpPr>
            <a:stCxn xmlns:a="http://schemas.openxmlformats.org/drawingml/2006/main" id="42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4086225" y="8067675"/>
            <a:ext cx="5334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4" name="api-to-trip"/>
          <p:cNvCxnSpPr>
            <a:stCxn xmlns:a="http://schemas.openxmlformats.org/drawingml/2006/main" id="4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4619625" y="8067675"/>
            <a:ext cx="19431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5" name="api-to-drift"/>
          <p:cNvCxnSpPr>
            <a:stCxn xmlns:a="http://schemas.openxmlformats.org/drawingml/2006/main" id="42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4619625" y="8067675"/>
            <a:ext cx="44196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6" name="api-to-catch"/>
          <p:cNvCxnSpPr>
            <a:stCxn xmlns:a="http://schemas.openxmlformats.org/drawingml/2006/main" id="4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619625" y="8067675"/>
            <a:ext cx="68961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7" name="sos-header-to-flow"/>
          <p:cNvCxnSpPr>
            <a:stCxn xmlns:a="http://schemas.openxmlformats.org/drawingml/2006/main" id="51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609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8" name="weather-header-to-flow"/>
          <p:cNvCxnSpPr>
            <a:stCxn xmlns:a="http://schemas.openxmlformats.org/drawingml/2006/main" id="52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40862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9" name="trip-header-to-flow"/>
          <p:cNvCxnSpPr>
            <a:stCxn xmlns:a="http://schemas.openxmlformats.org/drawingml/2006/main" id="5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6562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0" name="drift-header-to-flow"/>
          <p:cNvCxnSpPr>
            <a:stCxn xmlns:a="http://schemas.openxmlformats.org/drawingml/2006/main" id="54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90392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1" name="catch-header-to-flow"/>
          <p:cNvCxnSpPr>
            <a:stCxn xmlns:a="http://schemas.openxmlformats.org/drawingml/2006/main" id="55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1515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1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3A5803F4-BC7C-478F-83E6-2184265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573250"/>
            <a:ext cx="5334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OUTPUTS ADVISE; AUTHORIZED PEOPLE DECIDE</a:t>
            </a:r>
          </a:p>
        </p:txBody>
      </p:sp>
      <p:sp>
        <p:nvSpPr>
          <p:cNvPr id="102" name="decision-caveat">
            <a:extLst xmlns:a="http://schemas.openxmlformats.org/drawingml/2006/main">
              <a:ext uri="{FF2B5EF4-FFF2-40B4-BE49-F238E27FC236}">
                <a16:creationId xmlns:a16="http://schemas.microsoft.com/office/drawing/2014/main" id="{7037136D-D343-4803-A10D-617D2A05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01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calibration is synthetic. Drift awaits live buoy current telemetry. Catch workflow remains a pilot foundation.</a:t>
            </a:r>
          </a:p>
        </p:txBody>
      </p:sp>
      <p:sp>
        <p:nvSpPr>
          <p:cNvPr id="103" name="output-mobile">
            <a:extLst xmlns:a="http://schemas.openxmlformats.org/drawingml/2006/main">
              <a:ext uri="{FF2B5EF4-FFF2-40B4-BE49-F238E27FC236}">
                <a16:creationId xmlns:a16="http://schemas.microsoft.com/office/drawing/2014/main" id="{CDEC7162-6D78-4A6A-AA35-4492FEC6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Delivery states and responder ETA
Warnings and forecast freshness
Optional coarse activity</a:t>
            </a:r>
          </a:p>
        </p:txBody>
      </p:sp>
      <p:sp>
        <p:nvSpPr>
          <p:cNvPr id="104" name="output-dashboard">
            <a:extLst xmlns:a="http://schemas.openxmlformats.org/drawingml/2006/main">
              <a:ext uri="{FF2B5EF4-FFF2-40B4-BE49-F238E27FC236}">
                <a16:creationId xmlns:a16="http://schemas.microsoft.com/office/drawing/2014/main" id="{79F98C68-E1C4-4D88-B77B-497D618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/ PCG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Live SOS and acknowledgement
Overdue review and drift contours
Network and feed freshness</a:t>
            </a:r>
          </a:p>
        </p:txBody>
      </p:sp>
      <p:sp>
        <p:nvSpPr>
          <p:cNvPr id="105" name="output-lgu">
            <a:extLst xmlns:a="http://schemas.openxmlformats.org/drawingml/2006/main">
              <a:ext uri="{FF2B5EF4-FFF2-40B4-BE49-F238E27FC236}">
                <a16:creationId xmlns:a16="http://schemas.microsoft.com/office/drawing/2014/main" id="{C7718109-7BCD-48EF-8F0C-266BF9D1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LGU / BFAR aggregated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Consented coarse catch activity
No identifiable safety trip trails
Pilot workflow not field validated</a:t>
            </a:r>
          </a:p>
        </p:txBody>
      </p:sp>
      <p:cxnSp>
        <p:nvCxnSpPr>
          <p:cNvPr id="237" name="sos-to-dashboard"/>
          <p:cNvCxnSpPr>
            <a:stCxn xmlns:a="http://schemas.openxmlformats.org/drawingml/2006/main" id="5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609725" y="13963650"/>
            <a:ext cx="5057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8" name="weather-to-mobile"/>
          <p:cNvCxnSpPr>
            <a:stCxn xmlns:a="http://schemas.openxmlformats.org/drawingml/2006/main" id="63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2428875" y="13963650"/>
            <a:ext cx="16573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9" name="trip-to-dashboard"/>
          <p:cNvCxnSpPr>
            <a:stCxn xmlns:a="http://schemas.openxmlformats.org/drawingml/2006/main" id="67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6562725" y="13963650"/>
            <a:ext cx="104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0" name="drift-to-dashboard"/>
          <p:cNvCxnSpPr>
            <a:stCxn xmlns:a="http://schemas.openxmlformats.org/drawingml/2006/main" id="71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 flipH="1">
            <a:off x="6667500" y="13963650"/>
            <a:ext cx="237172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1" name="catch-to-lgu"/>
          <p:cNvCxnSpPr>
            <a:stCxn xmlns:a="http://schemas.openxmlformats.org/drawingml/2006/main" id="75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 flipH="1">
            <a:off x="10906125" y="13963650"/>
            <a:ext cx="60960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2" name="catch-to-mobile"/>
          <p:cNvCxnSpPr>
            <a:stCxn xmlns:a="http://schemas.openxmlformats.org/drawingml/2006/main" id="75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2428875" y="13963650"/>
            <a:ext cx="90868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43" name="dashboard-to-mobile"/>
          <p:cNvCxnSpPr>
            <a:stCxn xmlns:a="http://schemas.openxmlformats.org/drawingml/2006/main" id="104" idx="1"/>
            <a:endCxn xmlns:a="http://schemas.openxmlformats.org/drawingml/2006/main" id="103" idx="3"/>
          </p:cNvCxnSpPr>
          <p:nvPr/>
        </p:nvCxnSpPr>
        <p:spPr>
          <a:xfrm xmlns:a="http://schemas.openxmlformats.org/drawingml/2006/main" flipH="1">
            <a:off x="4048125" y="169783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13" name="label-return-user">
            <a:extLst xmlns:a="http://schemas.openxmlformats.org/drawingml/2006/main">
              <a:ext uri="{FF2B5EF4-FFF2-40B4-BE49-F238E27FC236}">
                <a16:creationId xmlns:a16="http://schemas.microsoft.com/office/drawing/2014/main" id="{0BE19215-1BDA-4C61-A591-14A9197E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792700"/>
            <a:ext cx="3905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ACK, ETA AND WARNINGS WHEN A RETURN PATH EXISTS</a:t>
            </a:r>
          </a:p>
        </p:txBody>
      </p:sp>
      <p:sp>
        <p:nvSpPr>
          <p:cNvPr id="114" name="authority-pill">
            <a:extLst xmlns:a="http://schemas.openxmlformats.org/drawingml/2006/main">
              <a:ext uri="{FF2B5EF4-FFF2-40B4-BE49-F238E27FC236}">
                <a16:creationId xmlns:a16="http://schemas.microsoft.com/office/drawing/2014/main" id="{544F37DB-ABC0-4496-83F9-26244EA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983200"/>
            <a:ext cx="7334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3335">
            <a:solidFill>
              <a:srgbClr val="1D7C7A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 creates ACKNOWLEDGED. Resolution remains a separate incident state.</a:t>
            </a:r>
          </a:p>
        </p:txBody>
      </p:sp>
      <p:sp>
        <p:nvSpPr>
          <p:cNvPr id="115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21DDAA35-89F2-4AF0-A2B0-4C76C958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07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116" name="legend-hardware-dot">
            <a:extLst xmlns:a="http://schemas.openxmlformats.org/drawingml/2006/main">
              <a:ext uri="{FF2B5EF4-FFF2-40B4-BE49-F238E27FC236}">
                <a16:creationId xmlns:a16="http://schemas.microsoft.com/office/drawing/2014/main" id="{10B02798-60A4-4D61-AFA6-0867A96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17" name="legend-hardware-label">
            <a:extLst xmlns:a="http://schemas.openxmlformats.org/drawingml/2006/main">
              <a:ext uri="{FF2B5EF4-FFF2-40B4-BE49-F238E27FC236}">
                <a16:creationId xmlns:a16="http://schemas.microsoft.com/office/drawing/2014/main" id="{536193C3-25DF-41BD-ABB8-EF3A229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Field / edge</a:t>
            </a:r>
          </a:p>
        </p:txBody>
      </p:sp>
      <p:sp>
        <p:nvSpPr>
          <p:cNvPr id="118" name="legend-backend-dot">
            <a:extLst xmlns:a="http://schemas.openxmlformats.org/drawingml/2006/main">
              <a:ext uri="{FF2B5EF4-FFF2-40B4-BE49-F238E27FC236}">
                <a16:creationId xmlns:a16="http://schemas.microsoft.com/office/drawing/2014/main" id="{683E6F6B-62A5-455E-9459-72BE017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9525">
            <a:solidFill>
              <a:srgbClr val="395EB7"/>
            </a:solidFill>
            <a:prstDash val="solid"/>
          </a:ln>
        </p:spPr>
      </p:sp>
      <p:sp>
        <p:nvSpPr>
          <p:cNvPr id="119" name="legend-backend-label">
            <a:extLst xmlns:a="http://schemas.openxmlformats.org/drawingml/2006/main">
              <a:ext uri="{FF2B5EF4-FFF2-40B4-BE49-F238E27FC236}">
                <a16:creationId xmlns:a16="http://schemas.microsoft.com/office/drawing/2014/main" id="{5A4896D6-91EF-4114-AAD0-B6B16FE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/ data</a:t>
            </a:r>
          </a:p>
        </p:txBody>
      </p:sp>
      <p:sp>
        <p:nvSpPr>
          <p:cNvPr id="120" name="legend-ai-dot">
            <a:extLst xmlns:a="http://schemas.openxmlformats.org/drawingml/2006/main">
              <a:ext uri="{FF2B5EF4-FFF2-40B4-BE49-F238E27FC236}">
                <a16:creationId xmlns:a16="http://schemas.microsoft.com/office/drawing/2014/main" id="{2076F311-6FE7-4657-B088-D0A0FC2A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BFA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121" name="legend-ai-label">
            <a:extLst xmlns:a="http://schemas.openxmlformats.org/drawingml/2006/main">
              <a:ext uri="{FF2B5EF4-FFF2-40B4-BE49-F238E27FC236}">
                <a16:creationId xmlns:a16="http://schemas.microsoft.com/office/drawing/2014/main" id="{32E055D1-3D58-48BF-AE14-8DEEEB7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/ simulation</a:t>
            </a:r>
          </a:p>
        </p:txBody>
      </p:sp>
      <p:sp>
        <p:nvSpPr>
          <p:cNvPr id="122" name="legend-safety-dot">
            <a:extLst xmlns:a="http://schemas.openxmlformats.org/drawingml/2006/main">
              <a:ext uri="{FF2B5EF4-FFF2-40B4-BE49-F238E27FC236}">
                <a16:creationId xmlns:a16="http://schemas.microsoft.com/office/drawing/2014/main" id="{E5F66DA8-423A-461F-BFCE-E51D884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DA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23" name="legend-safety-label">
            <a:extLst xmlns:a="http://schemas.openxmlformats.org/drawingml/2006/main">
              <a:ext uri="{FF2B5EF4-FFF2-40B4-BE49-F238E27FC236}">
                <a16:creationId xmlns:a16="http://schemas.microsoft.com/office/drawing/2014/main" id="{FF31060C-63CE-4233-9557-90F3B83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Emergency</a:t>
            </a:r>
          </a:p>
        </p:txBody>
      </p:sp>
      <p:sp>
        <p:nvSpPr>
          <p:cNvPr id="124" name="legend-external-dot">
            <a:extLst xmlns:a="http://schemas.openxmlformats.org/drawingml/2006/main">
              <a:ext uri="{FF2B5EF4-FFF2-40B4-BE49-F238E27FC236}">
                <a16:creationId xmlns:a16="http://schemas.microsoft.com/office/drawing/2014/main" id="{76D98F3E-64B5-49BB-A102-1BCFAD2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C5"/>
          </a:solidFill>
          <a:ln xmlns:a="http://schemas.openxmlformats.org/drawingml/2006/main" w="9525">
            <a:solidFill>
              <a:srgbClr val="C5872D"/>
            </a:solidFill>
            <a:prstDash val="solid"/>
          </a:ln>
        </p:spPr>
      </p:sp>
      <p:sp>
        <p:nvSpPr>
          <p:cNvPr id="125" name="legend-external-label">
            <a:extLst xmlns:a="http://schemas.openxmlformats.org/drawingml/2006/main">
              <a:ext uri="{FF2B5EF4-FFF2-40B4-BE49-F238E27FC236}">
                <a16:creationId xmlns:a16="http://schemas.microsoft.com/office/drawing/2014/main" id="{D4BFBDCD-AD85-4199-817E-D144BA75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External / human</a:t>
            </a:r>
          </a:p>
        </p:txBody>
      </p:sp>
      <p:sp>
        <p:nvSpPr>
          <p:cNvPr id="126" name="legend-output-dot">
            <a:extLst xmlns:a="http://schemas.openxmlformats.org/drawingml/2006/main">
              <a:ext uri="{FF2B5EF4-FFF2-40B4-BE49-F238E27FC236}">
                <a16:creationId xmlns:a16="http://schemas.microsoft.com/office/drawing/2014/main" id="{2406B835-7436-4EE0-94D4-208ED92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5FA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27" name="legend-output-label">
            <a:extLst xmlns:a="http://schemas.openxmlformats.org/drawingml/2006/main">
              <a:ext uri="{FF2B5EF4-FFF2-40B4-BE49-F238E27FC236}">
                <a16:creationId xmlns:a16="http://schemas.microsoft.com/office/drawing/2014/main" id="{01B5A6C0-DF21-4C70-9CE9-80401B1B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8" name="legend-fisheries-dot">
            <a:extLst xmlns:a="http://schemas.openxmlformats.org/drawingml/2006/main">
              <a:ext uri="{FF2B5EF4-FFF2-40B4-BE49-F238E27FC236}">
                <a16:creationId xmlns:a16="http://schemas.microsoft.com/office/drawing/2014/main" id="{75BC063B-1600-42D1-88CE-4A5059E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2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129" name="legend-fisheries-label">
            <a:extLst xmlns:a="http://schemas.openxmlformats.org/drawingml/2006/main">
              <a:ext uri="{FF2B5EF4-FFF2-40B4-BE49-F238E27FC236}">
                <a16:creationId xmlns:a16="http://schemas.microsoft.com/office/drawing/2014/main" id="{4CD692BA-0856-4205-ADE1-34EB246F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Fisheries</a:t>
            </a:r>
          </a:p>
        </p:txBody>
      </p:sp>
      <p:sp>
        <p:nvSpPr>
          <p:cNvPr id="130" name="legend-lines">
            <a:extLst xmlns:a="http://schemas.openxmlformats.org/drawingml/2006/main">
              <a:ext uri="{FF2B5EF4-FFF2-40B4-BE49-F238E27FC236}">
                <a16:creationId xmlns:a16="http://schemas.microsoft.com/office/drawing/2014/main" id="{6ADD57AA-5B19-4C34-86F6-218057A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431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Solid: implemented software path     Dashed: hardware, optional or return path awaiting field verification</a:t>
            </a:r>
          </a:p>
        </p:txBody>
      </p:sp>
      <p:sp>
        <p:nvSpPr>
          <p:cNvPr id="131" name="legend-status">
            <a:extLst xmlns:a="http://schemas.openxmlformats.org/drawingml/2006/main">
              <a:ext uri="{FF2B5EF4-FFF2-40B4-BE49-F238E27FC236}">
                <a16:creationId xmlns:a16="http://schemas.microsoft.com/office/drawing/2014/main" id="{B2315FBF-3628-40C0-860B-26A3A4F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4119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Current status: software is locally tested; public deployment, real-device LoRa range and local field-model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204762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2026-09-18T14:00:01.3880000Z</dcterms:created>
  <dcterms:modified xsi:type="dcterms:W3CDTF">2026-09-18T14:00:01.3880000Z</dcterms:modified>
</coreProperties>
</file>