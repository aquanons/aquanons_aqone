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0aece5ca06400f" /><Relationship Type="http://schemas.openxmlformats.org/officeDocument/2006/relationships/extended-properties" Target="/docProps/app.xml" Id="R8c7aecae91aa4ad0" /><Relationship Type="http://schemas.openxmlformats.org/officeDocument/2006/relationships/officeDocument" Target="/ppt/presentation.xml" Id="Rac045920d4614c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635ade49bb4fae"/>
  </p:sldMasterIdLst>
  <p:notesMasterIdLst>
    <p:notesMasterId xmlns:r="http://schemas.openxmlformats.org/officeDocument/2006/relationships" r:id="R1bd52fb3c0d542ea"/>
  </p:notesMasterIdLst>
  <p:sldIdLst>
    <p:sldId xmlns:r="http://schemas.openxmlformats.org/officeDocument/2006/relationships" id="256" r:id="R528fbc154bc247de"/>
    <p:sldId xmlns:r="http://schemas.openxmlformats.org/officeDocument/2006/relationships" id="257" r:id="R576fa5a7d2db4f0b"/>
    <p:sldId xmlns:r="http://schemas.openxmlformats.org/officeDocument/2006/relationships" id="258" r:id="Rdb4923fd2af64ac4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4f0fcc82734eca" /><Relationship Type="http://schemas.openxmlformats.org/officeDocument/2006/relationships/slideMaster" Target="/ppt/slideMasters/slideMaster1.xml" Id="R17635ade49bb4fae" /><Relationship Type="http://schemas.openxmlformats.org/officeDocument/2006/relationships/notesMaster" Target="/ppt/notesMasters/notesMaster1.xml" Id="R1bd52fb3c0d542ea" /><Relationship Type="http://schemas.openxmlformats.org/officeDocument/2006/relationships/presProps" Target="/ppt/presProps.xml" Id="Rc61e49a0202a4e01" /><Relationship Type="http://schemas.openxmlformats.org/officeDocument/2006/relationships/tableStyles" Target="/ppt/tableStyles.xml" Id="R1e6045b6ee9f435e" /><Relationship Type="http://schemas.openxmlformats.org/officeDocument/2006/relationships/slide" Target="/ppt/slides/slide1.xml" Id="R528fbc154bc247de" /><Relationship Type="http://schemas.openxmlformats.org/officeDocument/2006/relationships/slide" Target="/ppt/slides/slide2.xml" Id="R576fa5a7d2db4f0b" /><Relationship Type="http://schemas.openxmlformats.org/officeDocument/2006/relationships/slide" Target="/ppt/slides/slide3.xml" Id="Rdb4923fd2af64a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889f73d8f446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b7da784e494fc1" /><Relationship Type="http://schemas.openxmlformats.org/officeDocument/2006/relationships/notesMaster" Target="/ppt/notesMasters/notesMaster1.xml" Id="R4bfff4f3c57c42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aa7b5bfbc54469" /><Relationship Type="http://schemas.openxmlformats.org/officeDocument/2006/relationships/notesMaster" Target="/ppt/notesMasters/notesMaster1.xml" Id="R1de547250b4744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d910ae5a32456d" /><Relationship Type="http://schemas.openxmlformats.org/officeDocument/2006/relationships/notesMaster" Target="/ppt/notesMasters/notesMaster1.xml" Id="Rb14adaf5cc5444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docs/55_HYBRID_TRANSPORT_ARCHITECTURE_DECISION.md; docs/06_DELIVERY_STATES.md; docs/04_INGEST_API.md; docs/05_PUBLIC_API.md.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docs/06_DELIVERY_STATES.md; docs/03_PHONE_BUOY_WIFI.md; docs/04_INGEST_API.md; backend/app/api/sos.py; firmware/buoy/AqOneBuoy/AqOneBuoy.ino.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docs/Aqone_PRD (2).md; docs/17_AI_EXPLAINED_SIMPLY.md; docs/45_AI_PROSPECTIVE_EVALUATION_AND_CLAIMS.md; docs/07_SCOPE_OUT.md.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474d43f51940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dec7fbfd814479" /><Relationship Type="http://schemas.openxmlformats.org/officeDocument/2006/relationships/slideLayout" Target="/ppt/slideLayouts/slideLayout1.xml" Id="Rc1a7e8fe3bba43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a7e8fe3bba43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e572fa149d4464" /><Relationship Type="http://schemas.openxmlformats.org/officeDocument/2006/relationships/notesSlide" Target="/ppt/notesSlides/notesSlide1.xml" Id="R04847430420840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71e50a4c6940ad" /><Relationship Type="http://schemas.openxmlformats.org/officeDocument/2006/relationships/notesSlide" Target="/ppt/notesSlides/notesSlide2.xml" Id="R27003bba107a4f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3299b7d7e84fb5" /><Relationship Type="http://schemas.openxmlformats.org/officeDocument/2006/relationships/notesSlide" Target="/ppt/notesSlides/notesSlide3.xml" Id="R69064573862b420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title-1">
            <a:extLst xmlns:a="http://schemas.openxmlformats.org/drawingml/2006/main">
              <a:ext uri="{FF2B5EF4-FFF2-40B4-BE49-F238E27FC236}">
                <a16:creationId xmlns:a16="http://schemas.microsoft.com/office/drawing/2014/main" id="{1D8F2E48-9236-4BE4-AA5D-AF4A90C1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AqOne System Data Paths</a:t>
            </a:r>
          </a:p>
        </p:txBody>
      </p:sp>
      <p:sp>
        <p:nvSpPr>
          <p:cNvPr id="2" name="subtitle-1">
            <a:extLst xmlns:a="http://schemas.openxmlformats.org/drawingml/2006/main">
              <a:ext uri="{FF2B5EF4-FFF2-40B4-BE49-F238E27FC236}">
                <a16:creationId xmlns:a16="http://schemas.microsoft.com/office/drawing/2014/main" id="{ACE24C90-7F6C-4A3B-8DB4-3B0F97FA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677"/>
                </a:solidFill>
                <a:latin typeface="Arial"/>
                <a:ea typeface="Arial"/>
                <a:cs typeface="Arial"/>
              </a:rPr>
              <a:t>Separate tracks for SOS uplink, optional relay, direct internet and responder return</a:t>
            </a:r>
          </a:p>
        </p:txBody>
      </p:sp>
      <p:sp>
        <p:nvSpPr>
          <p:cNvPr id="3" name="page-marker-1">
            <a:extLst xmlns:a="http://schemas.openxmlformats.org/drawingml/2006/main">
              <a:ext uri="{FF2B5EF4-FFF2-40B4-BE49-F238E27FC236}">
                <a16:creationId xmlns:a16="http://schemas.microsoft.com/office/drawing/2014/main" id="{7AD52A19-C048-475B-95C0-0221ABB6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5950" y="285750"/>
            <a:ext cx="13525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CC"/>
          </a:solidFill>
          <a:ln xmlns:a="http://schemas.openxmlformats.org/drawingml/2006/main" w="11430">
            <a:solidFill>
              <a:srgbClr val="D4B23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1 OF 3</a:t>
            </a:r>
          </a:p>
        </p:txBody>
      </p:sp>
      <p:sp>
        <p:nvSpPr>
          <p:cNvPr id="4" name="uplink-band">
            <a:extLst xmlns:a="http://schemas.openxmlformats.org/drawingml/2006/main">
              <a:ext uri="{FF2B5EF4-FFF2-40B4-BE49-F238E27FC236}">
                <a16:creationId xmlns:a16="http://schemas.microsoft.com/office/drawing/2014/main" id="{975D0B29-83E1-4F22-BC46-2589760E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144399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8F8"/>
          </a:solidFill>
          <a:ln xmlns:a="http://schemas.openxmlformats.org/drawingml/2006/main" w="11430">
            <a:solidFill>
              <a:srgbClr val="C73F4D"/>
            </a:solidFill>
            <a:prstDash val="solid"/>
          </a:ln>
        </p:spPr>
      </p:sp>
      <p:sp>
        <p:nvSpPr>
          <p:cNvPr id="5" name="uplink-band-label">
            <a:extLst xmlns:a="http://schemas.openxmlformats.org/drawingml/2006/main">
              <a:ext uri="{FF2B5EF4-FFF2-40B4-BE49-F238E27FC236}">
                <a16:creationId xmlns:a16="http://schemas.microsoft.com/office/drawing/2014/main" id="{8E013F13-846F-49FD-8286-EE136C08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3F4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73F4D"/>
                </a:solidFill>
                <a:latin typeface="Arial"/>
                <a:ea typeface="Arial"/>
                <a:cs typeface="Arial"/>
              </a:rPr>
              <a:t>Primary SOS uplink</a:t>
            </a:r>
          </a:p>
        </p:txBody>
      </p:sp>
      <p:sp>
        <p:nvSpPr>
          <p:cNvPr id="6" name="s1-phone">
            <a:extLst xmlns:a="http://schemas.openxmlformats.org/drawingml/2006/main">
              <a:ext uri="{FF2B5EF4-FFF2-40B4-BE49-F238E27FC236}">
                <a16:creationId xmlns:a16="http://schemas.microsoft.com/office/drawing/2014/main" id="{0BFF3F41-D304-4FB1-A0A4-3C1AFF22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19526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D7DA"/>
          </a:solidFill>
          <a:ln xmlns:a="http://schemas.openxmlformats.org/drawingml/2006/main" w="15240">
            <a:solidFill>
              <a:srgbClr val="C73F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Fisher phone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B6677"/>
                </a:solidFill>
                <a:latin typeface="Arial"/>
                <a:ea typeface="Arial"/>
                <a:cs typeface="Arial"/>
              </a:rPr>
              <a:t>SQLite outbox
State: SAVED</a:t>
            </a:r>
          </a:p>
        </p:txBody>
      </p:sp>
      <p:sp>
        <p:nvSpPr>
          <p:cNvPr id="7" name="s1-pod">
            <a:extLst xmlns:a="http://schemas.openxmlformats.org/drawingml/2006/main">
              <a:ext uri="{FF2B5EF4-FFF2-40B4-BE49-F238E27FC236}">
                <a16:creationId xmlns:a16="http://schemas.microsoft.com/office/drawing/2014/main" id="{7DFF3F64-E777-4B04-A5A2-9C98D6AE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905000"/>
            <a:ext cx="19526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9F1F0"/>
          </a:solidFill>
          <a:ln xmlns:a="http://schemas.openxmlformats.org/drawingml/2006/main" w="15240">
            <a:solidFill>
              <a:srgbClr val="177A7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Boat pod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B6677"/>
                </a:solidFill>
                <a:latin typeface="Arial"/>
                <a:ea typeface="Arial"/>
                <a:cs typeface="Arial"/>
              </a:rPr>
              <a:t>Flash queue
State: RELAYED</a:t>
            </a:r>
          </a:p>
        </p:txBody>
      </p:sp>
      <p:sp>
        <p:nvSpPr>
          <p:cNvPr id="8" name="s1-gateway">
            <a:extLst xmlns:a="http://schemas.openxmlformats.org/drawingml/2006/main">
              <a:ext uri="{FF2B5EF4-FFF2-40B4-BE49-F238E27FC236}">
                <a16:creationId xmlns:a16="http://schemas.microsoft.com/office/drawing/2014/main" id="{3E96EAEF-769B-4CAD-A0C1-FA052A2C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05000"/>
            <a:ext cx="19526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9F1F0"/>
          </a:solidFill>
          <a:ln xmlns:a="http://schemas.openxmlformats.org/drawingml/2006/main" w="15240">
            <a:solidFill>
              <a:srgbClr val="177A7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Shore gateway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B6677"/>
                </a:solidFill>
                <a:latin typeface="Arial"/>
                <a:ea typeface="Arial"/>
                <a:cs typeface="Arial"/>
              </a:rPr>
              <a:t>Signature verification
Internet bridge</a:t>
            </a:r>
          </a:p>
        </p:txBody>
      </p:sp>
      <p:sp>
        <p:nvSpPr>
          <p:cNvPr id="9" name="s1-backend">
            <a:extLst xmlns:a="http://schemas.openxmlformats.org/drawingml/2006/main">
              <a:ext uri="{FF2B5EF4-FFF2-40B4-BE49-F238E27FC236}">
                <a16:creationId xmlns:a16="http://schemas.microsoft.com/office/drawing/2014/main" id="{E3A24E07-B34F-40E2-A503-0A45C7FA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905000"/>
            <a:ext cx="21431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DE7FF"/>
          </a:solidFill>
          <a:ln xmlns:a="http://schemas.openxmlformats.org/drawingml/2006/main" w="15240">
            <a:solidFill>
              <a:srgbClr val="365DB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FastAPI and PostgreSQL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B6677"/>
                </a:solidFill>
                <a:latin typeface="Arial"/>
                <a:ea typeface="Arial"/>
                <a:cs typeface="Arial"/>
              </a:rPr>
              <a:t>Validate, deduplicate, persist
State: DELIVERED</a:t>
            </a:r>
          </a:p>
        </p:txBody>
      </p:sp>
      <p:sp>
        <p:nvSpPr>
          <p:cNvPr id="10" name="s1-dashboard">
            <a:extLst xmlns:a="http://schemas.openxmlformats.org/drawingml/2006/main">
              <a:ext uri="{FF2B5EF4-FFF2-40B4-BE49-F238E27FC236}">
                <a16:creationId xmlns:a16="http://schemas.microsoft.com/office/drawing/2014/main" id="{9BCC6461-4354-4009-8629-20B32F63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1905000"/>
            <a:ext cx="19526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6F5FA"/>
          </a:solidFill>
          <a:ln xmlns:a="http://schemas.openxmlformats.org/drawingml/2006/main" w="15240">
            <a:solidFill>
              <a:srgbClr val="18809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MDRRMO dashboard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B6677"/>
                </a:solidFill>
                <a:latin typeface="Arial"/>
                <a:ea typeface="Arial"/>
                <a:cs typeface="Arial"/>
              </a:rPr>
              <a:t>Displays SOS
Responder authority</a:t>
            </a:r>
          </a:p>
        </p:txBody>
      </p:sp>
      <p:cxnSp>
        <p:nvCxnSpPr>
          <p:cNvPr id="61" name="s1-uplink-1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638425" y="2405063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C73F4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62" name="s1-uplink-2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334000" y="2405063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C73F4D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63" name="s1-uplink-3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524875" y="2405063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C73F4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64" name="s1-uplink-4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1906250" y="2405063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C73F4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5" name="s1-label-wifi">
            <a:extLst xmlns:a="http://schemas.openxmlformats.org/drawingml/2006/main">
              <a:ext uri="{FF2B5EF4-FFF2-40B4-BE49-F238E27FC236}">
                <a16:creationId xmlns:a16="http://schemas.microsoft.com/office/drawing/2014/main" id="{0BC32EDC-0EEF-43C6-9FB8-6CA0A8BF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581150"/>
            <a:ext cx="78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87246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C73F4D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C73F4D"/>
                </a:solidFill>
                <a:latin typeface="Arial"/>
                <a:ea typeface="Arial"/>
                <a:cs typeface="Arial"/>
              </a:rPr>
              <a:t>LOCAL WIFI HTTP</a:t>
            </a:r>
          </a:p>
        </p:txBody>
      </p:sp>
      <p:sp>
        <p:nvSpPr>
          <p:cNvPr id="16" name="s1-label-lora">
            <a:extLst xmlns:a="http://schemas.openxmlformats.org/drawingml/2006/main">
              <a:ext uri="{FF2B5EF4-FFF2-40B4-BE49-F238E27FC236}">
                <a16:creationId xmlns:a16="http://schemas.microsoft.com/office/drawing/2014/main" id="{47431215-E410-4247-8BA4-9D6D4156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5811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C73F4D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C73F4D"/>
                </a:solidFill>
                <a:latin typeface="Arial"/>
                <a:ea typeface="Arial"/>
                <a:cs typeface="Arial"/>
              </a:rPr>
              <a:t>DIRECT LoRa</a:t>
            </a:r>
          </a:p>
        </p:txBody>
      </p:sp>
      <p:sp>
        <p:nvSpPr>
          <p:cNvPr id="17" name="s1-label-https">
            <a:extLst xmlns:a="http://schemas.openxmlformats.org/drawingml/2006/main">
              <a:ext uri="{FF2B5EF4-FFF2-40B4-BE49-F238E27FC236}">
                <a16:creationId xmlns:a16="http://schemas.microsoft.com/office/drawing/2014/main" id="{55E9F8E2-664E-43D4-BBEA-64FE5F55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8115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C73F4D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C73F4D"/>
                </a:solidFill>
                <a:latin typeface="Arial"/>
                <a:ea typeface="Arial"/>
                <a:cs typeface="Arial"/>
              </a:rPr>
              <a:t>AUTHENTICATED HTTPS</a:t>
            </a:r>
          </a:p>
        </p:txBody>
      </p:sp>
      <p:sp>
        <p:nvSpPr>
          <p:cNvPr id="18" name="s1-label-poll">
            <a:extLst xmlns:a="http://schemas.openxmlformats.org/drawingml/2006/main">
              <a:ext uri="{FF2B5EF4-FFF2-40B4-BE49-F238E27FC236}">
                <a16:creationId xmlns:a16="http://schemas.microsoft.com/office/drawing/2014/main" id="{B32D68A7-2C6A-43A8-80C0-36A8E721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1581150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C73F4D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C73F4D"/>
                </a:solidFill>
                <a:latin typeface="Arial"/>
                <a:ea typeface="Arial"/>
                <a:cs typeface="Arial"/>
              </a:rPr>
              <a:t>REST POLLING</a:t>
            </a:r>
          </a:p>
        </p:txBody>
      </p:sp>
      <p:sp>
        <p:nvSpPr>
          <p:cNvPr id="19" name="relay-band">
            <a:extLst xmlns:a="http://schemas.openxmlformats.org/drawingml/2006/main">
              <a:ext uri="{FF2B5EF4-FFF2-40B4-BE49-F238E27FC236}">
                <a16:creationId xmlns:a16="http://schemas.microsoft.com/office/drawing/2014/main" id="{9681FC42-9ACF-4F15-AD3A-C588DE00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43300"/>
            <a:ext cx="144399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4FBFA"/>
          </a:solidFill>
          <a:ln xmlns:a="http://schemas.openxmlformats.org/drawingml/2006/main" w="11430">
            <a:solidFill>
              <a:srgbClr val="177A78"/>
            </a:solidFill>
            <a:prstDash val="solid"/>
          </a:ln>
        </p:spPr>
      </p:sp>
      <p:sp>
        <p:nvSpPr>
          <p:cNvPr id="20" name="relay-band-label">
            <a:extLst xmlns:a="http://schemas.openxmlformats.org/drawingml/2006/main">
              <a:ext uri="{FF2B5EF4-FFF2-40B4-BE49-F238E27FC236}">
                <a16:creationId xmlns:a16="http://schemas.microsoft.com/office/drawing/2014/main" id="{4D785ADC-D083-480E-B9AA-72D3F193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7A7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7A78"/>
                </a:solidFill>
                <a:latin typeface="Arial"/>
                <a:ea typeface="Arial"/>
                <a:cs typeface="Arial"/>
              </a:rPr>
              <a:t>Optional relay route</a:t>
            </a:r>
          </a:p>
        </p:txBody>
      </p:sp>
      <p:sp>
        <p:nvSpPr>
          <p:cNvPr id="21" name="s1-relay-pod">
            <a:extLst xmlns:a="http://schemas.openxmlformats.org/drawingml/2006/main">
              <a:ext uri="{FF2B5EF4-FFF2-40B4-BE49-F238E27FC236}">
                <a16:creationId xmlns:a16="http://schemas.microsoft.com/office/drawing/2014/main" id="{55D261AE-3598-4AEE-B380-E8AB58AE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943350"/>
            <a:ext cx="1952625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9F1F0"/>
          </a:solidFill>
          <a:ln xmlns:a="http://schemas.openxmlformats.org/drawingml/2006/main" w="15240">
            <a:solidFill>
              <a:srgbClr val="177A78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Boat pod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B6677"/>
                </a:solidFill>
                <a:latin typeface="Arial"/>
                <a:ea typeface="Arial"/>
                <a:cs typeface="Arial"/>
              </a:rPr>
              <a:t>Direct link unavailable</a:t>
            </a:r>
          </a:p>
        </p:txBody>
      </p:sp>
      <p:sp>
        <p:nvSpPr>
          <p:cNvPr id="22" name="s1-relay">
            <a:extLst xmlns:a="http://schemas.openxmlformats.org/drawingml/2006/main">
              <a:ext uri="{FF2B5EF4-FFF2-40B4-BE49-F238E27FC236}">
                <a16:creationId xmlns:a16="http://schemas.microsoft.com/office/drawing/2014/main" id="{35DE378E-8025-4542-9DC1-804EEAE1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43350"/>
            <a:ext cx="1952625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9F1F0"/>
          </a:solidFill>
          <a:ln xmlns:a="http://schemas.openxmlformats.org/drawingml/2006/main" w="15240">
            <a:solidFill>
              <a:srgbClr val="177A78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Relay buoy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B6677"/>
                </a:solidFill>
                <a:latin typeface="Arial"/>
                <a:ea typeface="Arial"/>
                <a:cs typeface="Arial"/>
              </a:rPr>
              <a:t>TTL and seen-set forwarding</a:t>
            </a:r>
          </a:p>
        </p:txBody>
      </p:sp>
      <p:sp>
        <p:nvSpPr>
          <p:cNvPr id="23" name="s1-relay-gateway">
            <a:extLst xmlns:a="http://schemas.openxmlformats.org/drawingml/2006/main">
              <a:ext uri="{FF2B5EF4-FFF2-40B4-BE49-F238E27FC236}">
                <a16:creationId xmlns:a16="http://schemas.microsoft.com/office/drawing/2014/main" id="{BC061D02-771C-4266-A340-8F45706C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943350"/>
            <a:ext cx="2143125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9F1F0"/>
          </a:solidFill>
          <a:ln xmlns:a="http://schemas.openxmlformats.org/drawingml/2006/main" w="15240">
            <a:solidFill>
              <a:srgbClr val="177A78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Shore gateway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B6677"/>
                </a:solidFill>
                <a:latin typeface="Arial"/>
                <a:ea typeface="Arial"/>
                <a:cs typeface="Arial"/>
              </a:rPr>
              <a:t>Receives relayed frame</a:t>
            </a:r>
          </a:p>
        </p:txBody>
      </p:sp>
      <p:cxnSp>
        <p:nvCxnSpPr>
          <p:cNvPr id="74" name="s1-relay-1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5334000" y="425767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77A78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75" name="s1-relay-2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8524875" y="425767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77A78"/>
            </a:solidFill>
            <a:prstDash val="dash"/>
            <a:headEnd type="none" w="med" len="med"/>
            <a:tailEnd type="triangle" w="sm" len="sm"/>
          </a:ln>
        </p:spPr>
      </p:cxnSp>
      <p:sp>
        <p:nvSpPr>
          <p:cNvPr id="26" name="s1-relay-caption-1">
            <a:extLst xmlns:a="http://schemas.openxmlformats.org/drawingml/2006/main">
              <a:ext uri="{FF2B5EF4-FFF2-40B4-BE49-F238E27FC236}">
                <a16:creationId xmlns:a16="http://schemas.microsoft.com/office/drawing/2014/main" id="{2CF88D16-29CB-4C14-82E1-0BDEC5AC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6766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77A78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77A78"/>
                </a:solidFill>
                <a:latin typeface="Arial"/>
                <a:ea typeface="Arial"/>
                <a:cs typeface="Arial"/>
              </a:rPr>
              <a:t>LoRa</a:t>
            </a:r>
          </a:p>
        </p:txBody>
      </p:sp>
      <p:sp>
        <p:nvSpPr>
          <p:cNvPr id="27" name="s1-relay-caption-2">
            <a:extLst xmlns:a="http://schemas.openxmlformats.org/drawingml/2006/main">
              <a:ext uri="{FF2B5EF4-FFF2-40B4-BE49-F238E27FC236}">
                <a16:creationId xmlns:a16="http://schemas.microsoft.com/office/drawing/2014/main" id="{F0F06B6F-77C0-4708-B6DB-0BF2EE65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766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77A78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77A78"/>
                </a:solidFill>
                <a:latin typeface="Arial"/>
                <a:ea typeface="Arial"/>
                <a:cs typeface="Arial"/>
              </a:rPr>
              <a:t>LoRa</a:t>
            </a:r>
          </a:p>
        </p:txBody>
      </p:sp>
      <p:sp>
        <p:nvSpPr>
          <p:cNvPr id="28" name="internet-band">
            <a:extLst xmlns:a="http://schemas.openxmlformats.org/drawingml/2006/main">
              <a:ext uri="{FF2B5EF4-FFF2-40B4-BE49-F238E27FC236}">
                <a16:creationId xmlns:a16="http://schemas.microsoft.com/office/drawing/2014/main" id="{1BD5B2EA-8EDB-4429-BD10-07F9D33A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91100"/>
            <a:ext cx="144399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9FF"/>
          </a:solidFill>
          <a:ln xmlns:a="http://schemas.openxmlformats.org/drawingml/2006/main" w="11430">
            <a:solidFill>
              <a:srgbClr val="365DB5"/>
            </a:solidFill>
            <a:prstDash val="solid"/>
          </a:ln>
        </p:spPr>
      </p:sp>
      <p:sp>
        <p:nvSpPr>
          <p:cNvPr id="29" name="internet-band-label">
            <a:extLst xmlns:a="http://schemas.openxmlformats.org/drawingml/2006/main">
              <a:ext uri="{FF2B5EF4-FFF2-40B4-BE49-F238E27FC236}">
                <a16:creationId xmlns:a16="http://schemas.microsoft.com/office/drawing/2014/main" id="{52B772C8-918D-4EF9-9C60-9D92C898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67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65DB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65DB5"/>
                </a:solidFill>
                <a:latin typeface="Arial"/>
                <a:ea typeface="Arial"/>
                <a:cs typeface="Arial"/>
              </a:rPr>
              <a:t>Direct internet route</a:t>
            </a:r>
          </a:p>
        </p:txBody>
      </p:sp>
      <p:sp>
        <p:nvSpPr>
          <p:cNvPr id="30" name="s1-internet-phone">
            <a:extLst xmlns:a="http://schemas.openxmlformats.org/drawingml/2006/main">
              <a:ext uri="{FF2B5EF4-FFF2-40B4-BE49-F238E27FC236}">
                <a16:creationId xmlns:a16="http://schemas.microsoft.com/office/drawing/2014/main" id="{E86779C4-F725-4449-883B-30DED21B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24475"/>
            <a:ext cx="19526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DDE7FF"/>
          </a:solidFill>
          <a:ln xmlns:a="http://schemas.openxmlformats.org/drawingml/2006/main" w="15240">
            <a:solidFill>
              <a:srgbClr val="365DB5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Fisher phone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B6677"/>
                </a:solidFill>
                <a:latin typeface="Arial"/>
                <a:ea typeface="Arial"/>
                <a:cs typeface="Arial"/>
              </a:rPr>
              <a:t>Internet available</a:t>
            </a:r>
          </a:p>
        </p:txBody>
      </p:sp>
      <p:sp>
        <p:nvSpPr>
          <p:cNvPr id="31" name="s1-internet-backend">
            <a:extLst xmlns:a="http://schemas.openxmlformats.org/drawingml/2006/main">
              <a:ext uri="{FF2B5EF4-FFF2-40B4-BE49-F238E27FC236}">
                <a16:creationId xmlns:a16="http://schemas.microsoft.com/office/drawing/2014/main" id="{A7C39A37-A496-43DE-9C37-1FAE1566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324475"/>
            <a:ext cx="2143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DDE7FF"/>
          </a:solidFill>
          <a:ln xmlns:a="http://schemas.openxmlformats.org/drawingml/2006/main" w="15240">
            <a:solidFill>
              <a:srgbClr val="365DB5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FastAPI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B6677"/>
                </a:solidFill>
                <a:latin typeface="Arial"/>
                <a:ea typeface="Arial"/>
                <a:cs typeface="Arial"/>
              </a:rPr>
              <a:t>Direct SOS ingest</a:t>
            </a:r>
          </a:p>
        </p:txBody>
      </p:sp>
      <p:cxnSp>
        <p:nvCxnSpPr>
          <p:cNvPr id="82" name="s1-internet-route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2638425" y="5572125"/>
            <a:ext cx="71247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65DB5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33" name="s1-internet-label">
            <a:extLst xmlns:a="http://schemas.openxmlformats.org/drawingml/2006/main">
              <a:ext uri="{FF2B5EF4-FFF2-40B4-BE49-F238E27FC236}">
                <a16:creationId xmlns:a16="http://schemas.microsoft.com/office/drawing/2014/main" id="{47FD7135-D396-4F1F-87A8-17F0E468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5777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365DB5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365DB5"/>
                </a:solidFill>
                <a:latin typeface="Arial"/>
                <a:ea typeface="Arial"/>
                <a:cs typeface="Arial"/>
              </a:rPr>
              <a:t>HTTPS WHEN INTERNET IS AVAILABLE</a:t>
            </a:r>
          </a:p>
        </p:txBody>
      </p:sp>
      <p:sp>
        <p:nvSpPr>
          <p:cNvPr id="34" name="return-band">
            <a:extLst xmlns:a="http://schemas.openxmlformats.org/drawingml/2006/main">
              <a:ext uri="{FF2B5EF4-FFF2-40B4-BE49-F238E27FC236}">
                <a16:creationId xmlns:a16="http://schemas.microsoft.com/office/drawing/2014/main" id="{F2FEDA3A-CC89-4717-B396-7C1A4232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1443990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5F8FF"/>
          </a:solidFill>
          <a:ln xmlns:a="http://schemas.openxmlformats.org/drawingml/2006/main" w="11430">
            <a:solidFill>
              <a:srgbClr val="345DB3"/>
            </a:solidFill>
            <a:prstDash val="solid"/>
          </a:ln>
        </p:spPr>
      </p:sp>
      <p:sp>
        <p:nvSpPr>
          <p:cNvPr id="35" name="return-band-label">
            <a:extLst xmlns:a="http://schemas.openxmlformats.org/drawingml/2006/main">
              <a:ext uri="{FF2B5EF4-FFF2-40B4-BE49-F238E27FC236}">
                <a16:creationId xmlns:a16="http://schemas.microsoft.com/office/drawing/2014/main" id="{FE87A651-F819-4A01-B762-3078D6D4C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5DB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45DB3"/>
                </a:solidFill>
                <a:latin typeface="Arial"/>
                <a:ea typeface="Arial"/>
                <a:cs typeface="Arial"/>
              </a:rPr>
              <a:t>Responder return path</a:t>
            </a:r>
          </a:p>
        </p:txBody>
      </p:sp>
      <p:sp>
        <p:nvSpPr>
          <p:cNvPr id="36" name="s1-return-0">
            <a:extLst xmlns:a="http://schemas.openxmlformats.org/drawingml/2006/main">
              <a:ext uri="{FF2B5EF4-FFF2-40B4-BE49-F238E27FC236}">
                <a16:creationId xmlns:a16="http://schemas.microsoft.com/office/drawing/2014/main" id="{994039EB-3F5C-460A-B113-578DC563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6743700"/>
            <a:ext cx="195262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6F5FA"/>
          </a:solidFill>
          <a:ln xmlns:a="http://schemas.openxmlformats.org/drawingml/2006/main" w="15240">
            <a:solidFill>
              <a:srgbClr val="345DB3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Dashboard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B6677"/>
                </a:solidFill>
                <a:latin typeface="Arial"/>
                <a:ea typeface="Arial"/>
                <a:cs typeface="Arial"/>
              </a:rPr>
              <a:t>Acknowledge and ETA</a:t>
            </a:r>
          </a:p>
        </p:txBody>
      </p:sp>
      <p:sp>
        <p:nvSpPr>
          <p:cNvPr id="37" name="s1-return-1">
            <a:extLst xmlns:a="http://schemas.openxmlformats.org/drawingml/2006/main">
              <a:ext uri="{FF2B5EF4-FFF2-40B4-BE49-F238E27FC236}">
                <a16:creationId xmlns:a16="http://schemas.microsoft.com/office/drawing/2014/main" id="{7648D7C7-3421-4CA9-AB7E-6C298C91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6743700"/>
            <a:ext cx="214312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6F5FA"/>
          </a:solidFill>
          <a:ln xmlns:a="http://schemas.openxmlformats.org/drawingml/2006/main" w="15240">
            <a:solidFill>
              <a:srgbClr val="345DB3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Backend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B6677"/>
                </a:solidFill>
                <a:latin typeface="Arial"/>
                <a:ea typeface="Arial"/>
                <a:cs typeface="Arial"/>
              </a:rPr>
              <a:t>Persist response</a:t>
            </a:r>
          </a:p>
        </p:txBody>
      </p:sp>
      <p:sp>
        <p:nvSpPr>
          <p:cNvPr id="38" name="s1-return-2">
            <a:extLst xmlns:a="http://schemas.openxmlformats.org/drawingml/2006/main">
              <a:ext uri="{FF2B5EF4-FFF2-40B4-BE49-F238E27FC236}">
                <a16:creationId xmlns:a16="http://schemas.microsoft.com/office/drawing/2014/main" id="{21AC204F-6039-4102-B1CB-F62BDCAB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743700"/>
            <a:ext cx="195262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6F5FA"/>
          </a:solidFill>
          <a:ln xmlns:a="http://schemas.openxmlformats.org/drawingml/2006/main" w="15240">
            <a:solidFill>
              <a:srgbClr val="345DB3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Gateway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B6677"/>
                </a:solidFill>
                <a:latin typeface="Arial"/>
                <a:ea typeface="Arial"/>
                <a:cs typeface="Arial"/>
              </a:rPr>
              <a:t>Queue downlink</a:t>
            </a:r>
          </a:p>
        </p:txBody>
      </p:sp>
      <p:sp>
        <p:nvSpPr>
          <p:cNvPr id="39" name="s1-return-3">
            <a:extLst xmlns:a="http://schemas.openxmlformats.org/drawingml/2006/main">
              <a:ext uri="{FF2B5EF4-FFF2-40B4-BE49-F238E27FC236}">
                <a16:creationId xmlns:a16="http://schemas.microsoft.com/office/drawing/2014/main" id="{E1F09219-28A1-4497-90BA-C9BC4B86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743700"/>
            <a:ext cx="195262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6F5FA"/>
          </a:solidFill>
          <a:ln xmlns:a="http://schemas.openxmlformats.org/drawingml/2006/main" w="15240">
            <a:solidFill>
              <a:srgbClr val="345DB3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Boat pod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B6677"/>
                </a:solidFill>
                <a:latin typeface="Arial"/>
                <a:ea typeface="Arial"/>
                <a:cs typeface="Arial"/>
              </a:rPr>
              <a:t>Cache for phone</a:t>
            </a:r>
          </a:p>
        </p:txBody>
      </p:sp>
      <p:sp>
        <p:nvSpPr>
          <p:cNvPr id="40" name="s1-return-4">
            <a:extLst xmlns:a="http://schemas.openxmlformats.org/drawingml/2006/main">
              <a:ext uri="{FF2B5EF4-FFF2-40B4-BE49-F238E27FC236}">
                <a16:creationId xmlns:a16="http://schemas.microsoft.com/office/drawing/2014/main" id="{73243B39-CC81-40D3-9774-A430FCE0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43700"/>
            <a:ext cx="195262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6F5FA"/>
          </a:solidFill>
          <a:ln xmlns:a="http://schemas.openxmlformats.org/drawingml/2006/main" w="15240">
            <a:solidFill>
              <a:srgbClr val="345DB3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Fisher phone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B6677"/>
                </a:solidFill>
                <a:latin typeface="Arial"/>
                <a:ea typeface="Arial"/>
                <a:cs typeface="Arial"/>
              </a:rPr>
              <a:t>State: ACKNOWLEDGED</a:t>
            </a:r>
          </a:p>
        </p:txBody>
      </p:sp>
      <p:cxnSp>
        <p:nvCxnSpPr>
          <p:cNvPr id="91" name="s1-return-link-0"/>
          <p:cNvCxnSpPr>
            <a:stCxn xmlns:a="http://schemas.openxmlformats.org/drawingml/2006/main" id="36" idx="1"/>
            <a:endCxn xmlns:a="http://schemas.openxmlformats.org/drawingml/2006/main" id="37" idx="3"/>
          </p:cNvCxnSpPr>
          <p:nvPr/>
        </p:nvCxnSpPr>
        <p:spPr>
          <a:xfrm xmlns:a="http://schemas.openxmlformats.org/drawingml/2006/main" flipH="1">
            <a:off x="11906250" y="70770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45DB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92" name="s1-return-link-1"/>
          <p:cNvCxnSpPr>
            <a:stCxn xmlns:a="http://schemas.openxmlformats.org/drawingml/2006/main" id="37" idx="1"/>
            <a:endCxn xmlns:a="http://schemas.openxmlformats.org/drawingml/2006/main" id="38" idx="3"/>
          </p:cNvCxnSpPr>
          <p:nvPr/>
        </p:nvCxnSpPr>
        <p:spPr>
          <a:xfrm xmlns:a="http://schemas.openxmlformats.org/drawingml/2006/main" flipH="1">
            <a:off x="8524875" y="707707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45DB3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93" name="s1-return-link-2"/>
          <p:cNvCxnSpPr>
            <a:stCxn xmlns:a="http://schemas.openxmlformats.org/drawingml/2006/main" id="38" idx="1"/>
            <a:endCxn xmlns:a="http://schemas.openxmlformats.org/drawingml/2006/main" id="39" idx="3"/>
          </p:cNvCxnSpPr>
          <p:nvPr/>
        </p:nvCxnSpPr>
        <p:spPr>
          <a:xfrm xmlns:a="http://schemas.openxmlformats.org/drawingml/2006/main" flipH="1">
            <a:off x="5334000" y="707707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45DB3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94" name="s1-return-link-3"/>
          <p:cNvCxnSpPr>
            <a:stCxn xmlns:a="http://schemas.openxmlformats.org/drawingml/2006/main" id="39" idx="1"/>
            <a:endCxn xmlns:a="http://schemas.openxmlformats.org/drawingml/2006/main" id="40" idx="3"/>
          </p:cNvCxnSpPr>
          <p:nvPr/>
        </p:nvCxnSpPr>
        <p:spPr>
          <a:xfrm xmlns:a="http://schemas.openxmlformats.org/drawingml/2006/main" flipH="1">
            <a:off x="2638425" y="707707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45DB3"/>
            </a:solidFill>
            <a:prstDash val="dash"/>
            <a:headEnd type="none" w="med" len="med"/>
            <a:tailEnd type="triangle" w="sm" len="sm"/>
          </a:ln>
        </p:spPr>
      </p:cxnSp>
      <p:sp>
        <p:nvSpPr>
          <p:cNvPr id="45" name="s1-return-1">
            <a:extLst xmlns:a="http://schemas.openxmlformats.org/drawingml/2006/main">
              <a:ext uri="{FF2B5EF4-FFF2-40B4-BE49-F238E27FC236}">
                <a16:creationId xmlns:a16="http://schemas.microsoft.com/office/drawing/2014/main" id="{7D2E874B-53C1-4AF3-9053-E79E7BC0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4198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345DB3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345DB3"/>
                </a:solidFill>
                <a:latin typeface="Arial"/>
                <a:ea typeface="Arial"/>
                <a:cs typeface="Arial"/>
              </a:rPr>
              <a:t>WRITE</a:t>
            </a:r>
          </a:p>
        </p:txBody>
      </p:sp>
      <p:sp>
        <p:nvSpPr>
          <p:cNvPr id="46" name="s1-return-2">
            <a:extLst xmlns:a="http://schemas.openxmlformats.org/drawingml/2006/main">
              <a:ext uri="{FF2B5EF4-FFF2-40B4-BE49-F238E27FC236}">
                <a16:creationId xmlns:a16="http://schemas.microsoft.com/office/drawing/2014/main" id="{31276F5E-0BF9-4EE7-9FF0-0F9C62F6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64198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345DB3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345DB3"/>
                </a:solidFill>
                <a:latin typeface="Arial"/>
                <a:ea typeface="Arial"/>
                <a:cs typeface="Arial"/>
              </a:rPr>
              <a:t>BACKHAUL</a:t>
            </a:r>
          </a:p>
        </p:txBody>
      </p:sp>
      <p:sp>
        <p:nvSpPr>
          <p:cNvPr id="47" name="s1-return-3">
            <a:extLst xmlns:a="http://schemas.openxmlformats.org/drawingml/2006/main">
              <a:ext uri="{FF2B5EF4-FFF2-40B4-BE49-F238E27FC236}">
                <a16:creationId xmlns:a16="http://schemas.microsoft.com/office/drawing/2014/main" id="{CCFB22C2-984C-4B39-B24A-A86CAA31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64198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345DB3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345DB3"/>
                </a:solidFill>
                <a:latin typeface="Arial"/>
                <a:ea typeface="Arial"/>
                <a:cs typeface="Arial"/>
              </a:rPr>
              <a:t>LoRa DOWNLINK</a:t>
            </a:r>
          </a:p>
        </p:txBody>
      </p:sp>
      <p:sp>
        <p:nvSpPr>
          <p:cNvPr id="48" name="s1-return-4">
            <a:extLst xmlns:a="http://schemas.openxmlformats.org/drawingml/2006/main">
              <a:ext uri="{FF2B5EF4-FFF2-40B4-BE49-F238E27FC236}">
                <a16:creationId xmlns:a16="http://schemas.microsoft.com/office/drawing/2014/main" id="{0C05E26D-CA23-47A8-A295-EE3AE784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419850"/>
            <a:ext cx="78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9542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345DB3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345DB3"/>
                </a:solidFill>
                <a:latin typeface="Arial"/>
                <a:ea typeface="Arial"/>
                <a:cs typeface="Arial"/>
              </a:rPr>
              <a:t>LOCAL STATUS</a:t>
            </a:r>
          </a:p>
        </p:txBody>
      </p:sp>
      <p:sp>
        <p:nvSpPr>
          <p:cNvPr id="49" name="footer-left-1">
            <a:extLst xmlns:a="http://schemas.openxmlformats.org/drawingml/2006/main">
              <a:ext uri="{FF2B5EF4-FFF2-40B4-BE49-F238E27FC236}">
                <a16:creationId xmlns:a16="http://schemas.microsoft.com/office/drawing/2014/main" id="{1F0442B7-A353-4E92-AFBF-1EAB09E5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153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677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B6677"/>
                </a:solidFill>
                <a:latin typeface="Arial"/>
                <a:ea typeface="Arial"/>
                <a:cs typeface="Arial"/>
              </a:rPr>
              <a:t>All shapes and connectors are editable PowerPoint objects</a:t>
            </a:r>
          </a:p>
        </p:txBody>
      </p:sp>
      <p:sp>
        <p:nvSpPr>
          <p:cNvPr id="50" name="footer-right-1">
            <a:extLst xmlns:a="http://schemas.openxmlformats.org/drawingml/2006/main">
              <a:ext uri="{FF2B5EF4-FFF2-40B4-BE49-F238E27FC236}">
                <a16:creationId xmlns:a16="http://schemas.microsoft.com/office/drawing/2014/main" id="{15283334-008A-4E65-A5F8-60ADFD40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8115300"/>
            <a:ext cx="733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B6677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B6677"/>
                </a:solidFill>
                <a:latin typeface="Arial"/>
                <a:ea typeface="Arial"/>
                <a:cs typeface="Arial"/>
              </a:rPr>
              <a:t>Solid line: software path   Dashed line: optional or hardware path awaiting field verification</a:t>
            </a:r>
          </a:p>
        </p:txBody>
      </p:sp>
    </p:spTree>
    <p:extLst>
      <p:ext uri="{BB962C8B-B14F-4D97-AF65-F5344CB8AC3E}">
        <p14:creationId xmlns:p14="http://schemas.microsoft.com/office/powerpoint/2010/main" val="16324005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title-2">
            <a:extLst xmlns:a="http://schemas.openxmlformats.org/drawingml/2006/main">
              <a:ext uri="{FF2B5EF4-FFF2-40B4-BE49-F238E27FC236}">
                <a16:creationId xmlns:a16="http://schemas.microsoft.com/office/drawing/2014/main" id="{B97B07AF-4463-411E-8703-9851B91B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SOS Delivery and Acknowledgement</a:t>
            </a:r>
          </a:p>
        </p:txBody>
      </p:sp>
      <p:sp>
        <p:nvSpPr>
          <p:cNvPr id="2" name="subtitle-2">
            <a:extLst xmlns:a="http://schemas.openxmlformats.org/drawingml/2006/main">
              <a:ext uri="{FF2B5EF4-FFF2-40B4-BE49-F238E27FC236}">
                <a16:creationId xmlns:a16="http://schemas.microsoft.com/office/drawing/2014/main" id="{4A4CCDF6-2128-4A8A-89A4-E781DFFE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677"/>
                </a:solidFill>
                <a:latin typeface="Arial"/>
                <a:ea typeface="Arial"/>
                <a:cs typeface="Arial"/>
              </a:rPr>
              <a:t>Numbered sequence with separate uplink and return tracks</a:t>
            </a:r>
          </a:p>
        </p:txBody>
      </p:sp>
      <p:sp>
        <p:nvSpPr>
          <p:cNvPr id="3" name="page-marker-2">
            <a:extLst xmlns:a="http://schemas.openxmlformats.org/drawingml/2006/main">
              <a:ext uri="{FF2B5EF4-FFF2-40B4-BE49-F238E27FC236}">
                <a16:creationId xmlns:a16="http://schemas.microsoft.com/office/drawing/2014/main" id="{03826D21-65BC-4364-8D22-5309CB4F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5950" y="285750"/>
            <a:ext cx="13525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CC"/>
          </a:solidFill>
          <a:ln xmlns:a="http://schemas.openxmlformats.org/drawingml/2006/main" w="11430">
            <a:solidFill>
              <a:srgbClr val="D4B23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2 OF 3</a:t>
            </a:r>
          </a:p>
        </p:txBody>
      </p:sp>
      <p:sp>
        <p:nvSpPr>
          <p:cNvPr id="4" name="s2-uplink-band">
            <a:extLst xmlns:a="http://schemas.openxmlformats.org/drawingml/2006/main">
              <a:ext uri="{FF2B5EF4-FFF2-40B4-BE49-F238E27FC236}">
                <a16:creationId xmlns:a16="http://schemas.microsoft.com/office/drawing/2014/main" id="{45DEE03E-C31B-4E85-B93D-C0C73E10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44399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8F8"/>
          </a:solidFill>
          <a:ln xmlns:a="http://schemas.openxmlformats.org/drawingml/2006/main" w="11430">
            <a:solidFill>
              <a:srgbClr val="C73F4D"/>
            </a:solidFill>
            <a:prstDash val="solid"/>
          </a:ln>
        </p:spPr>
      </p:sp>
      <p:sp>
        <p:nvSpPr>
          <p:cNvPr id="5" name="s2-uplink-band-label">
            <a:extLst xmlns:a="http://schemas.openxmlformats.org/drawingml/2006/main">
              <a:ext uri="{FF2B5EF4-FFF2-40B4-BE49-F238E27FC236}">
                <a16:creationId xmlns:a16="http://schemas.microsoft.com/office/drawing/2014/main" id="{F14E6B69-580E-49F0-9A15-4BA6155D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3F4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73F4D"/>
                </a:solidFill>
                <a:latin typeface="Arial"/>
                <a:ea typeface="Arial"/>
                <a:cs typeface="Arial"/>
              </a:rPr>
              <a:t>Uplink to responders</a:t>
            </a:r>
          </a:p>
        </p:txBody>
      </p:sp>
      <p:sp>
        <p:nvSpPr>
          <p:cNvPr id="6" name="s2-top-0">
            <a:extLst xmlns:a="http://schemas.openxmlformats.org/drawingml/2006/main">
              <a:ext uri="{FF2B5EF4-FFF2-40B4-BE49-F238E27FC236}">
                <a16:creationId xmlns:a16="http://schemas.microsoft.com/office/drawing/2014/main" id="{8B25D61A-D295-433B-B499-77DB19C5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219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D7DA"/>
          </a:solidFill>
          <a:ln xmlns:a="http://schemas.openxmlformats.org/drawingml/2006/main" w="15240">
            <a:solidFill>
              <a:srgbClr val="C73F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Phone saves SOS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B6677"/>
                </a:solidFill>
                <a:latin typeface="Arial"/>
                <a:ea typeface="Arial"/>
                <a:cs typeface="Arial"/>
              </a:rPr>
              <a:t>Write to SQLite before network attempt</a:t>
            </a:r>
          </a:p>
        </p:txBody>
      </p:sp>
      <p:sp>
        <p:nvSpPr>
          <p:cNvPr id="7" name="step-1">
            <a:extLst xmlns:a="http://schemas.openxmlformats.org/drawingml/2006/main">
              <a:ext uri="{FF2B5EF4-FFF2-40B4-BE49-F238E27FC236}">
                <a16:creationId xmlns:a16="http://schemas.microsoft.com/office/drawing/2014/main" id="{E75537E5-75BB-4020-9F56-8ADD1927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335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3F4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s2-top-1">
            <a:extLst xmlns:a="http://schemas.openxmlformats.org/drawingml/2006/main">
              <a:ext uri="{FF2B5EF4-FFF2-40B4-BE49-F238E27FC236}">
                <a16:creationId xmlns:a16="http://schemas.microsoft.com/office/drawing/2014/main" id="{EC4CC4AA-80C3-4D77-8C17-5B7BA4D1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47875"/>
            <a:ext cx="219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9F1F0"/>
          </a:solidFill>
          <a:ln xmlns:a="http://schemas.openxmlformats.org/drawingml/2006/main" w="15240">
            <a:solidFill>
              <a:srgbClr val="177A7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Pod queues SOS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B6677"/>
                </a:solidFill>
                <a:latin typeface="Arial"/>
                <a:ea typeface="Arial"/>
                <a:cs typeface="Arial"/>
              </a:rPr>
              <a:t>Accept before phone acknowledgement</a:t>
            </a:r>
          </a:p>
        </p:txBody>
      </p:sp>
      <p:sp>
        <p:nvSpPr>
          <p:cNvPr id="9" name="step-2">
            <a:extLst xmlns:a="http://schemas.openxmlformats.org/drawingml/2006/main">
              <a:ext uri="{FF2B5EF4-FFF2-40B4-BE49-F238E27FC236}">
                <a16:creationId xmlns:a16="http://schemas.microsoft.com/office/drawing/2014/main" id="{4C76D065-62E8-4028-9FFA-ED2B8C86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335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3F4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2-top-2">
            <a:extLst xmlns:a="http://schemas.openxmlformats.org/drawingml/2006/main">
              <a:ext uri="{FF2B5EF4-FFF2-40B4-BE49-F238E27FC236}">
                <a16:creationId xmlns:a16="http://schemas.microsoft.com/office/drawing/2014/main" id="{46BF9C6F-5989-4567-8F8F-7A5F7A53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47875"/>
            <a:ext cx="219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9F1F0"/>
          </a:solidFill>
          <a:ln xmlns:a="http://schemas.openxmlformats.org/drawingml/2006/main" w="15240">
            <a:solidFill>
              <a:srgbClr val="177A7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Gateway verifies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B6677"/>
                </a:solidFill>
                <a:latin typeface="Arial"/>
                <a:ea typeface="Arial"/>
                <a:cs typeface="Arial"/>
              </a:rPr>
              <a:t>Verify signature and device identity</a:t>
            </a:r>
          </a:p>
        </p:txBody>
      </p:sp>
      <p:sp>
        <p:nvSpPr>
          <p:cNvPr id="11" name="step-3">
            <a:extLst xmlns:a="http://schemas.openxmlformats.org/drawingml/2006/main">
              <a:ext uri="{FF2B5EF4-FFF2-40B4-BE49-F238E27FC236}">
                <a16:creationId xmlns:a16="http://schemas.microsoft.com/office/drawing/2014/main" id="{04330BC3-3267-46CA-8C72-6AE1B746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3F4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s2-top-3">
            <a:extLst xmlns:a="http://schemas.openxmlformats.org/drawingml/2006/main">
              <a:ext uri="{FF2B5EF4-FFF2-40B4-BE49-F238E27FC236}">
                <a16:creationId xmlns:a16="http://schemas.microsoft.com/office/drawing/2014/main" id="{FDD9A4B8-DF2E-4EC9-B53B-2C9AEDFB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47875"/>
            <a:ext cx="219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DE7FF"/>
          </a:solidFill>
          <a:ln xmlns:a="http://schemas.openxmlformats.org/drawingml/2006/main" w="15240">
            <a:solidFill>
              <a:srgbClr val="365DB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Backend commits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B6677"/>
                </a:solidFill>
                <a:latin typeface="Arial"/>
                <a:ea typeface="Arial"/>
                <a:cs typeface="Arial"/>
              </a:rPr>
              <a:t>Deduplicate and persist the incident</a:t>
            </a:r>
          </a:p>
        </p:txBody>
      </p:sp>
      <p:sp>
        <p:nvSpPr>
          <p:cNvPr id="13" name="step-4">
            <a:extLst xmlns:a="http://schemas.openxmlformats.org/drawingml/2006/main">
              <a:ext uri="{FF2B5EF4-FFF2-40B4-BE49-F238E27FC236}">
                <a16:creationId xmlns:a16="http://schemas.microsoft.com/office/drawing/2014/main" id="{56D0D5FD-94BC-40B9-8596-A5CD3B0C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335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3F4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s2-top-4">
            <a:extLst xmlns:a="http://schemas.openxmlformats.org/drawingml/2006/main">
              <a:ext uri="{FF2B5EF4-FFF2-40B4-BE49-F238E27FC236}">
                <a16:creationId xmlns:a16="http://schemas.microsoft.com/office/drawing/2014/main" id="{5BE93969-DA49-4AC5-8335-7ED9EA4E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2047875"/>
            <a:ext cx="219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6F5FA"/>
          </a:solidFill>
          <a:ln xmlns:a="http://schemas.openxmlformats.org/drawingml/2006/main" w="15240">
            <a:solidFill>
              <a:srgbClr val="18809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Dashboard displays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B6677"/>
                </a:solidFill>
                <a:latin typeface="Arial"/>
                <a:ea typeface="Arial"/>
                <a:cs typeface="Arial"/>
              </a:rPr>
              <a:t>Protected polling refreshes the feed</a:t>
            </a:r>
          </a:p>
        </p:txBody>
      </p:sp>
      <p:sp>
        <p:nvSpPr>
          <p:cNvPr id="15" name="step-5">
            <a:extLst xmlns:a="http://schemas.openxmlformats.org/drawingml/2006/main">
              <a:ext uri="{FF2B5EF4-FFF2-40B4-BE49-F238E27FC236}">
                <a16:creationId xmlns:a16="http://schemas.microsoft.com/office/drawing/2014/main" id="{7258E54E-AAEE-4B74-885B-7603FCF41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19335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3F4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cxnSp>
        <p:nvCxnSpPr>
          <p:cNvPr id="67" name="s2-top-link-0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857500" y="25812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C73F4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7" name="s2-top-label-0">
            <a:extLst xmlns:a="http://schemas.openxmlformats.org/drawingml/2006/main">
              <a:ext uri="{FF2B5EF4-FFF2-40B4-BE49-F238E27FC236}">
                <a16:creationId xmlns:a16="http://schemas.microsoft.com/office/drawing/2014/main" id="{3A7778EB-ECA7-4AB9-98E6-4C21F2F8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64782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87246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C73F4D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C73F4D"/>
                </a:solidFill>
                <a:latin typeface="Arial"/>
                <a:ea typeface="Arial"/>
                <a:cs typeface="Arial"/>
              </a:rPr>
              <a:t>LOCAL WIFI HTTP</a:t>
            </a:r>
          </a:p>
        </p:txBody>
      </p:sp>
      <p:cxnSp>
        <p:nvCxnSpPr>
          <p:cNvPr id="69" name="s2-top-link-1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715000" y="25812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C73F4D"/>
            </a:solidFill>
            <a:prstDash val="dash"/>
            <a:headEnd type="none" w="med" len="med"/>
            <a:tailEnd type="triangle" w="sm" len="sm"/>
          </a:ln>
        </p:spPr>
      </p:cxnSp>
      <p:sp>
        <p:nvSpPr>
          <p:cNvPr id="19" name="s2-top-label-1">
            <a:extLst xmlns:a="http://schemas.openxmlformats.org/drawingml/2006/main">
              <a:ext uri="{FF2B5EF4-FFF2-40B4-BE49-F238E27FC236}">
                <a16:creationId xmlns:a16="http://schemas.microsoft.com/office/drawing/2014/main" id="{62958CD6-2FAF-45C8-808D-CF99B2F1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64782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87246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C73F4D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C73F4D"/>
                </a:solidFill>
                <a:latin typeface="Arial"/>
                <a:ea typeface="Arial"/>
                <a:cs typeface="Arial"/>
              </a:rPr>
              <a:t>SIGNED LoAM FRAME</a:t>
            </a:r>
          </a:p>
        </p:txBody>
      </p:sp>
      <p:cxnSp>
        <p:nvCxnSpPr>
          <p:cNvPr id="71" name="s2-top-link-2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572500" y="25812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C73F4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1" name="s2-top-label-2">
            <a:extLst xmlns:a="http://schemas.openxmlformats.org/drawingml/2006/main">
              <a:ext uri="{FF2B5EF4-FFF2-40B4-BE49-F238E27FC236}">
                <a16:creationId xmlns:a16="http://schemas.microsoft.com/office/drawing/2014/main" id="{AADA3EA8-AD12-41E5-AF38-25F34295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64782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87246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C73F4D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C73F4D"/>
                </a:solidFill>
                <a:latin typeface="Arial"/>
                <a:ea typeface="Arial"/>
                <a:cs typeface="Arial"/>
              </a:rPr>
              <a:t>AUTHENTICATED HTTPS</a:t>
            </a:r>
          </a:p>
        </p:txBody>
      </p:sp>
      <p:cxnSp>
        <p:nvCxnSpPr>
          <p:cNvPr id="73" name="s2-top-link-3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11430000" y="25812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C73F4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3" name="s2-top-label-3">
            <a:extLst xmlns:a="http://schemas.openxmlformats.org/drawingml/2006/main">
              <a:ext uri="{FF2B5EF4-FFF2-40B4-BE49-F238E27FC236}">
                <a16:creationId xmlns:a16="http://schemas.microsoft.com/office/drawing/2014/main" id="{6B458640-A2A5-4B13-9208-D3E9B5F94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64782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94849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C73F4D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C73F4D"/>
                </a:solidFill>
                <a:latin typeface="Arial"/>
                <a:ea typeface="Arial"/>
                <a:cs typeface="Arial"/>
              </a:rPr>
              <a:t>REST POLLING</a:t>
            </a:r>
          </a:p>
        </p:txBody>
      </p:sp>
      <p:sp>
        <p:nvSpPr>
          <p:cNvPr id="24" name="s2-state-saved">
            <a:extLst xmlns:a="http://schemas.openxmlformats.org/drawingml/2006/main">
              <a:ext uri="{FF2B5EF4-FFF2-40B4-BE49-F238E27FC236}">
                <a16:creationId xmlns:a16="http://schemas.microsoft.com/office/drawing/2014/main" id="{83C80A79-974E-4216-874A-F569B8A3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33750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7DA"/>
          </a:solidFill>
          <a:ln xmlns:a="http://schemas.openxmlformats.org/drawingml/2006/main" w="11430">
            <a:solidFill>
              <a:srgbClr val="C73F4D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SAVED</a:t>
            </a:r>
          </a:p>
        </p:txBody>
      </p:sp>
      <p:sp>
        <p:nvSpPr>
          <p:cNvPr id="25" name="s2-state-relayed">
            <a:extLst xmlns:a="http://schemas.openxmlformats.org/drawingml/2006/main">
              <a:ext uri="{FF2B5EF4-FFF2-40B4-BE49-F238E27FC236}">
                <a16:creationId xmlns:a16="http://schemas.microsoft.com/office/drawing/2014/main" id="{DD14D43B-FDF6-4370-A0ED-E8B39771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333750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1F0"/>
          </a:solidFill>
          <a:ln xmlns:a="http://schemas.openxmlformats.org/drawingml/2006/main" w="11430">
            <a:solidFill>
              <a:srgbClr val="177A78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RELAYED</a:t>
            </a:r>
          </a:p>
        </p:txBody>
      </p:sp>
      <p:sp>
        <p:nvSpPr>
          <p:cNvPr id="26" name="s2-state-delivered">
            <a:extLst xmlns:a="http://schemas.openxmlformats.org/drawingml/2006/main">
              <a:ext uri="{FF2B5EF4-FFF2-40B4-BE49-F238E27FC236}">
                <a16:creationId xmlns:a16="http://schemas.microsoft.com/office/drawing/2014/main" id="{96163655-C5E0-42EE-A91C-C3201E55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333750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7FF"/>
          </a:solidFill>
          <a:ln xmlns:a="http://schemas.openxmlformats.org/drawingml/2006/main" w="11430">
            <a:solidFill>
              <a:srgbClr val="365DB5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DELIVERED</a:t>
            </a:r>
          </a:p>
        </p:txBody>
      </p:sp>
      <p:sp>
        <p:nvSpPr>
          <p:cNvPr id="27" name="s2-return-band">
            <a:extLst xmlns:a="http://schemas.openxmlformats.org/drawingml/2006/main">
              <a:ext uri="{FF2B5EF4-FFF2-40B4-BE49-F238E27FC236}">
                <a16:creationId xmlns:a16="http://schemas.microsoft.com/office/drawing/2014/main" id="{BF874911-3DCB-4FA2-8590-5D3E6554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14439900" cy="3095625"/>
          </a:xfrm>
          <a:prstGeom xmlns:a="http://schemas.openxmlformats.org/drawingml/2006/main" prst="roundRect">
            <a:avLst>
              <a:gd name="adj" fmla="val 3692"/>
            </a:avLst>
          </a:prstGeom>
          <a:solidFill xmlns:a="http://schemas.openxmlformats.org/drawingml/2006/main">
            <a:srgbClr val="F5F8FF"/>
          </a:solidFill>
          <a:ln xmlns:a="http://schemas.openxmlformats.org/drawingml/2006/main" w="11430">
            <a:solidFill>
              <a:srgbClr val="345DB3"/>
            </a:solidFill>
            <a:prstDash val="solid"/>
          </a:ln>
        </p:spPr>
      </p:sp>
      <p:sp>
        <p:nvSpPr>
          <p:cNvPr id="28" name="s2-return-band-label">
            <a:extLst xmlns:a="http://schemas.openxmlformats.org/drawingml/2006/main">
              <a:ext uri="{FF2B5EF4-FFF2-40B4-BE49-F238E27FC236}">
                <a16:creationId xmlns:a16="http://schemas.microsoft.com/office/drawing/2014/main" id="{1F4A9627-47A7-417F-B401-63F48A6D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33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5DB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45DB3"/>
                </a:solidFill>
                <a:latin typeface="Arial"/>
                <a:ea typeface="Arial"/>
                <a:cs typeface="Arial"/>
              </a:rPr>
              <a:t>Responder action and return</a:t>
            </a:r>
          </a:p>
        </p:txBody>
      </p:sp>
      <p:sp>
        <p:nvSpPr>
          <p:cNvPr id="29" name="s2-bottom-0">
            <a:extLst xmlns:a="http://schemas.openxmlformats.org/drawingml/2006/main">
              <a:ext uri="{FF2B5EF4-FFF2-40B4-BE49-F238E27FC236}">
                <a16:creationId xmlns:a16="http://schemas.microsoft.com/office/drawing/2014/main" id="{2B36F959-4E9D-4CF3-9B53-13659FDB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410200"/>
            <a:ext cx="219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E8C5"/>
          </a:solidFill>
          <a:ln xmlns:a="http://schemas.openxmlformats.org/drawingml/2006/main" w="15240">
            <a:solidFill>
              <a:srgbClr val="C5872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Responder acknowledges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B6677"/>
                </a:solidFill>
                <a:latin typeface="Arial"/>
                <a:ea typeface="Arial"/>
                <a:cs typeface="Arial"/>
              </a:rPr>
              <a:t>ETA, note and responder status</a:t>
            </a:r>
          </a:p>
        </p:txBody>
      </p:sp>
      <p:sp>
        <p:nvSpPr>
          <p:cNvPr id="30" name="step-6">
            <a:extLst xmlns:a="http://schemas.openxmlformats.org/drawingml/2006/main">
              <a:ext uri="{FF2B5EF4-FFF2-40B4-BE49-F238E27FC236}">
                <a16:creationId xmlns:a16="http://schemas.microsoft.com/office/drawing/2014/main" id="{BF3AA045-CEA4-4B92-A740-94DB145F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5295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5DB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1" name="s2-bottom-1">
            <a:extLst xmlns:a="http://schemas.openxmlformats.org/drawingml/2006/main">
              <a:ext uri="{FF2B5EF4-FFF2-40B4-BE49-F238E27FC236}">
                <a16:creationId xmlns:a16="http://schemas.microsoft.com/office/drawing/2014/main" id="{255E6E2A-49FC-4DB8-9A09-CBE9ECAA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410200"/>
            <a:ext cx="219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DE7FF"/>
          </a:solidFill>
          <a:ln xmlns:a="http://schemas.openxmlformats.org/drawingml/2006/main" w="15240">
            <a:solidFill>
              <a:srgbClr val="365DB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Backend stores response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B6677"/>
                </a:solidFill>
                <a:latin typeface="Arial"/>
                <a:ea typeface="Arial"/>
                <a:cs typeface="Arial"/>
              </a:rPr>
              <a:t>Acknowledgement becomes authoritative</a:t>
            </a:r>
          </a:p>
        </p:txBody>
      </p:sp>
      <p:sp>
        <p:nvSpPr>
          <p:cNvPr id="32" name="step-7">
            <a:extLst xmlns:a="http://schemas.openxmlformats.org/drawingml/2006/main">
              <a:ext uri="{FF2B5EF4-FFF2-40B4-BE49-F238E27FC236}">
                <a16:creationId xmlns:a16="http://schemas.microsoft.com/office/drawing/2014/main" id="{16B29277-8E76-465C-B400-92483E57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295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5DB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3" name="s2-bottom-2">
            <a:extLst xmlns:a="http://schemas.openxmlformats.org/drawingml/2006/main">
              <a:ext uri="{FF2B5EF4-FFF2-40B4-BE49-F238E27FC236}">
                <a16:creationId xmlns:a16="http://schemas.microsoft.com/office/drawing/2014/main" id="{2AACA85F-0815-4C66-AB68-1DB290F4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410200"/>
            <a:ext cx="219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9F1F0"/>
          </a:solidFill>
          <a:ln xmlns:a="http://schemas.openxmlformats.org/drawingml/2006/main" w="15240">
            <a:solidFill>
              <a:srgbClr val="177A7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Gateway sends downlink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B6677"/>
                </a:solidFill>
                <a:latin typeface="Arial"/>
                <a:ea typeface="Arial"/>
                <a:cs typeface="Arial"/>
              </a:rPr>
              <a:t>Queue response when a radio path exists</a:t>
            </a:r>
          </a:p>
        </p:txBody>
      </p:sp>
      <p:sp>
        <p:nvSpPr>
          <p:cNvPr id="34" name="step-8">
            <a:extLst xmlns:a="http://schemas.openxmlformats.org/drawingml/2006/main">
              <a:ext uri="{FF2B5EF4-FFF2-40B4-BE49-F238E27FC236}">
                <a16:creationId xmlns:a16="http://schemas.microsoft.com/office/drawing/2014/main" id="{BFACDE5A-DCC2-4C32-AC61-4C8F9ACA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295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5DB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5" name="s2-bottom-3">
            <a:extLst xmlns:a="http://schemas.openxmlformats.org/drawingml/2006/main">
              <a:ext uri="{FF2B5EF4-FFF2-40B4-BE49-F238E27FC236}">
                <a16:creationId xmlns:a16="http://schemas.microsoft.com/office/drawing/2014/main" id="{94C737C7-9330-4B07-8717-24DB2042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410200"/>
            <a:ext cx="219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9F1F0"/>
          </a:solidFill>
          <a:ln xmlns:a="http://schemas.openxmlformats.org/drawingml/2006/main" w="15240">
            <a:solidFill>
              <a:srgbClr val="177A7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Pod exposes status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B6677"/>
                </a:solidFill>
                <a:latin typeface="Arial"/>
                <a:ea typeface="Arial"/>
                <a:cs typeface="Arial"/>
              </a:rPr>
              <a:t>Phone reads cached acknowledgement</a:t>
            </a:r>
          </a:p>
        </p:txBody>
      </p:sp>
      <p:sp>
        <p:nvSpPr>
          <p:cNvPr id="36" name="step-9">
            <a:extLst xmlns:a="http://schemas.openxmlformats.org/drawingml/2006/main">
              <a:ext uri="{FF2B5EF4-FFF2-40B4-BE49-F238E27FC236}">
                <a16:creationId xmlns:a16="http://schemas.microsoft.com/office/drawing/2014/main" id="{5CD381E2-EB84-4B92-A7A3-E5A62B51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295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5DB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37" name="s2-bottom-4">
            <a:extLst xmlns:a="http://schemas.openxmlformats.org/drawingml/2006/main">
              <a:ext uri="{FF2B5EF4-FFF2-40B4-BE49-F238E27FC236}">
                <a16:creationId xmlns:a16="http://schemas.microsoft.com/office/drawing/2014/main" id="{19049256-AB71-4246-9772-E03DA443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219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6F5FA"/>
          </a:solidFill>
          <a:ln xmlns:a="http://schemas.openxmlformats.org/drawingml/2006/main" w="15240">
            <a:solidFill>
              <a:srgbClr val="18809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Phone reconciles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B6677"/>
                </a:solidFill>
                <a:latin typeface="Arial"/>
                <a:ea typeface="Arial"/>
                <a:cs typeface="Arial"/>
              </a:rPr>
              <a:t>Show ACKNOWLEDGED only after evidence</a:t>
            </a:r>
          </a:p>
        </p:txBody>
      </p:sp>
      <p:sp>
        <p:nvSpPr>
          <p:cNvPr id="38" name="step-10">
            <a:extLst xmlns:a="http://schemas.openxmlformats.org/drawingml/2006/main">
              <a:ext uri="{FF2B5EF4-FFF2-40B4-BE49-F238E27FC236}">
                <a16:creationId xmlns:a16="http://schemas.microsoft.com/office/drawing/2014/main" id="{64509B4F-1613-4E01-B2B6-FF69E890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95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5DB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cxnSp>
        <p:nvCxnSpPr>
          <p:cNvPr id="90" name="s2-transition"/>
          <p:cNvCxnSpPr>
            <a:stCxn xmlns:a="http://schemas.openxmlformats.org/drawingml/2006/main" id="14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13192125" y="3114675"/>
            <a:ext cx="0" cy="229552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45DB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91" name="s2-bottom-link-0"/>
          <p:cNvCxnSpPr>
            <a:stCxn xmlns:a="http://schemas.openxmlformats.org/drawingml/2006/main" id="29" idx="1"/>
            <a:endCxn xmlns:a="http://schemas.openxmlformats.org/drawingml/2006/main" id="31" idx="3"/>
          </p:cNvCxnSpPr>
          <p:nvPr/>
        </p:nvCxnSpPr>
        <p:spPr>
          <a:xfrm xmlns:a="http://schemas.openxmlformats.org/drawingml/2006/main" flipH="1">
            <a:off x="11430000" y="59436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45DB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92" name="s2-bottom-link-1"/>
          <p:cNvCxnSpPr>
            <a:stCxn xmlns:a="http://schemas.openxmlformats.org/drawingml/2006/main" id="31" idx="1"/>
            <a:endCxn xmlns:a="http://schemas.openxmlformats.org/drawingml/2006/main" id="33" idx="3"/>
          </p:cNvCxnSpPr>
          <p:nvPr/>
        </p:nvCxnSpPr>
        <p:spPr>
          <a:xfrm xmlns:a="http://schemas.openxmlformats.org/drawingml/2006/main" flipH="1">
            <a:off x="8572500" y="59436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45DB3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93" name="s2-bottom-link-2"/>
          <p:cNvCxnSpPr>
            <a:stCxn xmlns:a="http://schemas.openxmlformats.org/drawingml/2006/main" id="33" idx="1"/>
            <a:endCxn xmlns:a="http://schemas.openxmlformats.org/drawingml/2006/main" id="35" idx="3"/>
          </p:cNvCxnSpPr>
          <p:nvPr/>
        </p:nvCxnSpPr>
        <p:spPr>
          <a:xfrm xmlns:a="http://schemas.openxmlformats.org/drawingml/2006/main" flipH="1">
            <a:off x="5715000" y="59436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45DB3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94" name="s2-bottom-link-3"/>
          <p:cNvCxnSpPr>
            <a:stCxn xmlns:a="http://schemas.openxmlformats.org/drawingml/2006/main" id="35" idx="1"/>
            <a:endCxn xmlns:a="http://schemas.openxmlformats.org/drawingml/2006/main" id="37" idx="3"/>
          </p:cNvCxnSpPr>
          <p:nvPr/>
        </p:nvCxnSpPr>
        <p:spPr>
          <a:xfrm xmlns:a="http://schemas.openxmlformats.org/drawingml/2006/main" flipH="1">
            <a:off x="2857500" y="59436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45DB3"/>
            </a:solidFill>
            <a:prstDash val="dash"/>
            <a:headEnd type="none" w="med" len="med"/>
            <a:tailEnd type="triangle" w="sm" len="sm"/>
          </a:ln>
        </p:spPr>
      </p:cxnSp>
      <p:sp>
        <p:nvSpPr>
          <p:cNvPr id="44" name="s2-return-label-0">
            <a:extLst xmlns:a="http://schemas.openxmlformats.org/drawingml/2006/main">
              <a:ext uri="{FF2B5EF4-FFF2-40B4-BE49-F238E27FC236}">
                <a16:creationId xmlns:a16="http://schemas.microsoft.com/office/drawing/2014/main" id="{B9BB3C66-EA42-4494-922D-501E82D7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5010150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345DB3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345DB3"/>
                </a:solidFill>
                <a:latin typeface="Arial"/>
                <a:ea typeface="Arial"/>
                <a:cs typeface="Arial"/>
              </a:rPr>
              <a:t>PERSIST</a:t>
            </a:r>
          </a:p>
        </p:txBody>
      </p:sp>
      <p:sp>
        <p:nvSpPr>
          <p:cNvPr id="45" name="s2-return-label-1">
            <a:extLst xmlns:a="http://schemas.openxmlformats.org/drawingml/2006/main">
              <a:ext uri="{FF2B5EF4-FFF2-40B4-BE49-F238E27FC236}">
                <a16:creationId xmlns:a16="http://schemas.microsoft.com/office/drawing/2014/main" id="{B07217E6-733B-4778-A2D0-250CEE94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010150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345DB3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345DB3"/>
                </a:solidFill>
                <a:latin typeface="Arial"/>
                <a:ea typeface="Arial"/>
                <a:cs typeface="Arial"/>
              </a:rPr>
              <a:t>BACKHAUL</a:t>
            </a:r>
          </a:p>
        </p:txBody>
      </p:sp>
      <p:sp>
        <p:nvSpPr>
          <p:cNvPr id="46" name="s2-return-label-2">
            <a:extLst xmlns:a="http://schemas.openxmlformats.org/drawingml/2006/main">
              <a:ext uri="{FF2B5EF4-FFF2-40B4-BE49-F238E27FC236}">
                <a16:creationId xmlns:a16="http://schemas.microsoft.com/office/drawing/2014/main" id="{0373E6CD-3A69-47D3-85D3-5D73A92E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010150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87246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345DB3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345DB3"/>
                </a:solidFill>
                <a:latin typeface="Arial"/>
                <a:ea typeface="Arial"/>
                <a:cs typeface="Arial"/>
              </a:rPr>
              <a:t>LoRa DOWNLINK</a:t>
            </a:r>
          </a:p>
        </p:txBody>
      </p:sp>
      <p:sp>
        <p:nvSpPr>
          <p:cNvPr id="47" name="s2-return-label-3">
            <a:extLst xmlns:a="http://schemas.openxmlformats.org/drawingml/2006/main">
              <a:ext uri="{FF2B5EF4-FFF2-40B4-BE49-F238E27FC236}">
                <a16:creationId xmlns:a16="http://schemas.microsoft.com/office/drawing/2014/main" id="{3373F917-278B-4AB2-94CE-49C2D5CC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010150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87246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345DB3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345DB3"/>
                </a:solidFill>
                <a:latin typeface="Arial"/>
                <a:ea typeface="Arial"/>
                <a:cs typeface="Arial"/>
              </a:rPr>
              <a:t>LOCAL STATUS</a:t>
            </a:r>
          </a:p>
        </p:txBody>
      </p:sp>
      <p:sp>
        <p:nvSpPr>
          <p:cNvPr id="48" name="s2-state-ack">
            <a:extLst xmlns:a="http://schemas.openxmlformats.org/drawingml/2006/main">
              <a:ext uri="{FF2B5EF4-FFF2-40B4-BE49-F238E27FC236}">
                <a16:creationId xmlns:a16="http://schemas.microsoft.com/office/drawing/2014/main" id="{0D2B939C-5EBF-4038-8F9F-C7E63951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781800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5FA"/>
          </a:solidFill>
          <a:ln xmlns:a="http://schemas.openxmlformats.org/drawingml/2006/main" w="11430">
            <a:solidFill>
              <a:srgbClr val="188090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ACKNOWLEDGED</a:t>
            </a:r>
          </a:p>
        </p:txBody>
      </p:sp>
      <p:sp>
        <p:nvSpPr>
          <p:cNvPr id="49" name="s2-honesty">
            <a:extLst xmlns:a="http://schemas.openxmlformats.org/drawingml/2006/main">
              <a:ext uri="{FF2B5EF4-FFF2-40B4-BE49-F238E27FC236}">
                <a16:creationId xmlns:a16="http://schemas.microsoft.com/office/drawing/2014/main" id="{EF414DFD-8517-454C-82C3-7D49447A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687705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B667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B6677"/>
                </a:solidFill>
                <a:latin typeface="Arial"/>
                <a:ea typeface="Arial"/>
                <a:cs typeface="Arial"/>
              </a:rPr>
              <a:t>If no return path exists, the handset keeps its last proven state. It never invents delivery or acknowledgement.</a:t>
            </a:r>
          </a:p>
        </p:txBody>
      </p:sp>
      <p:sp>
        <p:nvSpPr>
          <p:cNvPr id="50" name="footer-left-2">
            <a:extLst xmlns:a="http://schemas.openxmlformats.org/drawingml/2006/main">
              <a:ext uri="{FF2B5EF4-FFF2-40B4-BE49-F238E27FC236}">
                <a16:creationId xmlns:a16="http://schemas.microsoft.com/office/drawing/2014/main" id="{C7796895-8614-48E2-969F-C10887FC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153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677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B6677"/>
                </a:solidFill>
                <a:latin typeface="Arial"/>
                <a:ea typeface="Arial"/>
                <a:cs typeface="Arial"/>
              </a:rPr>
              <a:t>All shapes and connectors are editable PowerPoint objects</a:t>
            </a:r>
          </a:p>
        </p:txBody>
      </p:sp>
      <p:sp>
        <p:nvSpPr>
          <p:cNvPr id="51" name="footer-right-2">
            <a:extLst xmlns:a="http://schemas.openxmlformats.org/drawingml/2006/main">
              <a:ext uri="{FF2B5EF4-FFF2-40B4-BE49-F238E27FC236}">
                <a16:creationId xmlns:a16="http://schemas.microsoft.com/office/drawing/2014/main" id="{C1E8E23F-6650-4070-AA81-625B486C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8115300"/>
            <a:ext cx="733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B6677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B6677"/>
                </a:solidFill>
                <a:latin typeface="Arial"/>
                <a:ea typeface="Arial"/>
                <a:cs typeface="Arial"/>
              </a:rPr>
              <a:t>Solid line: software path   Dashed line: optional or hardware path awaiting field verification</a:t>
            </a:r>
          </a:p>
        </p:txBody>
      </p:sp>
    </p:spTree>
    <p:extLst>
      <p:ext uri="{BB962C8B-B14F-4D97-AF65-F5344CB8AC3E}">
        <p14:creationId xmlns:p14="http://schemas.microsoft.com/office/powerpoint/2010/main" val="16819666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title-3">
            <a:extLst xmlns:a="http://schemas.openxmlformats.org/drawingml/2006/main">
              <a:ext uri="{FF2B5EF4-FFF2-40B4-BE49-F238E27FC236}">
                <a16:creationId xmlns:a16="http://schemas.microsoft.com/office/drawing/2014/main" id="{F2BE5013-5C75-4DBC-B04C-290A47AF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AqOne Processing Pipelines</a:t>
            </a:r>
          </a:p>
        </p:txBody>
      </p:sp>
      <p:sp>
        <p:nvSpPr>
          <p:cNvPr id="2" name="subtitle-3">
            <a:extLst xmlns:a="http://schemas.openxmlformats.org/drawingml/2006/main">
              <a:ext uri="{FF2B5EF4-FFF2-40B4-BE49-F238E27FC236}">
                <a16:creationId xmlns:a16="http://schemas.microsoft.com/office/drawing/2014/main" id="{BF84D0D9-C501-49B1-A7EF-0181FBD4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677"/>
                </a:solidFill>
                <a:latin typeface="Arial"/>
                <a:ea typeface="Arial"/>
                <a:cs typeface="Arial"/>
              </a:rPr>
              <a:t>Each pipeline has its own lane, arrow color and output surface</a:t>
            </a:r>
          </a:p>
        </p:txBody>
      </p:sp>
      <p:sp>
        <p:nvSpPr>
          <p:cNvPr id="3" name="page-marker-3">
            <a:extLst xmlns:a="http://schemas.openxmlformats.org/drawingml/2006/main">
              <a:ext uri="{FF2B5EF4-FFF2-40B4-BE49-F238E27FC236}">
                <a16:creationId xmlns:a16="http://schemas.microsoft.com/office/drawing/2014/main" id="{CC053B49-F0F9-40C6-BB8D-1A8D81E3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5950" y="285750"/>
            <a:ext cx="13525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CC"/>
          </a:solidFill>
          <a:ln xmlns:a="http://schemas.openxmlformats.org/drawingml/2006/main" w="11430">
            <a:solidFill>
              <a:srgbClr val="D4B23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3 OF 3</a:t>
            </a:r>
          </a:p>
        </p:txBody>
      </p:sp>
      <p:sp>
        <p:nvSpPr>
          <p:cNvPr id="4" name="s3-col-0">
            <a:extLst xmlns:a="http://schemas.openxmlformats.org/drawingml/2006/main">
              <a:ext uri="{FF2B5EF4-FFF2-40B4-BE49-F238E27FC236}">
                <a16:creationId xmlns:a16="http://schemas.microsoft.com/office/drawing/2014/main" id="{CEFBFA08-0A97-4816-BA39-ADA66470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08585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667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677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5" name="s3-col-1">
            <a:extLst xmlns:a="http://schemas.openxmlformats.org/drawingml/2006/main">
              <a:ext uri="{FF2B5EF4-FFF2-40B4-BE49-F238E27FC236}">
                <a16:creationId xmlns:a16="http://schemas.microsoft.com/office/drawing/2014/main" id="{DE0E09CA-CB7C-4E4A-AA30-D3396751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08585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667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677"/>
                </a:solidFill>
                <a:latin typeface="Arial"/>
                <a:ea typeface="Arial"/>
                <a:cs typeface="Arial"/>
              </a:rPr>
              <a:t>QUALITY AND PREPARATION</a:t>
            </a:r>
          </a:p>
        </p:txBody>
      </p:sp>
      <p:sp>
        <p:nvSpPr>
          <p:cNvPr id="6" name="s3-col-2">
            <a:extLst xmlns:a="http://schemas.openxmlformats.org/drawingml/2006/main">
              <a:ext uri="{FF2B5EF4-FFF2-40B4-BE49-F238E27FC236}">
                <a16:creationId xmlns:a16="http://schemas.microsoft.com/office/drawing/2014/main" id="{6BC3F054-43C2-46AF-A5CC-3F0BE3AE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08585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667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677"/>
                </a:solidFill>
                <a:latin typeface="Arial"/>
                <a:ea typeface="Arial"/>
                <a:cs typeface="Arial"/>
              </a:rPr>
              <a:t>MODEL OR CORE LOGIC</a:t>
            </a:r>
          </a:p>
        </p:txBody>
      </p:sp>
      <p:sp>
        <p:nvSpPr>
          <p:cNvPr id="7" name="s3-col-3">
            <a:extLst xmlns:a="http://schemas.openxmlformats.org/drawingml/2006/main">
              <a:ext uri="{FF2B5EF4-FFF2-40B4-BE49-F238E27FC236}">
                <a16:creationId xmlns:a16="http://schemas.microsoft.com/office/drawing/2014/main" id="{D4F2FA3F-AE0E-4463-BF83-D6CABABC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08585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667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677"/>
                </a:solidFill>
                <a:latin typeface="Arial"/>
                <a:ea typeface="Arial"/>
                <a:cs typeface="Arial"/>
              </a:rPr>
              <a:t>DECISION WORKFLOW</a:t>
            </a:r>
          </a:p>
        </p:txBody>
      </p:sp>
      <p:sp>
        <p:nvSpPr>
          <p:cNvPr id="8" name="s3-col-4">
            <a:extLst xmlns:a="http://schemas.openxmlformats.org/drawingml/2006/main">
              <a:ext uri="{FF2B5EF4-FFF2-40B4-BE49-F238E27FC236}">
                <a16:creationId xmlns:a16="http://schemas.microsoft.com/office/drawing/2014/main" id="{FDBD95C3-9161-4794-8120-6BF11F500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1085850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667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677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9" name="s3-sos-band">
            <a:extLst xmlns:a="http://schemas.openxmlformats.org/drawingml/2006/main">
              <a:ext uri="{FF2B5EF4-FFF2-40B4-BE49-F238E27FC236}">
                <a16:creationId xmlns:a16="http://schemas.microsoft.com/office/drawing/2014/main" id="{AF2683DD-CC52-4A2B-B960-02344273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443990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3F4D"/>
            </a:solidFill>
            <a:prstDash val="solid"/>
          </a:ln>
        </p:spPr>
      </p:sp>
      <p:sp>
        <p:nvSpPr>
          <p:cNvPr id="10" name="s3-sos-title">
            <a:extLst xmlns:a="http://schemas.openxmlformats.org/drawingml/2006/main">
              <a:ext uri="{FF2B5EF4-FFF2-40B4-BE49-F238E27FC236}">
                <a16:creationId xmlns:a16="http://schemas.microsoft.com/office/drawing/2014/main" id="{7EDEE15F-8AFC-48FC-82F8-A25CD84D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1476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3F4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3F4D"/>
                </a:solidFill>
                <a:latin typeface="Arial"/>
                <a:ea typeface="Arial"/>
                <a:cs typeface="Arial"/>
              </a:rPr>
              <a:t>MANUAL SOS</a:t>
            </a:r>
          </a:p>
        </p:txBody>
      </p:sp>
      <p:sp>
        <p:nvSpPr>
          <p:cNvPr id="11" name="s3-sos-0">
            <a:extLst xmlns:a="http://schemas.openxmlformats.org/drawingml/2006/main">
              <a:ext uri="{FF2B5EF4-FFF2-40B4-BE49-F238E27FC236}">
                <a16:creationId xmlns:a16="http://schemas.microsoft.com/office/drawing/2014/main" id="{5AE0ED72-9EDF-4467-9DCC-E5EEA285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5621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D7DA"/>
          </a:solidFill>
          <a:ln xmlns:a="http://schemas.openxmlformats.org/drawingml/2006/main" w="15240">
            <a:solidFill>
              <a:srgbClr val="C73F4D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Phone or pod SOS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Human-triggered distress</a:t>
            </a:r>
          </a:p>
        </p:txBody>
      </p:sp>
      <p:sp>
        <p:nvSpPr>
          <p:cNvPr id="12" name="s3-sos-1">
            <a:extLst xmlns:a="http://schemas.openxmlformats.org/drawingml/2006/main">
              <a:ext uri="{FF2B5EF4-FFF2-40B4-BE49-F238E27FC236}">
                <a16:creationId xmlns:a16="http://schemas.microsoft.com/office/drawing/2014/main" id="{1AFC40EA-4A8E-4D26-BE12-3A45A9B5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621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D7DA"/>
          </a:solidFill>
          <a:ln xmlns:a="http://schemas.openxmlformats.org/drawingml/2006/main" w="15240">
            <a:solidFill>
              <a:srgbClr val="C73F4D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Validate and deduplicate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Emergency intake remains unconditional</a:t>
            </a:r>
          </a:p>
        </p:txBody>
      </p:sp>
      <p:sp>
        <p:nvSpPr>
          <p:cNvPr id="13" name="s3-sos-2">
            <a:extLst xmlns:a="http://schemas.openxmlformats.org/drawingml/2006/main">
              <a:ext uri="{FF2B5EF4-FFF2-40B4-BE49-F238E27FC236}">
                <a16:creationId xmlns:a16="http://schemas.microsoft.com/office/drawing/2014/main" id="{55B15EEF-02CD-473C-BA3B-6D6B1C83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621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D7DA"/>
          </a:solidFill>
          <a:ln xmlns:a="http://schemas.openxmlformats.org/drawingml/2006/main" w="15240">
            <a:solidFill>
              <a:srgbClr val="C73F4D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Persist incident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AI does not gate delivery</a:t>
            </a:r>
          </a:p>
        </p:txBody>
      </p:sp>
      <p:sp>
        <p:nvSpPr>
          <p:cNvPr id="14" name="s3-sos-3">
            <a:extLst xmlns:a="http://schemas.openxmlformats.org/drawingml/2006/main">
              <a:ext uri="{FF2B5EF4-FFF2-40B4-BE49-F238E27FC236}">
                <a16:creationId xmlns:a16="http://schemas.microsoft.com/office/drawing/2014/main" id="{08E188A3-AD00-4BDE-BB46-BEF7B0B2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5621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D7DA"/>
          </a:solidFill>
          <a:ln xmlns:a="http://schemas.openxmlformats.org/drawingml/2006/main" w="15240">
            <a:solidFill>
              <a:srgbClr val="C73F4D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Responder acknowledgement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ETA, note and resolution</a:t>
            </a:r>
          </a:p>
        </p:txBody>
      </p:sp>
      <p:sp>
        <p:nvSpPr>
          <p:cNvPr id="15" name="s3-sos-4">
            <a:extLst xmlns:a="http://schemas.openxmlformats.org/drawingml/2006/main">
              <a:ext uri="{FF2B5EF4-FFF2-40B4-BE49-F238E27FC236}">
                <a16:creationId xmlns:a16="http://schemas.microsoft.com/office/drawing/2014/main" id="{775DE20C-56E9-4584-9C5B-3D999537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1562100"/>
            <a:ext cx="223837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6F5FA"/>
          </a:solidFill>
          <a:ln xmlns:a="http://schemas.openxmlformats.org/drawingml/2006/main" w="15240">
            <a:solidFill>
              <a:srgbClr val="188090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Dashboard and phone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Delivery state evidence</a:t>
            </a:r>
          </a:p>
        </p:txBody>
      </p:sp>
      <p:cxnSp>
        <p:nvCxnSpPr>
          <p:cNvPr id="82" name="s3-sos-link-0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286250" y="19526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C73F4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83" name="s3-sos-link-1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762750" y="19526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C73F4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84" name="s3-sos-link-2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239250" y="19526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C73F4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85" name="s3-sos-link-3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11715750" y="19526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C73F4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0" name="s3-weather-band">
            <a:extLst xmlns:a="http://schemas.openxmlformats.org/drawingml/2006/main">
              <a:ext uri="{FF2B5EF4-FFF2-40B4-BE49-F238E27FC236}">
                <a16:creationId xmlns:a16="http://schemas.microsoft.com/office/drawing/2014/main" id="{437FBE00-4CF4-4694-87D8-6942E761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86050"/>
            <a:ext cx="1443990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552A8"/>
            </a:solidFill>
            <a:prstDash val="solid"/>
          </a:ln>
        </p:spPr>
      </p:sp>
      <p:sp>
        <p:nvSpPr>
          <p:cNvPr id="21" name="s3-weather-title">
            <a:extLst xmlns:a="http://schemas.openxmlformats.org/drawingml/2006/main">
              <a:ext uri="{FF2B5EF4-FFF2-40B4-BE49-F238E27FC236}">
                <a16:creationId xmlns:a16="http://schemas.microsoft.com/office/drawing/2014/main" id="{B0502D3B-AAB0-4F90-B3EE-B8C8CF1C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71800"/>
            <a:ext cx="1476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552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552A8"/>
                </a:solidFill>
                <a:latin typeface="Arial"/>
                <a:ea typeface="Arial"/>
                <a:cs typeface="Arial"/>
              </a:rPr>
              <a:t>ENVIRONMENTAL WARNING</a:t>
            </a:r>
          </a:p>
        </p:txBody>
      </p:sp>
      <p:sp>
        <p:nvSpPr>
          <p:cNvPr id="22" name="s3-weather-0">
            <a:extLst xmlns:a="http://schemas.openxmlformats.org/drawingml/2006/main">
              <a:ext uri="{FF2B5EF4-FFF2-40B4-BE49-F238E27FC236}">
                <a16:creationId xmlns:a16="http://schemas.microsoft.com/office/drawing/2014/main" id="{261573F0-FC0C-4A6A-9DAC-46037E60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194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9DBFA"/>
          </a:solidFill>
          <a:ln xmlns:a="http://schemas.openxmlformats.org/drawingml/2006/main" w="15240">
            <a:solidFill>
              <a:srgbClr val="7552A8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Pressure and weather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Fixed buoys plus Open-Meteo</a:t>
            </a:r>
          </a:p>
        </p:txBody>
      </p:sp>
      <p:sp>
        <p:nvSpPr>
          <p:cNvPr id="23" name="s3-weather-1">
            <a:extLst xmlns:a="http://schemas.openxmlformats.org/drawingml/2006/main">
              <a:ext uri="{FF2B5EF4-FFF2-40B4-BE49-F238E27FC236}">
                <a16:creationId xmlns:a16="http://schemas.microsoft.com/office/drawing/2014/main" id="{239860D2-932A-4773-BDDE-F562946A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194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9DBFA"/>
          </a:solidFill>
          <a:ln xmlns:a="http://schemas.openxmlformats.org/drawingml/2006/main" w="15240">
            <a:solidFill>
              <a:srgbClr val="7552A8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Quality and freshness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Reject stale or insufficient input</a:t>
            </a:r>
          </a:p>
        </p:txBody>
      </p:sp>
      <p:sp>
        <p:nvSpPr>
          <p:cNvPr id="24" name="s3-weather-2">
            <a:extLst xmlns:a="http://schemas.openxmlformats.org/drawingml/2006/main">
              <a:ext uri="{FF2B5EF4-FFF2-40B4-BE49-F238E27FC236}">
                <a16:creationId xmlns:a16="http://schemas.microsoft.com/office/drawing/2014/main" id="{EDB99F7F-C709-4081-95C2-18CCE1E9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194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9DBFA"/>
          </a:solidFill>
          <a:ln xmlns:a="http://schemas.openxmlformats.org/drawingml/2006/main" w="15240">
            <a:solidFill>
              <a:srgbClr val="7552A8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Squall and danger models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Backend and browser inference</a:t>
            </a:r>
          </a:p>
        </p:txBody>
      </p:sp>
      <p:sp>
        <p:nvSpPr>
          <p:cNvPr id="25" name="s3-weather-3">
            <a:extLst xmlns:a="http://schemas.openxmlformats.org/drawingml/2006/main">
              <a:ext uri="{FF2B5EF4-FFF2-40B4-BE49-F238E27FC236}">
                <a16:creationId xmlns:a16="http://schemas.microsoft.com/office/drawing/2014/main" id="{4AC64156-D778-4029-B8B9-C0BD8EF3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194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9DBFA"/>
          </a:solidFill>
          <a:ln xmlns:a="http://schemas.openxmlformats.org/drawingml/2006/main" w="15240">
            <a:solidFill>
              <a:srgbClr val="7552A8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Advisory review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Official and human warnings take precedence</a:t>
            </a:r>
          </a:p>
        </p:txBody>
      </p:sp>
      <p:sp>
        <p:nvSpPr>
          <p:cNvPr id="26" name="s3-weather-4">
            <a:extLst xmlns:a="http://schemas.openxmlformats.org/drawingml/2006/main">
              <a:ext uri="{FF2B5EF4-FFF2-40B4-BE49-F238E27FC236}">
                <a16:creationId xmlns:a16="http://schemas.microsoft.com/office/drawing/2014/main" id="{87A72A00-FA5C-404A-83FB-3D1D3145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819400"/>
            <a:ext cx="223837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6F5FA"/>
          </a:solidFill>
          <a:ln xmlns:a="http://schemas.openxmlformats.org/drawingml/2006/main" w="15240">
            <a:solidFill>
              <a:srgbClr val="188090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Mobile and dashboard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Warning with source and age</a:t>
            </a:r>
          </a:p>
        </p:txBody>
      </p:sp>
      <p:cxnSp>
        <p:nvCxnSpPr>
          <p:cNvPr id="93" name="s3-weather-link-0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4286250" y="32099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552A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94" name="s3-weather-link-1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6762750" y="32099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552A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95" name="s3-weather-link-2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9239250" y="32099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552A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96" name="s3-weather-link-3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1715750" y="32099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552A8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31" name="s3-trip-band">
            <a:extLst xmlns:a="http://schemas.openxmlformats.org/drawingml/2006/main">
              <a:ext uri="{FF2B5EF4-FFF2-40B4-BE49-F238E27FC236}">
                <a16:creationId xmlns:a16="http://schemas.microsoft.com/office/drawing/2014/main" id="{3D6FB793-15CC-4A11-B86E-EF234298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1443990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B5CB8"/>
            </a:solidFill>
            <a:prstDash val="solid"/>
          </a:ln>
        </p:spPr>
      </p:sp>
      <p:sp>
        <p:nvSpPr>
          <p:cNvPr id="32" name="s3-trip-title">
            <a:extLst xmlns:a="http://schemas.openxmlformats.org/drawingml/2006/main">
              <a:ext uri="{FF2B5EF4-FFF2-40B4-BE49-F238E27FC236}">
                <a16:creationId xmlns:a16="http://schemas.microsoft.com/office/drawing/2014/main" id="{839B4427-4C3E-404D-B30B-9A67BB7C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29100"/>
            <a:ext cx="1476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5CB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5CB8"/>
                </a:solidFill>
                <a:latin typeface="Arial"/>
                <a:ea typeface="Arial"/>
                <a:cs typeface="Arial"/>
              </a:rPr>
              <a:t>TRIP ANOMALY</a:t>
            </a:r>
          </a:p>
        </p:txBody>
      </p:sp>
      <p:sp>
        <p:nvSpPr>
          <p:cNvPr id="33" name="s3-trip-0">
            <a:extLst xmlns:a="http://schemas.openxmlformats.org/drawingml/2006/main">
              <a:ext uri="{FF2B5EF4-FFF2-40B4-BE49-F238E27FC236}">
                <a16:creationId xmlns:a16="http://schemas.microsoft.com/office/drawing/2014/main" id="{477A35C4-4443-4DBD-996D-10B5940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0767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4E3FA"/>
          </a:solidFill>
          <a:ln xmlns:a="http://schemas.openxmlformats.org/drawingml/2006/main" w="15240">
            <a:solidFill>
              <a:srgbClr val="5B5CB8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Contacts and trip history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Routine vessel observations</a:t>
            </a:r>
          </a:p>
        </p:txBody>
      </p:sp>
      <p:sp>
        <p:nvSpPr>
          <p:cNvPr id="34" name="s3-trip-1">
            <a:extLst xmlns:a="http://schemas.openxmlformats.org/drawingml/2006/main">
              <a:ext uri="{FF2B5EF4-FFF2-40B4-BE49-F238E27FC236}">
                <a16:creationId xmlns:a16="http://schemas.microsoft.com/office/drawing/2014/main" id="{52AEFC4F-B91E-458A-87CD-50B2AC72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767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4E3FA"/>
          </a:solidFill>
          <a:ln xmlns:a="http://schemas.openxmlformats.org/drawingml/2006/main" w="15240">
            <a:solidFill>
              <a:srgbClr val="5B5CB8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Causal history filter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No future or candidate leakage</a:t>
            </a:r>
          </a:p>
        </p:txBody>
      </p:sp>
      <p:sp>
        <p:nvSpPr>
          <p:cNvPr id="35" name="s3-trip-2">
            <a:extLst xmlns:a="http://schemas.openxmlformats.org/drawingml/2006/main">
              <a:ext uri="{FF2B5EF4-FFF2-40B4-BE49-F238E27FC236}">
                <a16:creationId xmlns:a16="http://schemas.microsoft.com/office/drawing/2014/main" id="{BE665A1D-DA1C-41D3-96C3-7D89FDE3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767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4E3FA"/>
          </a:solidFill>
          <a:ln xmlns:a="http://schemas.openxmlformats.org/drawingml/2006/main" w="15240">
            <a:solidFill>
              <a:srgbClr val="5B5CB8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Per-vessel profile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Duration and route comparison</a:t>
            </a:r>
          </a:p>
        </p:txBody>
      </p:sp>
      <p:sp>
        <p:nvSpPr>
          <p:cNvPr id="36" name="s3-trip-3">
            <a:extLst xmlns:a="http://schemas.openxmlformats.org/drawingml/2006/main">
              <a:ext uri="{FF2B5EF4-FFF2-40B4-BE49-F238E27FC236}">
                <a16:creationId xmlns:a16="http://schemas.microsoft.com/office/drawing/2014/main" id="{7EB9C943-4626-4BD6-8F49-90452D1E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0767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4E3FA"/>
          </a:solidFill>
          <a:ln xmlns:a="http://schemas.openxmlformats.org/drawingml/2006/main" w="15240">
            <a:solidFill>
              <a:srgbClr val="5B5CB8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Verification and escalation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Silence alone does not prove distress</a:t>
            </a:r>
          </a:p>
        </p:txBody>
      </p:sp>
      <p:sp>
        <p:nvSpPr>
          <p:cNvPr id="37" name="s3-trip-4">
            <a:extLst xmlns:a="http://schemas.openxmlformats.org/drawingml/2006/main">
              <a:ext uri="{FF2B5EF4-FFF2-40B4-BE49-F238E27FC236}">
                <a16:creationId xmlns:a16="http://schemas.microsoft.com/office/drawing/2014/main" id="{36EA0400-21AB-4E5A-9092-E9420E2E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076700"/>
            <a:ext cx="223837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6F5FA"/>
          </a:solidFill>
          <a:ln xmlns:a="http://schemas.openxmlformats.org/drawingml/2006/main" w="15240">
            <a:solidFill>
              <a:srgbClr val="188090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Responder review queue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Evidence and confidence</a:t>
            </a:r>
          </a:p>
        </p:txBody>
      </p:sp>
      <p:cxnSp>
        <p:nvCxnSpPr>
          <p:cNvPr id="104" name="s3-trip-link-0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4286250" y="44672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B5CB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5" name="s3-trip-link-1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6762750" y="44672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B5CB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6" name="s3-trip-link-2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9239250" y="44672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B5CB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7" name="s3-trip-link-3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11715750" y="44672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B5CB8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42" name="s3-drift-band">
            <a:extLst xmlns:a="http://schemas.openxmlformats.org/drawingml/2006/main">
              <a:ext uri="{FF2B5EF4-FFF2-40B4-BE49-F238E27FC236}">
                <a16:creationId xmlns:a16="http://schemas.microsoft.com/office/drawing/2014/main" id="{1CC13650-F17A-415E-9C50-9DB0A4B3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00650"/>
            <a:ext cx="1443990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361A8"/>
            </a:solidFill>
            <a:prstDash val="solid"/>
          </a:ln>
        </p:spPr>
      </p:sp>
      <p:sp>
        <p:nvSpPr>
          <p:cNvPr id="43" name="s3-drift-title">
            <a:extLst xmlns:a="http://schemas.openxmlformats.org/drawingml/2006/main">
              <a:ext uri="{FF2B5EF4-FFF2-40B4-BE49-F238E27FC236}">
                <a16:creationId xmlns:a16="http://schemas.microsoft.com/office/drawing/2014/main" id="{0469F7FC-4D78-451C-AD3E-DEC6F4C1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86400"/>
            <a:ext cx="1476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1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1A8"/>
                </a:solidFill>
                <a:latin typeface="Arial"/>
                <a:ea typeface="Arial"/>
                <a:cs typeface="Arial"/>
              </a:rPr>
              <a:t>DRIFT AND SEARCH</a:t>
            </a:r>
          </a:p>
        </p:txBody>
      </p:sp>
      <p:sp>
        <p:nvSpPr>
          <p:cNvPr id="44" name="s3-drift-0">
            <a:extLst xmlns:a="http://schemas.openxmlformats.org/drawingml/2006/main">
              <a:ext uri="{FF2B5EF4-FFF2-40B4-BE49-F238E27FC236}">
                <a16:creationId xmlns:a16="http://schemas.microsoft.com/office/drawing/2014/main" id="{E01394E9-C8F8-4CBF-AD05-CEDB8F55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3340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1E7FA"/>
          </a:solidFill>
          <a:ln xmlns:a="http://schemas.openxmlformats.org/drawingml/2006/main" w="15240">
            <a:solidFill>
              <a:srgbClr val="5361A8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Confirmed incident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Last reliable fix and object class</a:t>
            </a:r>
          </a:p>
        </p:txBody>
      </p:sp>
      <p:sp>
        <p:nvSpPr>
          <p:cNvPr id="45" name="s3-drift-1">
            <a:extLst xmlns:a="http://schemas.openxmlformats.org/drawingml/2006/main">
              <a:ext uri="{FF2B5EF4-FFF2-40B4-BE49-F238E27FC236}">
                <a16:creationId xmlns:a16="http://schemas.microsoft.com/office/drawing/2014/main" id="{80190A5D-9C82-4AAA-8340-EAC9120C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3340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1E7FA"/>
          </a:solidFill>
          <a:ln xmlns:a="http://schemas.openxmlformats.org/drawingml/2006/main" w="15240">
            <a:solidFill>
              <a:srgbClr val="5361A8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Environmental forcing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Wind, current and coastline</a:t>
            </a:r>
          </a:p>
        </p:txBody>
      </p:sp>
      <p:sp>
        <p:nvSpPr>
          <p:cNvPr id="46" name="s3-drift-2">
            <a:extLst xmlns:a="http://schemas.openxmlformats.org/drawingml/2006/main">
              <a:ext uri="{FF2B5EF4-FFF2-40B4-BE49-F238E27FC236}">
                <a16:creationId xmlns:a16="http://schemas.microsoft.com/office/drawing/2014/main" id="{6C82E841-212A-451F-9759-0484569A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340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1E7FA"/>
          </a:solidFill>
          <a:ln xmlns:a="http://schemas.openxmlformats.org/drawingml/2006/main" w="15240">
            <a:solidFill>
              <a:srgbClr val="5361A8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Monte Carlo leeway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Particle paths and uncertainty</a:t>
            </a:r>
          </a:p>
        </p:txBody>
      </p:sp>
      <p:sp>
        <p:nvSpPr>
          <p:cNvPr id="47" name="s3-drift-3">
            <a:extLst xmlns:a="http://schemas.openxmlformats.org/drawingml/2006/main">
              <a:ext uri="{FF2B5EF4-FFF2-40B4-BE49-F238E27FC236}">
                <a16:creationId xmlns:a16="http://schemas.microsoft.com/office/drawing/2014/main" id="{565B4BF3-BC1C-4564-A88B-030737D9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3340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1E7FA"/>
          </a:solidFill>
          <a:ln xmlns:a="http://schemas.openxmlformats.org/drawingml/2006/main" w="15240">
            <a:solidFill>
              <a:srgbClr val="5361A8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Search posterior update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Negative search evidence</a:t>
            </a:r>
          </a:p>
        </p:txBody>
      </p:sp>
      <p:sp>
        <p:nvSpPr>
          <p:cNvPr id="48" name="s3-drift-4">
            <a:extLst xmlns:a="http://schemas.openxmlformats.org/drawingml/2006/main">
              <a:ext uri="{FF2B5EF4-FFF2-40B4-BE49-F238E27FC236}">
                <a16:creationId xmlns:a16="http://schemas.microsoft.com/office/drawing/2014/main" id="{77D77AD4-3F5A-44C8-A89F-EE11A2C7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5334000"/>
            <a:ext cx="223837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6F5FA"/>
          </a:solidFill>
          <a:ln xmlns:a="http://schemas.openxmlformats.org/drawingml/2006/main" w="15240">
            <a:solidFill>
              <a:srgbClr val="188090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Search contours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50, 75 and 95 percent zones</a:t>
            </a:r>
          </a:p>
        </p:txBody>
      </p:sp>
      <p:cxnSp>
        <p:nvCxnSpPr>
          <p:cNvPr id="115" name="s3-drift-link-0"/>
          <p:cNvCxnSpPr>
            <a:stCxn xmlns:a="http://schemas.openxmlformats.org/drawingml/2006/main" id="44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>
            <a:off x="4286250" y="57245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361A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16" name="s3-drift-link-1"/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6762750" y="57245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361A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17" name="s3-drift-link-2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9239250" y="57245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361A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18" name="s3-drift-link-3"/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11715750" y="57245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361A8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53" name="s3-catch-band">
            <a:extLst xmlns:a="http://schemas.openxmlformats.org/drawingml/2006/main">
              <a:ext uri="{FF2B5EF4-FFF2-40B4-BE49-F238E27FC236}">
                <a16:creationId xmlns:a16="http://schemas.microsoft.com/office/drawing/2014/main" id="{5CDEAA2A-3A86-4661-A47E-E0B022EC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1443990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7D54"/>
            </a:solidFill>
            <a:prstDash val="solid"/>
          </a:ln>
        </p:spPr>
      </p:sp>
      <p:sp>
        <p:nvSpPr>
          <p:cNvPr id="54" name="s3-catch-title">
            <a:extLst xmlns:a="http://schemas.openxmlformats.org/drawingml/2006/main">
              <a:ext uri="{FF2B5EF4-FFF2-40B4-BE49-F238E27FC236}">
                <a16:creationId xmlns:a16="http://schemas.microsoft.com/office/drawing/2014/main" id="{92177AA6-2919-4FB7-BC17-D7070B38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743700"/>
            <a:ext cx="1476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7D5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7D54"/>
                </a:solidFill>
                <a:latin typeface="Arial"/>
                <a:ea typeface="Arial"/>
                <a:cs typeface="Arial"/>
              </a:rPr>
              <a:t>CONSENTED CATCH ACTIVITY</a:t>
            </a:r>
          </a:p>
        </p:txBody>
      </p:sp>
      <p:sp>
        <p:nvSpPr>
          <p:cNvPr id="55" name="s3-catch-0">
            <a:extLst xmlns:a="http://schemas.openxmlformats.org/drawingml/2006/main">
              <a:ext uri="{FF2B5EF4-FFF2-40B4-BE49-F238E27FC236}">
                <a16:creationId xmlns:a16="http://schemas.microsoft.com/office/drawing/2014/main" id="{4A2424E4-A7E7-4062-A81E-312F29A6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5913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9F2E2"/>
          </a:solidFill>
          <a:ln xmlns:a="http://schemas.openxmlformats.org/drawingml/2006/main" w="15240">
            <a:solidFill>
              <a:srgbClr val="2F7D54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Consented catch log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Separate optional purpose</a:t>
            </a:r>
          </a:p>
        </p:txBody>
      </p:sp>
      <p:sp>
        <p:nvSpPr>
          <p:cNvPr id="56" name="s3-catch-1">
            <a:extLst xmlns:a="http://schemas.openxmlformats.org/drawingml/2006/main">
              <a:ext uri="{FF2B5EF4-FFF2-40B4-BE49-F238E27FC236}">
                <a16:creationId xmlns:a16="http://schemas.microsoft.com/office/drawing/2014/main" id="{42AABE32-4804-4DDC-AB31-C7B20A14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5913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9F2E2"/>
          </a:solidFill>
          <a:ln xmlns:a="http://schemas.openxmlformats.org/drawingml/2006/main" w="15240">
            <a:solidFill>
              <a:srgbClr val="2F7D54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Auth and validation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Safety access remains independent</a:t>
            </a:r>
          </a:p>
        </p:txBody>
      </p:sp>
      <p:sp>
        <p:nvSpPr>
          <p:cNvPr id="57" name="s3-catch-2">
            <a:extLst xmlns:a="http://schemas.openxmlformats.org/drawingml/2006/main">
              <a:ext uri="{FF2B5EF4-FFF2-40B4-BE49-F238E27FC236}">
                <a16:creationId xmlns:a16="http://schemas.microsoft.com/office/drawing/2014/main" id="{3E2DF2F3-434B-4B6A-B077-0A73336F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5913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9F2E2"/>
          </a:solidFill>
          <a:ln xmlns:a="http://schemas.openxmlformats.org/drawingml/2006/main" w="15240">
            <a:solidFill>
              <a:srgbClr val="2F7D54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Privacy aggregation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Coarse cells and reporter threshold</a:t>
            </a:r>
          </a:p>
        </p:txBody>
      </p:sp>
      <p:sp>
        <p:nvSpPr>
          <p:cNvPr id="58" name="s3-catch-3">
            <a:extLst xmlns:a="http://schemas.openxmlformats.org/drawingml/2006/main">
              <a:ext uri="{FF2B5EF4-FFF2-40B4-BE49-F238E27FC236}">
                <a16:creationId xmlns:a16="http://schemas.microsoft.com/office/drawing/2014/main" id="{F847EF34-B43B-4D14-A8FE-92058AB6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5913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9F2E2"/>
          </a:solidFill>
          <a:ln xmlns:a="http://schemas.openxmlformats.org/drawingml/2006/main" w="15240">
            <a:solidFill>
              <a:srgbClr val="2F7D54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Recent activity surface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No guaranteed catch claim</a:t>
            </a:r>
          </a:p>
        </p:txBody>
      </p:sp>
      <p:sp>
        <p:nvSpPr>
          <p:cNvPr id="59" name="s3-catch-4">
            <a:extLst xmlns:a="http://schemas.openxmlformats.org/drawingml/2006/main">
              <a:ext uri="{FF2B5EF4-FFF2-40B4-BE49-F238E27FC236}">
                <a16:creationId xmlns:a16="http://schemas.microsoft.com/office/drawing/2014/main" id="{C76CF33B-55BD-41FC-B091-8FDDD1B0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6591300"/>
            <a:ext cx="223837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6F5FA"/>
          </a:solidFill>
          <a:ln xmlns:a="http://schemas.openxmlformats.org/drawingml/2006/main" w="15240">
            <a:solidFill>
              <a:srgbClr val="188090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Mobile and LGU view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No exact public positions</a:t>
            </a:r>
          </a:p>
        </p:txBody>
      </p:sp>
      <p:cxnSp>
        <p:nvCxnSpPr>
          <p:cNvPr id="126" name="s3-catch-link-0"/>
          <p:cNvCxnSpPr>
            <a:stCxn xmlns:a="http://schemas.openxmlformats.org/drawingml/2006/main" id="55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4286250" y="69818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F7D5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27" name="s3-catch-link-1"/>
          <p:cNvCxnSpPr>
            <a:stCxn xmlns:a="http://schemas.openxmlformats.org/drawingml/2006/main" id="56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6762750" y="69818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F7D5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28" name="s3-catch-link-2"/>
          <p:cNvCxnSpPr>
            <a:stCxn xmlns:a="http://schemas.openxmlformats.org/drawingml/2006/main" id="57" idx="3"/>
            <a:endCxn xmlns:a="http://schemas.openxmlformats.org/drawingml/2006/main" id="58" idx="1"/>
          </p:cNvCxnSpPr>
          <p:nvPr/>
        </p:nvCxnSpPr>
        <p:spPr>
          <a:xfrm xmlns:a="http://schemas.openxmlformats.org/drawingml/2006/main">
            <a:off x="9239250" y="69818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F7D5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29" name="s3-catch-link-3"/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11715750" y="69818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F7D5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64" name="s3-boundary">
            <a:extLst xmlns:a="http://schemas.openxmlformats.org/drawingml/2006/main">
              <a:ext uri="{FF2B5EF4-FFF2-40B4-BE49-F238E27FC236}">
                <a16:creationId xmlns:a16="http://schemas.microsoft.com/office/drawing/2014/main" id="{791116DF-D461-4E1A-9684-F3F28033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776287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Manual SOS stays operational when every model is unavailable. Model outputs support authorized human decisions.</a:t>
            </a:r>
          </a:p>
        </p:txBody>
      </p:sp>
      <p:sp>
        <p:nvSpPr>
          <p:cNvPr id="65" name="footer-left-3">
            <a:extLst xmlns:a="http://schemas.openxmlformats.org/drawingml/2006/main">
              <a:ext uri="{FF2B5EF4-FFF2-40B4-BE49-F238E27FC236}">
                <a16:creationId xmlns:a16="http://schemas.microsoft.com/office/drawing/2014/main" id="{87CB0435-BFF1-4235-AC1F-2697FFA5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153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677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B6677"/>
                </a:solidFill>
                <a:latin typeface="Arial"/>
                <a:ea typeface="Arial"/>
                <a:cs typeface="Arial"/>
              </a:rPr>
              <a:t>All shapes and connectors are editable PowerPoint objects</a:t>
            </a:r>
          </a:p>
        </p:txBody>
      </p:sp>
      <p:sp>
        <p:nvSpPr>
          <p:cNvPr id="66" name="footer-right-3">
            <a:extLst xmlns:a="http://schemas.openxmlformats.org/drawingml/2006/main">
              <a:ext uri="{FF2B5EF4-FFF2-40B4-BE49-F238E27FC236}">
                <a16:creationId xmlns:a16="http://schemas.microsoft.com/office/drawing/2014/main" id="{1E0D1472-ED35-435F-B052-5797722D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8115300"/>
            <a:ext cx="733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B6677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B6677"/>
                </a:solidFill>
                <a:latin typeface="Arial"/>
                <a:ea typeface="Arial"/>
                <a:cs typeface="Arial"/>
              </a:rPr>
              <a:t>Solid line: software path   Dashed line: optional or hardware path awaiting field verification</a:t>
            </a:r>
          </a:p>
        </p:txBody>
      </p:sp>
    </p:spTree>
    <p:extLst>
      <p:ext uri="{BB962C8B-B14F-4D97-AF65-F5344CB8AC3E}">
        <p14:creationId xmlns:p14="http://schemas.microsoft.com/office/powerpoint/2010/main" val="2515978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2026-09-18T14:42:01.5020000Z</dcterms:created>
  <dcterms:modified xsi:type="dcterms:W3CDTF">2026-09-18T14:42:01.5020000Z</dcterms:modified>
</coreProperties>
</file>