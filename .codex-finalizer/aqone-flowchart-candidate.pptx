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9a3157123e462e" /><Relationship Type="http://schemas.openxmlformats.org/officeDocument/2006/relationships/extended-properties" Target="/docProps/app.xml" Id="R3160ce3ef1544833" /><Relationship Type="http://schemas.openxmlformats.org/officeDocument/2006/relationships/officeDocument" Target="/ppt/presentation.xml" Id="R71475290138c48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bf790766274079"/>
  </p:sldMasterIdLst>
  <p:notesMasterIdLst>
    <p:notesMasterId xmlns:r="http://schemas.openxmlformats.org/officeDocument/2006/relationships" r:id="R05272dfd04034ec9"/>
  </p:notesMasterIdLst>
  <p:sldIdLst>
    <p:sldId xmlns:r="http://schemas.openxmlformats.org/officeDocument/2006/relationships" id="256" r:id="Rdeabc39fdc1d4fdc"/>
  </p:sldIdLst>
  <p:sldSz cx="13335000" cy="2000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5cbb31e9b484f" /><Relationship Type="http://schemas.openxmlformats.org/officeDocument/2006/relationships/slideMaster" Target="/ppt/slideMasters/slideMaster1.xml" Id="Rc1bf790766274079" /><Relationship Type="http://schemas.openxmlformats.org/officeDocument/2006/relationships/notesMaster" Target="/ppt/notesMasters/notesMaster1.xml" Id="R05272dfd04034ec9" /><Relationship Type="http://schemas.openxmlformats.org/officeDocument/2006/relationships/presProps" Target="/ppt/presProps.xml" Id="R3782e911194c4960" /><Relationship Type="http://schemas.openxmlformats.org/officeDocument/2006/relationships/tableStyles" Target="/ppt/tableStyles.xml" Id="R06fcf9d971964c28" /><Relationship Type="http://schemas.openxmlformats.org/officeDocument/2006/relationships/slide" Target="/ppt/slides/slide1.xml" Id="Rdeabc39fdc1d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ba9617e4a346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35d7fc54f840eb" /><Relationship Type="http://schemas.openxmlformats.org/officeDocument/2006/relationships/notesMaster" Target="/ppt/notesMasters/notesMaster1.xml" Id="R76de1da7bfbc41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AqOne architecture sources:</a:t>
            </a:r>
          </a:p>
          <a:p xmlns:a="http://schemas.openxmlformats.org/drawingml/2006/main">
            <a:r>
              <a:t>README.md, current status and implemented versus unverified paths.</a:t>
            </a:r>
          </a:p>
          <a:p xmlns:a="http://schemas.openxmlformats.org/drawingml/2006/main">
            <a:r>
              <a:t>docs/55_HYBRID_TRANSPORT_ARCHITECTURE_DECISION.md, active boat-pod and direct-to-shore topology.</a:t>
            </a:r>
          </a:p>
          <a:p xmlns:a="http://schemas.openxmlformats.org/drawingml/2006/main">
            <a:r>
              <a:t>docs/06_DELIVERY_STATES.md, saved, relayed, delivered and acknowledged authorities.</a:t>
            </a:r>
          </a:p>
          <a:p xmlns:a="http://schemas.openxmlformats.org/drawingml/2006/main">
            <a:r>
              <a:t>docs/Aqone_PRD (2).md, canonical product and AI scope.</a:t>
            </a:r>
          </a:p>
          <a:p xmlns:a="http://schemas.openxmlformats.org/drawingml/2006/main">
            <a:r>
              <a:t>docs/17_AI_EXPLAINED_SIMPLY.md, squall, trip anomaly, drift and browser danger-zone implementation.</a:t>
            </a:r>
          </a:p>
          <a:p xmlns:a="http://schemas.openxmlformats.org/drawingml/2006/main">
            <a:r>
              <a:t>web/js/dashboard/dashboard-live-sos.js, current three-second REST polling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c50ebdbce41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26d6e726434e00" /><Relationship Type="http://schemas.openxmlformats.org/officeDocument/2006/relationships/slideLayout" Target="/ppt/slideLayouts/slideLayout1.xml" Id="Re900e0ee8ab3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00e0ee8ab3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cebfb96f84cb1" /><Relationship Type="http://schemas.openxmlformats.org/officeDocument/2006/relationships/notesSlide" Target="/ppt/notesSlides/notesSlide1.xml" Id="Re5cea9934f1a42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deck-title">
            <a:extLst xmlns:a="http://schemas.openxmlformats.org/drawingml/2006/main">
              <a:ext uri="{FF2B5EF4-FFF2-40B4-BE49-F238E27FC236}">
                <a16:creationId xmlns:a16="http://schemas.microsoft.com/office/drawing/2014/main" id="{6148EA71-3134-45CB-811A-2FEF7EE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Detailed Architecture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5763FAD-93E5-4237-A97B-7B96B0C2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Offline SOS transport, safety intelligence and responder loop</a:t>
            </a:r>
          </a:p>
        </p:txBody>
      </p:sp>
      <p:sp>
        <p:nvSpPr>
          <p:cNvPr id="3" name="status-summary">
            <a:extLst xmlns:a="http://schemas.openxmlformats.org/drawingml/2006/main">
              <a:ext uri="{FF2B5EF4-FFF2-40B4-BE49-F238E27FC236}">
                <a16:creationId xmlns:a16="http://schemas.microsoft.com/office/drawing/2014/main" id="{2020F245-5CEE-4C4D-B86B-CAE29594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6700"/>
            <a:ext cx="3143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3335">
            <a:solidFill>
              <a:srgbClr val="D6B43C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SOURCE BUILT. FIELD VALIDATION PENDING</a:t>
            </a:r>
          </a:p>
        </p:txBody>
      </p:sp>
      <p:sp>
        <p:nvSpPr>
          <p:cNvPr id="4" name="inputs-boundary">
            <a:extLst xmlns:a="http://schemas.openxmlformats.org/drawingml/2006/main">
              <a:ext uri="{FF2B5EF4-FFF2-40B4-BE49-F238E27FC236}">
                <a16:creationId xmlns:a16="http://schemas.microsoft.com/office/drawing/2014/main" id="{D17FF9F3-892E-4B74-87D1-8B3F29D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47750"/>
            <a:ext cx="128016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5" name="inputs-title">
            <a:extLst xmlns:a="http://schemas.openxmlformats.org/drawingml/2006/main">
              <a:ext uri="{FF2B5EF4-FFF2-40B4-BE49-F238E27FC236}">
                <a16:creationId xmlns:a16="http://schemas.microsoft.com/office/drawing/2014/main" id="{52C11300-ED8D-4498-9919-E02F13A3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144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Input and Field Layer</a:t>
            </a:r>
          </a:p>
        </p:txBody>
      </p:sp>
      <p:sp>
        <p:nvSpPr>
          <p:cNvPr id="6" name="inputs-note">
            <a:extLst xmlns:a="http://schemas.openxmlformats.org/drawingml/2006/main">
              <a:ext uri="{FF2B5EF4-FFF2-40B4-BE49-F238E27FC236}">
                <a16:creationId xmlns:a16="http://schemas.microsoft.com/office/drawing/2014/main" id="{62ECC3F5-ED84-45C4-928D-B603559E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123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Evidence sources and human actions</a:t>
            </a:r>
          </a:p>
        </p:txBody>
      </p:sp>
      <p:sp>
        <p:nvSpPr>
          <p:cNvPr id="7" name="transport-boundary">
            <a:extLst xmlns:a="http://schemas.openxmlformats.org/drawingml/2006/main">
              <a:ext uri="{FF2B5EF4-FFF2-40B4-BE49-F238E27FC236}">
                <a16:creationId xmlns:a16="http://schemas.microsoft.com/office/drawing/2014/main" id="{FD4AF8A9-85DD-4325-8A35-6E8B717F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76625"/>
            <a:ext cx="128016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8" name="transport-title">
            <a:extLst xmlns:a="http://schemas.openxmlformats.org/drawingml/2006/main">
              <a:ext uri="{FF2B5EF4-FFF2-40B4-BE49-F238E27FC236}">
                <a16:creationId xmlns:a16="http://schemas.microsoft.com/office/drawing/2014/main" id="{FE9BDA55-B426-4E34-9D83-D0F5C627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Edge and Transport Layer</a:t>
            </a:r>
          </a:p>
        </p:txBody>
      </p:sp>
      <p:sp>
        <p:nvSpPr>
          <p:cNvPr id="9" name="transport-note">
            <a:extLst xmlns:a="http://schemas.openxmlformats.org/drawingml/2006/main">
              <a:ext uri="{FF2B5EF4-FFF2-40B4-BE49-F238E27FC236}">
                <a16:creationId xmlns:a16="http://schemas.microsoft.com/office/drawing/2014/main" id="{2242CF5B-6A57-4600-9130-F09A7C8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528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Store first, forward when a path exists</a:t>
            </a:r>
          </a:p>
        </p:txBody>
      </p:sp>
      <p:sp>
        <p:nvSpPr>
          <p:cNvPr id="10" name="backend-boundary">
            <a:extLst xmlns:a="http://schemas.openxmlformats.org/drawingml/2006/main">
              <a:ext uri="{FF2B5EF4-FFF2-40B4-BE49-F238E27FC236}">
                <a16:creationId xmlns:a16="http://schemas.microsoft.com/office/drawing/2014/main" id="{A4A59669-13A3-431B-95A9-E75A9EA4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381750"/>
            <a:ext cx="128016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1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FF6A7C55-91CE-4F22-BC21-390ADC59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and Data Layer</a:t>
            </a:r>
          </a:p>
        </p:txBody>
      </p:sp>
      <p:sp>
        <p:nvSpPr>
          <p:cNvPr id="12" name="backend-note">
            <a:extLst xmlns:a="http://schemas.openxmlformats.org/drawingml/2006/main">
              <a:ext uri="{FF2B5EF4-FFF2-40B4-BE49-F238E27FC236}">
                <a16:creationId xmlns:a16="http://schemas.microsoft.com/office/drawing/2014/main" id="{E5986ADA-0ACD-4B4B-94DA-DB95CFC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457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Provider-neutral logical architecture</a:t>
            </a:r>
          </a:p>
        </p:txBody>
      </p:sp>
      <p:sp>
        <p:nvSpPr>
          <p:cNvPr id="13" name="decision-boundary">
            <a:extLst xmlns:a="http://schemas.openxmlformats.org/drawingml/2006/main">
              <a:ext uri="{FF2B5EF4-FFF2-40B4-BE49-F238E27FC236}">
                <a16:creationId xmlns:a16="http://schemas.microsoft.com/office/drawing/2014/main" id="{DB13422D-F3B0-4D84-A1ED-B3900C76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810625"/>
            <a:ext cx="12801600" cy="65722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4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BCF45179-8F16-458F-8F42-E50215E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87730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Processing and Decision Support Layer</a:t>
            </a:r>
          </a:p>
        </p:txBody>
      </p:sp>
      <p:sp>
        <p:nvSpPr>
          <p:cNvPr id="15" name="decision-note">
            <a:extLst xmlns:a="http://schemas.openxmlformats.org/drawingml/2006/main">
              <a:ext uri="{FF2B5EF4-FFF2-40B4-BE49-F238E27FC236}">
                <a16:creationId xmlns:a16="http://schemas.microsoft.com/office/drawing/2014/main" id="{1729F8E7-6AF0-4CCD-9212-690CB9B7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8868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Manual SOS remains independent of every model</a:t>
            </a:r>
          </a:p>
        </p:txBody>
      </p:sp>
      <p:sp>
        <p:nvSpPr>
          <p:cNvPr id="16" name="outputs-boundary">
            <a:extLst xmlns:a="http://schemas.openxmlformats.org/drawingml/2006/main">
              <a:ext uri="{FF2B5EF4-FFF2-40B4-BE49-F238E27FC236}">
                <a16:creationId xmlns:a16="http://schemas.microsoft.com/office/drawing/2014/main" id="{28F8C02B-5796-49B5-9B7F-77F5B49C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573375"/>
            <a:ext cx="128016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solidFill>
              <a:srgbClr val="738096"/>
            </a:solidFill>
            <a:prstDash val="dash"/>
          </a:ln>
        </p:spPr>
      </p:sp>
      <p:sp>
        <p:nvSpPr>
          <p:cNvPr id="17" name="outputs-title">
            <a:extLst xmlns:a="http://schemas.openxmlformats.org/drawingml/2006/main">
              <a:ext uri="{FF2B5EF4-FFF2-40B4-BE49-F238E27FC236}">
                <a16:creationId xmlns:a16="http://schemas.microsoft.com/office/drawing/2014/main" id="{7E17FBA0-1F8A-479C-B2D4-C7B07275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40050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 and Human Response Layer</a:t>
            </a:r>
          </a:p>
        </p:txBody>
      </p:sp>
      <p:sp>
        <p:nvSpPr>
          <p:cNvPr id="18" name="outputs-note">
            <a:extLst xmlns:a="http://schemas.openxmlformats.org/drawingml/2006/main">
              <a:ext uri="{FF2B5EF4-FFF2-40B4-BE49-F238E27FC236}">
                <a16:creationId xmlns:a16="http://schemas.microsoft.com/office/drawing/2014/main" id="{BE24A546-B2BB-4D34-8E27-E9BE1107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6495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Human authority remains explicit</a:t>
            </a:r>
          </a:p>
        </p:txBody>
      </p:sp>
      <p:sp>
        <p:nvSpPr>
          <p:cNvPr id="19" name="input-mobile">
            <a:extLst xmlns:a="http://schemas.openxmlformats.org/drawingml/2006/main">
              <a:ext uri="{FF2B5EF4-FFF2-40B4-BE49-F238E27FC236}">
                <a16:creationId xmlns:a16="http://schemas.microsoft.com/office/drawing/2014/main" id="{6F36B0CF-EB66-42E9-8248-A9FA943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mobile app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Manual SOS, GPS, timestamp, trip check-ins, optional catch logs</a:t>
            </a:r>
          </a:p>
        </p:txBody>
      </p:sp>
      <p:sp>
        <p:nvSpPr>
          <p:cNvPr id="20" name="input-pod">
            <a:extLst xmlns:a="http://schemas.openxmlformats.org/drawingml/2006/main">
              <a:ext uri="{FF2B5EF4-FFF2-40B4-BE49-F238E27FC236}">
                <a16:creationId xmlns:a16="http://schemas.microsoft.com/office/drawing/2014/main" id="{85B91C60-739E-40ED-B6FB-C98ACCFE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Physical SOS button, GNSS, battery and radio events</a:t>
            </a:r>
          </a:p>
        </p:txBody>
      </p:sp>
      <p:sp>
        <p:nvSpPr>
          <p:cNvPr id="21" name="input-sensor">
            <a:extLst xmlns:a="http://schemas.openxmlformats.org/drawingml/2006/main">
              <a:ext uri="{FF2B5EF4-FFF2-40B4-BE49-F238E27FC236}">
                <a16:creationId xmlns:a16="http://schemas.microsoft.com/office/drawing/2014/main" id="{41332021-A329-4F81-AC4C-7FCFF3E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5240">
            <a:solidFill>
              <a:srgbClr val="7380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Stationary sensor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Fixed pressure, current observations and device health</a:t>
            </a:r>
          </a:p>
        </p:txBody>
      </p:sp>
      <p:sp>
        <p:nvSpPr>
          <p:cNvPr id="22" name="input-external">
            <a:extLst xmlns:a="http://schemas.openxmlformats.org/drawingml/2006/main">
              <a:ext uri="{FF2B5EF4-FFF2-40B4-BE49-F238E27FC236}">
                <a16:creationId xmlns:a16="http://schemas.microsoft.com/office/drawing/2014/main" id="{4FDB83F2-4715-4B81-B129-C2E37CD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data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Open-Meteo weather and marine observations</a:t>
            </a:r>
          </a:p>
        </p:txBody>
      </p:sp>
      <p:sp>
        <p:nvSpPr>
          <p:cNvPr id="23" name="input-responder">
            <a:extLst xmlns:a="http://schemas.openxmlformats.org/drawingml/2006/main">
              <a:ext uri="{FF2B5EF4-FFF2-40B4-BE49-F238E27FC236}">
                <a16:creationId xmlns:a16="http://schemas.microsoft.com/office/drawing/2014/main" id="{8072B7EB-5764-4F44-9793-507684E9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6383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actions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Acknowledge, ETA, resolution and searched sectors</a:t>
            </a:r>
          </a:p>
        </p:txBody>
      </p:sp>
      <p:sp>
        <p:nvSpPr>
          <p:cNvPr id="24" name="transport-phone">
            <a:extLst xmlns:a="http://schemas.openxmlformats.org/drawingml/2006/main">
              <a:ext uri="{FF2B5EF4-FFF2-40B4-BE49-F238E27FC236}">
                <a16:creationId xmlns:a16="http://schemas.microsoft.com/office/drawing/2014/main" id="{4D6214F6-37F4-4D0E-9F3F-2CCC9852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2669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SQLite outbox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Persists an SOS before any network attempt
Delivery state: SAVED</a:t>
            </a:r>
          </a:p>
        </p:txBody>
      </p:sp>
      <p:sp>
        <p:nvSpPr>
          <p:cNvPr id="25" name="transport-direct">
            <a:extLst xmlns:a="http://schemas.openxmlformats.org/drawingml/2006/main">
              <a:ext uri="{FF2B5EF4-FFF2-40B4-BE49-F238E27FC236}">
                <a16:creationId xmlns:a16="http://schemas.microsoft.com/office/drawing/2014/main" id="{EE6ACCA7-972C-4C99-9A78-3EF85FBC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9240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8558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Direct internet path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HTTPS when cellular or WiFi internet is available</a:t>
            </a:r>
          </a:p>
        </p:txBody>
      </p:sp>
      <p:sp>
        <p:nvSpPr>
          <p:cNvPr id="26" name="transport-pod">
            <a:extLst xmlns:a="http://schemas.openxmlformats.org/drawingml/2006/main">
              <a:ext uri="{FF2B5EF4-FFF2-40B4-BE49-F238E27FC236}">
                <a16:creationId xmlns:a16="http://schemas.microsoft.com/office/drawing/2014/main" id="{977F24B7-9B77-4D2B-B3E9-2A9B7AC4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 flash queue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Accepts before acknowledgement and retries after outages
Delivery state: RELAYED</a:t>
            </a:r>
          </a:p>
        </p:txBody>
      </p:sp>
      <p:sp>
        <p:nvSpPr>
          <p:cNvPr id="27" name="transport-relay">
            <a:extLst xmlns:a="http://schemas.openxmlformats.org/drawingml/2006/main">
              <a:ext uri="{FF2B5EF4-FFF2-40B4-BE49-F238E27FC236}">
                <a16:creationId xmlns:a16="http://schemas.microsoft.com/office/drawing/2014/main" id="{33B05EB4-8D2F-470B-B948-27E3AD1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2143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Optional relay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TTL flooding and duplicate suppression only where field tests justify it</a:t>
            </a:r>
          </a:p>
        </p:txBody>
      </p:sp>
      <p:sp>
        <p:nvSpPr>
          <p:cNvPr id="28" name="transport-gateway">
            <a:extLst xmlns:a="http://schemas.openxmlformats.org/drawingml/2006/main">
              <a:ext uri="{FF2B5EF4-FFF2-40B4-BE49-F238E27FC236}">
                <a16:creationId xmlns:a16="http://schemas.microsoft.com/office/drawing/2014/main" id="{DAE43A03-6D84-4FBE-88FE-BD511E53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Tall shoreline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Verifies LoAM signature, maps device identity and forwards over HTTPS</a:t>
            </a:r>
          </a:p>
        </p:txBody>
      </p:sp>
      <p:sp>
        <p:nvSpPr>
          <p:cNvPr id="29" name="transport-return">
            <a:extLst xmlns:a="http://schemas.openxmlformats.org/drawingml/2006/main">
              <a:ext uri="{FF2B5EF4-FFF2-40B4-BE49-F238E27FC236}">
                <a16:creationId xmlns:a16="http://schemas.microsoft.com/office/drawing/2014/main" id="{5C123E56-71AA-4584-B5A0-160B50D7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95750"/>
            <a:ext cx="1666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Return path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Warnings, acknowledgement and ETA when radio or internet is available</a:t>
            </a:r>
          </a:p>
        </p:txBody>
      </p:sp>
      <p:cxnSp>
        <p:nvCxnSpPr>
          <p:cNvPr id="161" name="mobile-input-to-outbox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571625" y="2705100"/>
            <a:ext cx="152400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2" name="pod-input-to-queue"/>
          <p:cNvCxnSpPr>
            <a:stCxn xmlns:a="http://schemas.openxmlformats.org/drawingml/2006/main" id="20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067175" y="2705100"/>
            <a:ext cx="481013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3" name="sensor-input-to-relay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562725" y="2705100"/>
            <a:ext cx="509588" cy="2486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64" name="phone-to-pod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857500" y="45958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4" name="label-wifi">
            <a:extLst xmlns:a="http://schemas.openxmlformats.org/drawingml/2006/main">
              <a:ext uri="{FF2B5EF4-FFF2-40B4-BE49-F238E27FC236}">
                <a16:creationId xmlns:a16="http://schemas.microsoft.com/office/drawing/2014/main" id="{A38091FC-44BD-4916-BADF-2D1E48D8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WIFI HTTP</a:t>
            </a:r>
          </a:p>
        </p:txBody>
      </p:sp>
      <p:cxnSp>
        <p:nvCxnSpPr>
          <p:cNvPr id="166" name="phone-to-direct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24025" y="50958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7" name="pod-direct-lora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762625" y="4595813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7" name="label-direct-lora">
            <a:extLst xmlns:a="http://schemas.openxmlformats.org/drawingml/2006/main">
              <a:ext uri="{FF2B5EF4-FFF2-40B4-BE49-F238E27FC236}">
                <a16:creationId xmlns:a16="http://schemas.microsoft.com/office/drawing/2014/main" id="{718BFE15-E152-4D26-8F5E-13AAC61C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1095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DIRECT LoRa</a:t>
            </a:r>
          </a:p>
        </p:txBody>
      </p:sp>
      <p:cxnSp>
        <p:nvCxnSpPr>
          <p:cNvPr id="169" name="pod-to-relay"/>
          <p:cNvCxnSpPr>
            <a:stCxn xmlns:a="http://schemas.openxmlformats.org/drawingml/2006/main" id="26" idx="2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548188" y="5095875"/>
            <a:ext cx="1452563" cy="4572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70" name="relay-to-gateway"/>
          <p:cNvCxnSpPr>
            <a:stCxn xmlns:a="http://schemas.openxmlformats.org/drawingml/2006/main" id="27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8143875" y="5095875"/>
            <a:ext cx="1595438" cy="4572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0" name="label-optional-relay">
            <a:extLst xmlns:a="http://schemas.openxmlformats.org/drawingml/2006/main">
              <a:ext uri="{FF2B5EF4-FFF2-40B4-BE49-F238E27FC236}">
                <a16:creationId xmlns:a16="http://schemas.microsoft.com/office/drawing/2014/main" id="{8ABF6F43-DAFD-4E84-9623-FECD04F0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626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OPTIONAL RELAY</a:t>
            </a:r>
          </a:p>
        </p:txBody>
      </p:sp>
      <p:cxnSp>
        <p:nvCxnSpPr>
          <p:cNvPr id="172" name="gateway-return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0953750" y="4595813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2" name="backend-api">
            <a:extLst xmlns:a="http://schemas.openxmlformats.org/drawingml/2006/main">
              <a:ext uri="{FF2B5EF4-FFF2-40B4-BE49-F238E27FC236}">
                <a16:creationId xmlns:a16="http://schemas.microsoft.com/office/drawing/2014/main" id="{3658DC47-B4C8-4CD3-9D4A-EEA7379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72300"/>
            <a:ext cx="7239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95E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 application services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Authentication and roles, validation and deduplication, SOS and sensor ingest, incident and advisory workflows</a:t>
            </a:r>
          </a:p>
        </p:txBody>
      </p:sp>
      <p:sp>
        <p:nvSpPr>
          <p:cNvPr id="43" name="backend-db">
            <a:extLst xmlns:a="http://schemas.openxmlformats.org/drawingml/2006/main">
              <a:ext uri="{FF2B5EF4-FFF2-40B4-BE49-F238E27FC236}">
                <a16:creationId xmlns:a16="http://schemas.microsoft.com/office/drawing/2014/main" id="{80F31765-6F06-403A-B19B-07A33E0C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972300"/>
            <a:ext cx="3000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95E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56174"/>
                </a:solidFill>
                <a:latin typeface="Arial"/>
                <a:ea typeface="Arial"/>
                <a:cs typeface="Arial"/>
              </a:rPr>
              <a:t>SOS and responder actions
Trips and contact events
Sensor, advisory, model and audit records</a:t>
            </a:r>
          </a:p>
        </p:txBody>
      </p:sp>
      <p:sp>
        <p:nvSpPr>
          <p:cNvPr id="44" name="backend-polling">
            <a:extLst xmlns:a="http://schemas.openxmlformats.org/drawingml/2006/main">
              <a:ext uri="{FF2B5EF4-FFF2-40B4-BE49-F238E27FC236}">
                <a16:creationId xmlns:a16="http://schemas.microsoft.com/office/drawing/2014/main" id="{EC99C2B9-0286-4C1F-A971-53865D0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91500"/>
            <a:ext cx="43338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3335">
            <a:solidFill>
              <a:srgbClr val="395EB7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Current dashboard path: protected REST polling every 3 seconds</a:t>
            </a:r>
          </a:p>
        </p:txBody>
      </p:sp>
      <p:cxnSp>
        <p:nvCxnSpPr>
          <p:cNvPr id="176" name="gateway-to-api"/>
          <p:cNvCxnSpPr>
            <a:stCxn xmlns:a="http://schemas.openxmlformats.org/drawingml/2006/main" id="28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4619625" y="5095875"/>
            <a:ext cx="5119688" cy="1876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95EB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6" name="label-https">
            <a:extLst xmlns:a="http://schemas.openxmlformats.org/drawingml/2006/main">
              <a:ext uri="{FF2B5EF4-FFF2-40B4-BE49-F238E27FC236}">
                <a16:creationId xmlns:a16="http://schemas.microsoft.com/office/drawing/2014/main" id="{53AB0FE6-EE62-4E1C-A75B-42F3F179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579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cxnSp>
        <p:nvCxnSpPr>
          <p:cNvPr id="178" name="direct-to-api"/>
          <p:cNvCxnSpPr>
            <a:stCxn xmlns:a="http://schemas.openxmlformats.org/drawingml/2006/main" id="25" idx="2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1000125" y="5876925"/>
            <a:ext cx="723900" cy="164306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395E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79" name="external-to-api"/>
          <p:cNvCxnSpPr>
            <a:stCxn xmlns:a="http://schemas.openxmlformats.org/drawingml/2006/main" id="22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4619625" y="2705100"/>
            <a:ext cx="4438650" cy="426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5872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0" name="responder-to-api"/>
          <p:cNvCxnSpPr>
            <a:stCxn xmlns:a="http://schemas.openxmlformats.org/drawingml/2006/main" id="23" idx="2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8239125" y="2705100"/>
            <a:ext cx="3314700" cy="48148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C5872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1" name="api-to-db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239125" y="7519988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5EB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51" name="lane-sos-header">
            <a:extLst xmlns:a="http://schemas.openxmlformats.org/drawingml/2006/main">
              <a:ext uri="{FF2B5EF4-FFF2-40B4-BE49-F238E27FC236}">
                <a16:creationId xmlns:a16="http://schemas.microsoft.com/office/drawing/2014/main" id="{A0DA4C80-658E-42C9-9ECC-0CAAEA95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Manual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AI-independent emergency path</a:t>
            </a:r>
          </a:p>
        </p:txBody>
      </p:sp>
      <p:sp>
        <p:nvSpPr>
          <p:cNvPr id="52" name="lane-weather-header">
            <a:extLst xmlns:a="http://schemas.openxmlformats.org/drawingml/2006/main">
              <a:ext uri="{FF2B5EF4-FFF2-40B4-BE49-F238E27FC236}">
                <a16:creationId xmlns:a16="http://schemas.microsoft.com/office/drawing/2014/main" id="{DA5A6100-6DA6-49E9-A440-95653EC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warning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Squall and marine danger</a:t>
            </a:r>
          </a:p>
        </p:txBody>
      </p:sp>
      <p:sp>
        <p:nvSpPr>
          <p:cNvPr id="53" name="lane-trip-header">
            <a:extLst xmlns:a="http://schemas.openxmlformats.org/drawingml/2006/main">
              <a:ext uri="{FF2B5EF4-FFF2-40B4-BE49-F238E27FC236}">
                <a16:creationId xmlns:a16="http://schemas.microsoft.com/office/drawing/2014/main" id="{E907C106-6FBE-48BA-8E58-1A9FE083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Trip anomaly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Overdue verification support</a:t>
            </a:r>
          </a:p>
        </p:txBody>
      </p:sp>
      <p:sp>
        <p:nvSpPr>
          <p:cNvPr id="54" name="lane-drift-header">
            <a:extLst xmlns:a="http://schemas.openxmlformats.org/drawingml/2006/main">
              <a:ext uri="{FF2B5EF4-FFF2-40B4-BE49-F238E27FC236}">
                <a16:creationId xmlns:a16="http://schemas.microsoft.com/office/drawing/2014/main" id="{574C8184-87FD-4960-9DB5-DD0F148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Drift and search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Physics-based decision support</a:t>
            </a:r>
          </a:p>
        </p:txBody>
      </p:sp>
      <p:sp>
        <p:nvSpPr>
          <p:cNvPr id="55" name="lane-catch-header">
            <a:extLst xmlns:a="http://schemas.openxmlformats.org/drawingml/2006/main">
              <a:ext uri="{FF2B5EF4-FFF2-40B4-BE49-F238E27FC236}">
                <a16:creationId xmlns:a16="http://schemas.microsoft.com/office/drawing/2014/main" id="{2E7532A1-842A-4B30-9D21-DD941ECC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410700"/>
            <a:ext cx="2266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Consented catch activity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50">
                <a:solidFill>
                  <a:srgbClr val="556174"/>
                </a:solidFill>
                <a:latin typeface="Arial"/>
                <a:ea typeface="Arial"/>
                <a:cs typeface="Arial"/>
              </a:rPr>
              <a:t>Separate optional data purpose</a:t>
            </a:r>
          </a:p>
        </p:txBody>
      </p:sp>
      <p:sp>
        <p:nvSpPr>
          <p:cNvPr id="56" name="sos-validate">
            <a:extLst xmlns:a="http://schemas.openxmlformats.org/drawingml/2006/main">
              <a:ext uri="{FF2B5EF4-FFF2-40B4-BE49-F238E27FC236}">
                <a16:creationId xmlns:a16="http://schemas.microsoft.com/office/drawing/2014/main" id="{3CC9D45A-7C5C-448C-8216-9C3B8DF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Validate and deduplicate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Accept distress even before vessel registration</a:t>
            </a:r>
          </a:p>
        </p:txBody>
      </p:sp>
      <p:sp>
        <p:nvSpPr>
          <p:cNvPr id="57" name="sos-persist">
            <a:extLst xmlns:a="http://schemas.openxmlformats.org/drawingml/2006/main">
              <a:ext uri="{FF2B5EF4-FFF2-40B4-BE49-F238E27FC236}">
                <a16:creationId xmlns:a16="http://schemas.microsoft.com/office/drawing/2014/main" id="{5343F659-CC74-4707-A994-C65EB94B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Persist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Backend becomes authority for DELIVERED</a:t>
            </a:r>
          </a:p>
        </p:txBody>
      </p:sp>
      <p:sp>
        <p:nvSpPr>
          <p:cNvPr id="58" name="sos-dispatch">
            <a:extLst xmlns:a="http://schemas.openxmlformats.org/drawingml/2006/main">
              <a:ext uri="{FF2B5EF4-FFF2-40B4-BE49-F238E27FC236}">
                <a16:creationId xmlns:a16="http://schemas.microsoft.com/office/drawing/2014/main" id="{8C53E3ED-3C4E-408B-A8F7-047C25BC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workflow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Acknowledge, ETA, reply and resolution</a:t>
            </a:r>
          </a:p>
        </p:txBody>
      </p:sp>
      <p:sp>
        <p:nvSpPr>
          <p:cNvPr id="59" name="sos-result">
            <a:extLst xmlns:a="http://schemas.openxmlformats.org/drawingml/2006/main">
              <a:ext uri="{FF2B5EF4-FFF2-40B4-BE49-F238E27FC236}">
                <a16:creationId xmlns:a16="http://schemas.microsoft.com/office/drawing/2014/main" id="{D8329D73-1B39-4338-9347-83A4F3A8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3335">
            <a:solidFill>
              <a:srgbClr val="C73F4D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DELIVERED / ACKNOWLEDGED</a:t>
            </a:r>
          </a:p>
        </p:txBody>
      </p:sp>
      <p:sp>
        <p:nvSpPr>
          <p:cNvPr id="60" name="weather-quality">
            <a:extLst xmlns:a="http://schemas.openxmlformats.org/drawingml/2006/main">
              <a:ext uri="{FF2B5EF4-FFF2-40B4-BE49-F238E27FC236}">
                <a16:creationId xmlns:a16="http://schemas.microsoft.com/office/drawing/2014/main" id="{C85F9912-BA31-4D5D-9A65-E77795F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Quality and freshness gate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Reject stale, missing or insufficient observations</a:t>
            </a:r>
          </a:p>
        </p:txBody>
      </p:sp>
      <p:sp>
        <p:nvSpPr>
          <p:cNvPr id="61" name="weather-models">
            <a:extLst xmlns:a="http://schemas.openxmlformats.org/drawingml/2006/main">
              <a:ext uri="{FF2B5EF4-FFF2-40B4-BE49-F238E27FC236}">
                <a16:creationId xmlns:a16="http://schemas.microsoft.com/office/drawing/2014/main" id="{A522607F-A4A5-4741-A98D-F0F44FE8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Two distinct models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Backend squall nowcast
Browser danger-zone GBDT</a:t>
            </a:r>
          </a:p>
        </p:txBody>
      </p:sp>
      <p:sp>
        <p:nvSpPr>
          <p:cNvPr id="62" name="weather-advisory">
            <a:extLst xmlns:a="http://schemas.openxmlformats.org/drawingml/2006/main">
              <a:ext uri="{FF2B5EF4-FFF2-40B4-BE49-F238E27FC236}">
                <a16:creationId xmlns:a16="http://schemas.microsoft.com/office/drawing/2014/main" id="{7B8283D5-FFA9-4E6F-9A00-0E8847FA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Advisory candidate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Shows source, age, confidence and limitations</a:t>
            </a:r>
          </a:p>
        </p:txBody>
      </p:sp>
      <p:sp>
        <p:nvSpPr>
          <p:cNvPr id="63" name="weather-result">
            <a:extLst xmlns:a="http://schemas.openxmlformats.org/drawingml/2006/main">
              <a:ext uri="{FF2B5EF4-FFF2-40B4-BE49-F238E27FC236}">
                <a16:creationId xmlns:a16="http://schemas.microsoft.com/office/drawing/2014/main" id="{B44C01B5-6862-49B8-A1DD-29CE4AAA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WARNING CANDIDATE</a:t>
            </a:r>
          </a:p>
        </p:txBody>
      </p:sp>
      <p:sp>
        <p:nvSpPr>
          <p:cNvPr id="64" name="trip-history">
            <a:extLst xmlns:a="http://schemas.openxmlformats.org/drawingml/2006/main">
              <a:ext uri="{FF2B5EF4-FFF2-40B4-BE49-F238E27FC236}">
                <a16:creationId xmlns:a16="http://schemas.microsoft.com/office/drawing/2014/main" id="{7AA051D2-0B7A-409E-9D64-0E03DBA4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Contact and trip history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Only observations at or before decision time</a:t>
            </a:r>
          </a:p>
        </p:txBody>
      </p:sp>
      <p:sp>
        <p:nvSpPr>
          <p:cNvPr id="65" name="trip-profile">
            <a:extLst xmlns:a="http://schemas.openxmlformats.org/drawingml/2006/main">
              <a:ext uri="{FF2B5EF4-FFF2-40B4-BE49-F238E27FC236}">
                <a16:creationId xmlns:a16="http://schemas.microsoft.com/office/drawing/2014/main" id="{95726143-226D-41A2-94B6-B0537CA8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Per-vessel profile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Compares duration and route against that vessel</a:t>
            </a:r>
          </a:p>
        </p:txBody>
      </p:sp>
      <p:sp>
        <p:nvSpPr>
          <p:cNvPr id="66" name="trip-case">
            <a:extLst xmlns:a="http://schemas.openxmlformats.org/drawingml/2006/main">
              <a:ext uri="{FF2B5EF4-FFF2-40B4-BE49-F238E27FC236}">
                <a16:creationId xmlns:a16="http://schemas.microsoft.com/office/drawing/2014/main" id="{5CCC8913-FAEB-4E5E-A406-7868D4F7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Verification and escalation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Silence alone never proves distress</a:t>
            </a:r>
          </a:p>
        </p:txBody>
      </p:sp>
      <p:sp>
        <p:nvSpPr>
          <p:cNvPr id="67" name="trip-result">
            <a:extLst xmlns:a="http://schemas.openxmlformats.org/drawingml/2006/main">
              <a:ext uri="{FF2B5EF4-FFF2-40B4-BE49-F238E27FC236}">
                <a16:creationId xmlns:a16="http://schemas.microsoft.com/office/drawing/2014/main" id="{D7ABDFC2-3B7F-4D68-B0E1-CD0EDD9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REVIEW</a:t>
            </a:r>
          </a:p>
        </p:txBody>
      </p:sp>
      <p:sp>
        <p:nvSpPr>
          <p:cNvPr id="68" name="drift-datum">
            <a:extLst xmlns:a="http://schemas.openxmlformats.org/drawingml/2006/main">
              <a:ext uri="{FF2B5EF4-FFF2-40B4-BE49-F238E27FC236}">
                <a16:creationId xmlns:a16="http://schemas.microsoft.com/office/drawing/2014/main" id="{BE43DC88-85F2-4630-8C1E-B99F40EC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Confirmed incident datum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Last reliable fix, object class, wind, current and coastline</a:t>
            </a:r>
          </a:p>
        </p:txBody>
      </p:sp>
      <p:sp>
        <p:nvSpPr>
          <p:cNvPr id="69" name="drift-model">
            <a:extLst xmlns:a="http://schemas.openxmlformats.org/drawingml/2006/main">
              <a:ext uri="{FF2B5EF4-FFF2-40B4-BE49-F238E27FC236}">
                <a16:creationId xmlns:a16="http://schemas.microsoft.com/office/drawing/2014/main" id="{BA1FEE1E-CE67-4EDC-BABE-B4238D8A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Monte Carlo leeway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Particle paths with land stranding and uncertainty</a:t>
            </a:r>
          </a:p>
        </p:txBody>
      </p:sp>
      <p:sp>
        <p:nvSpPr>
          <p:cNvPr id="70" name="drift-search">
            <a:extLst xmlns:a="http://schemas.openxmlformats.org/drawingml/2006/main">
              <a:ext uri="{FF2B5EF4-FFF2-40B4-BE49-F238E27FC236}">
                <a16:creationId xmlns:a16="http://schemas.microsoft.com/office/drawing/2014/main" id="{C8C3A904-8DE0-4D22-B1C9-134F2CD2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posterior update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Negative search evidence shifts remaining probability</a:t>
            </a:r>
          </a:p>
        </p:txBody>
      </p:sp>
      <p:sp>
        <p:nvSpPr>
          <p:cNvPr id="71" name="drift-result">
            <a:extLst xmlns:a="http://schemas.openxmlformats.org/drawingml/2006/main">
              <a:ext uri="{FF2B5EF4-FFF2-40B4-BE49-F238E27FC236}">
                <a16:creationId xmlns:a16="http://schemas.microsoft.com/office/drawing/2014/main" id="{E506AAD3-CEB6-4606-BBC5-D41091DF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3335">
            <a:solidFill>
              <a:srgbClr val="7552A8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CONTOURS 50 / 75 / 95%</a:t>
            </a:r>
          </a:p>
        </p:txBody>
      </p:sp>
      <p:sp>
        <p:nvSpPr>
          <p:cNvPr id="72" name="catch-consent">
            <a:extLst xmlns:a="http://schemas.openxmlformats.org/drawingml/2006/main">
              <a:ext uri="{FF2B5EF4-FFF2-40B4-BE49-F238E27FC236}">
                <a16:creationId xmlns:a16="http://schemas.microsoft.com/office/drawing/2014/main" id="{D297C790-1B04-4C1B-9554-3963E76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02870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Explicitly consented logs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Safety access never depends on participation</a:t>
            </a:r>
          </a:p>
        </p:txBody>
      </p:sp>
      <p:sp>
        <p:nvSpPr>
          <p:cNvPr id="73" name="catch-privacy">
            <a:extLst xmlns:a="http://schemas.openxmlformats.org/drawingml/2006/main">
              <a:ext uri="{FF2B5EF4-FFF2-40B4-BE49-F238E27FC236}">
                <a16:creationId xmlns:a16="http://schemas.microsoft.com/office/drawing/2014/main" id="{71F0ACB5-BB62-4984-8368-E3CE740B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33475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Privacy aggregation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Coarse cells and minimum independent reporters</a:t>
            </a:r>
          </a:p>
        </p:txBody>
      </p:sp>
      <p:sp>
        <p:nvSpPr>
          <p:cNvPr id="74" name="catch-activity">
            <a:extLst xmlns:a="http://schemas.openxmlformats.org/drawingml/2006/main">
              <a:ext uri="{FF2B5EF4-FFF2-40B4-BE49-F238E27FC236}">
                <a16:creationId xmlns:a16="http://schemas.microsoft.com/office/drawing/2014/main" id="{9B777437-8E8B-49DD-A9DF-11654EE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382500"/>
            <a:ext cx="2266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Recent activity surface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56174"/>
                </a:solidFill>
                <a:latin typeface="Arial"/>
                <a:ea typeface="Arial"/>
                <a:cs typeface="Arial"/>
              </a:rPr>
              <a:t>No guaranteed catch and no exact public locations</a:t>
            </a:r>
          </a:p>
        </p:txBody>
      </p:sp>
      <p:sp>
        <p:nvSpPr>
          <p:cNvPr id="75" name="catch-result">
            <a:extLst xmlns:a="http://schemas.openxmlformats.org/drawingml/2006/main">
              <a:ext uri="{FF2B5EF4-FFF2-40B4-BE49-F238E27FC236}">
                <a16:creationId xmlns:a16="http://schemas.microsoft.com/office/drawing/2014/main" id="{826A1101-5615-4160-877C-76C99C0C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3525500"/>
            <a:ext cx="2133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3335">
            <a:solidFill>
              <a:srgbClr val="2F7D54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COARSE ACTIVITY</a:t>
            </a:r>
          </a:p>
        </p:txBody>
      </p:sp>
      <p:cxnSp>
        <p:nvCxnSpPr>
          <p:cNvPr id="207" name="sos-flow-1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609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8" name="sos-flow-2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1609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9" name="sos-flow-3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609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0" name="weather-flow-1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40862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1" name="weather-flow-2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40862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2" name="weather-flow-3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0862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3" name="trip-flow-1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6562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4" name="trip-flow-2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6562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5" name="trip-flow-3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6562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6" name="drift-flow-1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90392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7" name="drift-flow-2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90392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8" name="drift-flow-3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90392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9" name="catch-flow-1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11515725" y="11106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0" name="catch-flow-2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1515725" y="12153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1" name="catch-flow-3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1515725" y="132016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2" name="api-to-sos"/>
          <p:cNvCxnSpPr>
            <a:stCxn xmlns:a="http://schemas.openxmlformats.org/drawingml/2006/main" id="42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1609725" y="8067675"/>
            <a:ext cx="30099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3" name="api-to-weather"/>
          <p:cNvCxnSpPr>
            <a:stCxn xmlns:a="http://schemas.openxmlformats.org/drawingml/2006/main" id="42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 flipH="1">
            <a:off x="4086225" y="8067675"/>
            <a:ext cx="5334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4" name="api-to-trip"/>
          <p:cNvCxnSpPr>
            <a:stCxn xmlns:a="http://schemas.openxmlformats.org/drawingml/2006/main" id="4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4619625" y="8067675"/>
            <a:ext cx="19431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5" name="api-to-drift"/>
          <p:cNvCxnSpPr>
            <a:stCxn xmlns:a="http://schemas.openxmlformats.org/drawingml/2006/main" id="42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4619625" y="8067675"/>
            <a:ext cx="44196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6" name="api-to-catch"/>
          <p:cNvCxnSpPr>
            <a:stCxn xmlns:a="http://schemas.openxmlformats.org/drawingml/2006/main" id="4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4619625" y="8067675"/>
            <a:ext cx="6896100" cy="1343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7" name="sos-header-to-flow"/>
          <p:cNvCxnSpPr>
            <a:stCxn xmlns:a="http://schemas.openxmlformats.org/drawingml/2006/main" id="51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6097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8" name="weather-header-to-flow"/>
          <p:cNvCxnSpPr>
            <a:stCxn xmlns:a="http://schemas.openxmlformats.org/drawingml/2006/main" id="52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40862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9" name="trip-header-to-flow"/>
          <p:cNvCxnSpPr>
            <a:stCxn xmlns:a="http://schemas.openxmlformats.org/drawingml/2006/main" id="5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65627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0" name="drift-header-to-flow"/>
          <p:cNvCxnSpPr>
            <a:stCxn xmlns:a="http://schemas.openxmlformats.org/drawingml/2006/main" id="54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90392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1" name="catch-header-to-flow"/>
          <p:cNvCxnSpPr>
            <a:stCxn xmlns:a="http://schemas.openxmlformats.org/drawingml/2006/main" id="55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11515725" y="100774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1" name="decision-boundary">
            <a:extLst xmlns:a="http://schemas.openxmlformats.org/drawingml/2006/main">
              <a:ext uri="{FF2B5EF4-FFF2-40B4-BE49-F238E27FC236}">
                <a16:creationId xmlns:a16="http://schemas.microsoft.com/office/drawing/2014/main" id="{C5D778F1-097B-4BF6-B9E7-56EE03C1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573250"/>
            <a:ext cx="5334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3335">
            <a:solidFill>
              <a:srgbClr val="D6B43C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MODEL OUTPUTS ADVISE; AUTHORIZED PEOPLE DECIDE</a:t>
            </a:r>
          </a:p>
        </p:txBody>
      </p:sp>
      <p:sp>
        <p:nvSpPr>
          <p:cNvPr id="102" name="decision-caveat">
            <a:extLst xmlns:a="http://schemas.openxmlformats.org/drawingml/2006/main">
              <a:ext uri="{FF2B5EF4-FFF2-40B4-BE49-F238E27FC236}">
                <a16:creationId xmlns:a16="http://schemas.microsoft.com/office/drawing/2014/main" id="{DEE00174-4062-43F2-9723-64A184AA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018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Squall calibration is synthetic. Drift awaits live buoy current telemetry. Catch workflow remains a pilot foundation.</a:t>
            </a:r>
          </a:p>
        </p:txBody>
      </p:sp>
      <p:sp>
        <p:nvSpPr>
          <p:cNvPr id="103" name="output-mobile">
            <a:extLst xmlns:a="http://schemas.openxmlformats.org/drawingml/2006/main">
              <a:ext uri="{FF2B5EF4-FFF2-40B4-BE49-F238E27FC236}">
                <a16:creationId xmlns:a16="http://schemas.microsoft.com/office/drawing/2014/main" id="{96A0FB45-FF99-4C1C-9378-6EED2C12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mobile app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Delivery states and responder ETA
Warnings and forecast freshness
Optional coarse activity</a:t>
            </a:r>
          </a:p>
        </p:txBody>
      </p:sp>
      <p:sp>
        <p:nvSpPr>
          <p:cNvPr id="104" name="output-dashboard">
            <a:extLst xmlns:a="http://schemas.openxmlformats.org/drawingml/2006/main">
              <a:ext uri="{FF2B5EF4-FFF2-40B4-BE49-F238E27FC236}">
                <a16:creationId xmlns:a16="http://schemas.microsoft.com/office/drawing/2014/main" id="{966D4555-B941-41BF-8695-521F257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MDRRMO / PCG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Live SOS and acknowledgement
Overdue review and drift contours
Network and feed freshness</a:t>
            </a:r>
          </a:p>
        </p:txBody>
      </p:sp>
      <p:sp>
        <p:nvSpPr>
          <p:cNvPr id="105" name="output-lgu">
            <a:extLst xmlns:a="http://schemas.openxmlformats.org/drawingml/2006/main">
              <a:ext uri="{FF2B5EF4-FFF2-40B4-BE49-F238E27FC236}">
                <a16:creationId xmlns:a16="http://schemas.microsoft.com/office/drawing/2014/main" id="{678F4ECA-D2DA-4DBC-B2F3-75F40AF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2877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D7C7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85725" tIns="76200" rIns="8572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LGU / BFAR aggregated 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556174"/>
                </a:solidFill>
                <a:latin typeface="Arial"/>
                <a:ea typeface="Arial"/>
                <a:cs typeface="Arial"/>
              </a:rPr>
              <a:t>Consented coarse catch activity
No identifiable safety trip trails
Pilot workflow not field validated</a:t>
            </a:r>
          </a:p>
        </p:txBody>
      </p:sp>
      <p:cxnSp>
        <p:nvCxnSpPr>
          <p:cNvPr id="237" name="sos-to-dashboard"/>
          <p:cNvCxnSpPr>
            <a:stCxn xmlns:a="http://schemas.openxmlformats.org/drawingml/2006/main" id="59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609725" y="13963650"/>
            <a:ext cx="505777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8" name="weather-to-mobile"/>
          <p:cNvCxnSpPr>
            <a:stCxn xmlns:a="http://schemas.openxmlformats.org/drawingml/2006/main" id="63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2428875" y="13963650"/>
            <a:ext cx="165735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9" name="trip-to-dashboard"/>
          <p:cNvCxnSpPr>
            <a:stCxn xmlns:a="http://schemas.openxmlformats.org/drawingml/2006/main" id="67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6562725" y="13963650"/>
            <a:ext cx="10477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0" name="drift-to-dashboard"/>
          <p:cNvCxnSpPr>
            <a:stCxn xmlns:a="http://schemas.openxmlformats.org/drawingml/2006/main" id="71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 flipH="1">
            <a:off x="6667500" y="13963650"/>
            <a:ext cx="2371725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1" name="catch-to-lgu"/>
          <p:cNvCxnSpPr>
            <a:stCxn xmlns:a="http://schemas.openxmlformats.org/drawingml/2006/main" id="75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 flipH="1">
            <a:off x="10906125" y="13963650"/>
            <a:ext cx="60960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2" name="catch-to-mobile"/>
          <p:cNvCxnSpPr>
            <a:stCxn xmlns:a="http://schemas.openxmlformats.org/drawingml/2006/main" id="75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2428875" y="13963650"/>
            <a:ext cx="9086850" cy="2324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7D54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43" name="dashboard-to-mobile"/>
          <p:cNvCxnSpPr>
            <a:stCxn xmlns:a="http://schemas.openxmlformats.org/drawingml/2006/main" id="104" idx="1"/>
            <a:endCxn xmlns:a="http://schemas.openxmlformats.org/drawingml/2006/main" id="103" idx="3"/>
          </p:cNvCxnSpPr>
          <p:nvPr/>
        </p:nvCxnSpPr>
        <p:spPr>
          <a:xfrm xmlns:a="http://schemas.openxmlformats.org/drawingml/2006/main" flipH="1">
            <a:off x="4048125" y="1697831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7C7A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13" name="label-return-user">
            <a:extLst xmlns:a="http://schemas.openxmlformats.org/drawingml/2006/main">
              <a:ext uri="{FF2B5EF4-FFF2-40B4-BE49-F238E27FC236}">
                <a16:creationId xmlns:a16="http://schemas.microsoft.com/office/drawing/2014/main" id="{6458CCB5-8377-43E1-A3C5-6897590F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792700"/>
            <a:ext cx="3905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2D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56174"/>
                </a:solidFill>
                <a:latin typeface="Arial"/>
                <a:ea typeface="Arial"/>
                <a:cs typeface="Arial"/>
              </a:rPr>
              <a:t>ACK, ETA AND WARNINGS WHEN A RETURN PATH EXISTS</a:t>
            </a:r>
          </a:p>
        </p:txBody>
      </p:sp>
      <p:sp>
        <p:nvSpPr>
          <p:cNvPr id="114" name="authority-pill">
            <a:extLst xmlns:a="http://schemas.openxmlformats.org/drawingml/2006/main">
              <a:ext uri="{FF2B5EF4-FFF2-40B4-BE49-F238E27FC236}">
                <a16:creationId xmlns:a16="http://schemas.microsoft.com/office/drawing/2014/main" id="{2E105E90-3412-444C-861B-FC871649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983200"/>
            <a:ext cx="73342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8FA"/>
          </a:solidFill>
          <a:ln xmlns:a="http://schemas.openxmlformats.org/drawingml/2006/main" w="13335">
            <a:solidFill>
              <a:srgbClr val="1D7C7A"/>
            </a:solidFill>
            <a:prstDash val="solid"/>
          </a:ln>
        </p:spPr>
        <p:txBody>
          <a:bodyPr xmlns:a="http://schemas.openxmlformats.org/drawingml/2006/main" lIns="66675" tIns="28575" rIns="666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acknowledgement creates ACKNOWLEDGED. Resolution remains a separate incident state.</a:t>
            </a:r>
          </a:p>
        </p:txBody>
      </p:sp>
      <p:sp>
        <p:nvSpPr>
          <p:cNvPr id="115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59FB54E0-C575-4C87-B566-48546D8D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707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116" name="legend-hardware-dot">
            <a:extLst xmlns:a="http://schemas.openxmlformats.org/drawingml/2006/main">
              <a:ext uri="{FF2B5EF4-FFF2-40B4-BE49-F238E27FC236}">
                <a16:creationId xmlns:a16="http://schemas.microsoft.com/office/drawing/2014/main" id="{1AB25423-A43A-466D-9A34-ADF3530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1F0"/>
          </a:solidFill>
          <a:ln xmlns:a="http://schemas.openxmlformats.org/drawingml/2006/main" w="9525">
            <a:solidFill>
              <a:srgbClr val="1D7C7A"/>
            </a:solidFill>
            <a:prstDash val="solid"/>
          </a:ln>
        </p:spPr>
      </p:sp>
      <p:sp>
        <p:nvSpPr>
          <p:cNvPr id="117" name="legend-hardware-label">
            <a:extLst xmlns:a="http://schemas.openxmlformats.org/drawingml/2006/main">
              <a:ext uri="{FF2B5EF4-FFF2-40B4-BE49-F238E27FC236}">
                <a16:creationId xmlns:a16="http://schemas.microsoft.com/office/drawing/2014/main" id="{FEBF0615-F0D3-4A4F-9441-D1071341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Field / edge</a:t>
            </a:r>
          </a:p>
        </p:txBody>
      </p:sp>
      <p:sp>
        <p:nvSpPr>
          <p:cNvPr id="118" name="legend-backend-dot">
            <a:extLst xmlns:a="http://schemas.openxmlformats.org/drawingml/2006/main">
              <a:ext uri="{FF2B5EF4-FFF2-40B4-BE49-F238E27FC236}">
                <a16:creationId xmlns:a16="http://schemas.microsoft.com/office/drawing/2014/main" id="{9D1FC0ED-B640-4D66-8B09-0F6D64BD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7FF"/>
          </a:solidFill>
          <a:ln xmlns:a="http://schemas.openxmlformats.org/drawingml/2006/main" w="9525">
            <a:solidFill>
              <a:srgbClr val="395EB7"/>
            </a:solidFill>
            <a:prstDash val="solid"/>
          </a:ln>
        </p:spPr>
      </p:sp>
      <p:sp>
        <p:nvSpPr>
          <p:cNvPr id="119" name="legend-backend-label">
            <a:extLst xmlns:a="http://schemas.openxmlformats.org/drawingml/2006/main">
              <a:ext uri="{FF2B5EF4-FFF2-40B4-BE49-F238E27FC236}">
                <a16:creationId xmlns:a16="http://schemas.microsoft.com/office/drawing/2014/main" id="{231E54E0-4282-4898-9764-F6981ED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/ data</a:t>
            </a:r>
          </a:p>
        </p:txBody>
      </p:sp>
      <p:sp>
        <p:nvSpPr>
          <p:cNvPr id="120" name="legend-ai-dot">
            <a:extLst xmlns:a="http://schemas.openxmlformats.org/drawingml/2006/main">
              <a:ext uri="{FF2B5EF4-FFF2-40B4-BE49-F238E27FC236}">
                <a16:creationId xmlns:a16="http://schemas.microsoft.com/office/drawing/2014/main" id="{39B4B927-8AC3-4608-A8B6-91635053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BFA"/>
          </a:solidFill>
          <a:ln xmlns:a="http://schemas.openxmlformats.org/drawingml/2006/main" w="9525">
            <a:solidFill>
              <a:srgbClr val="7552A8"/>
            </a:solidFill>
            <a:prstDash val="solid"/>
          </a:ln>
        </p:spPr>
      </p:sp>
      <p:sp>
        <p:nvSpPr>
          <p:cNvPr id="121" name="legend-ai-label">
            <a:extLst xmlns:a="http://schemas.openxmlformats.org/drawingml/2006/main">
              <a:ext uri="{FF2B5EF4-FFF2-40B4-BE49-F238E27FC236}">
                <a16:creationId xmlns:a16="http://schemas.microsoft.com/office/drawing/2014/main" id="{52606E84-02E4-42E3-BAF4-53BC6B32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Model / simulation</a:t>
            </a:r>
          </a:p>
        </p:txBody>
      </p:sp>
      <p:sp>
        <p:nvSpPr>
          <p:cNvPr id="122" name="legend-safety-dot">
            <a:extLst xmlns:a="http://schemas.openxmlformats.org/drawingml/2006/main">
              <a:ext uri="{FF2B5EF4-FFF2-40B4-BE49-F238E27FC236}">
                <a16:creationId xmlns:a16="http://schemas.microsoft.com/office/drawing/2014/main" id="{F82FAB10-46E1-4246-88A9-6D303C89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DA"/>
          </a:solidFill>
          <a:ln xmlns:a="http://schemas.openxmlformats.org/drawingml/2006/main" w="9525">
            <a:solidFill>
              <a:srgbClr val="C73F4D"/>
            </a:solidFill>
            <a:prstDash val="solid"/>
          </a:ln>
        </p:spPr>
      </p:sp>
      <p:sp>
        <p:nvSpPr>
          <p:cNvPr id="123" name="legend-safety-label">
            <a:extLst xmlns:a="http://schemas.openxmlformats.org/drawingml/2006/main">
              <a:ext uri="{FF2B5EF4-FFF2-40B4-BE49-F238E27FC236}">
                <a16:creationId xmlns:a16="http://schemas.microsoft.com/office/drawing/2014/main" id="{8F80E98D-26DC-4EB0-834D-48BD16B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Emergency</a:t>
            </a:r>
          </a:p>
        </p:txBody>
      </p:sp>
      <p:sp>
        <p:nvSpPr>
          <p:cNvPr id="124" name="legend-external-dot">
            <a:extLst xmlns:a="http://schemas.openxmlformats.org/drawingml/2006/main">
              <a:ext uri="{FF2B5EF4-FFF2-40B4-BE49-F238E27FC236}">
                <a16:creationId xmlns:a16="http://schemas.microsoft.com/office/drawing/2014/main" id="{78C365C4-4F52-4AC9-BF55-1807DF9A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8C5"/>
          </a:solidFill>
          <a:ln xmlns:a="http://schemas.openxmlformats.org/drawingml/2006/main" w="9525">
            <a:solidFill>
              <a:srgbClr val="C5872D"/>
            </a:solidFill>
            <a:prstDash val="solid"/>
          </a:ln>
        </p:spPr>
      </p:sp>
      <p:sp>
        <p:nvSpPr>
          <p:cNvPr id="125" name="legend-external-label">
            <a:extLst xmlns:a="http://schemas.openxmlformats.org/drawingml/2006/main">
              <a:ext uri="{FF2B5EF4-FFF2-40B4-BE49-F238E27FC236}">
                <a16:creationId xmlns:a16="http://schemas.microsoft.com/office/drawing/2014/main" id="{73B13DF4-C764-42ED-8DF0-13C7C2BA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External / human</a:t>
            </a:r>
          </a:p>
        </p:txBody>
      </p:sp>
      <p:sp>
        <p:nvSpPr>
          <p:cNvPr id="126" name="legend-output-dot">
            <a:extLst xmlns:a="http://schemas.openxmlformats.org/drawingml/2006/main">
              <a:ext uri="{FF2B5EF4-FFF2-40B4-BE49-F238E27FC236}">
                <a16:creationId xmlns:a16="http://schemas.microsoft.com/office/drawing/2014/main" id="{46E1F474-EDB0-4D4C-AFE6-5DC452E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F5FA"/>
          </a:solidFill>
          <a:ln xmlns:a="http://schemas.openxmlformats.org/drawingml/2006/main" w="9525">
            <a:solidFill>
              <a:srgbClr val="1D7C7A"/>
            </a:solidFill>
            <a:prstDash val="solid"/>
          </a:ln>
        </p:spPr>
      </p:sp>
      <p:sp>
        <p:nvSpPr>
          <p:cNvPr id="127" name="legend-output-label">
            <a:extLst xmlns:a="http://schemas.openxmlformats.org/drawingml/2006/main">
              <a:ext uri="{FF2B5EF4-FFF2-40B4-BE49-F238E27FC236}">
                <a16:creationId xmlns:a16="http://schemas.microsoft.com/office/drawing/2014/main" id="{26ECF0A7-07BA-43B6-8F70-7A568C7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28" name="legend-fisheries-dot">
            <a:extLst xmlns:a="http://schemas.openxmlformats.org/drawingml/2006/main">
              <a:ext uri="{FF2B5EF4-FFF2-40B4-BE49-F238E27FC236}">
                <a16:creationId xmlns:a16="http://schemas.microsoft.com/office/drawing/2014/main" id="{201FF151-A9BB-4204-A5D2-48B9EEC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909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2E2"/>
          </a:solidFill>
          <a:ln xmlns:a="http://schemas.openxmlformats.org/drawingml/2006/main" w="9525">
            <a:solidFill>
              <a:srgbClr val="2F7D54"/>
            </a:solidFill>
            <a:prstDash val="solid"/>
          </a:ln>
        </p:spPr>
      </p:sp>
      <p:sp>
        <p:nvSpPr>
          <p:cNvPr id="129" name="legend-fisheries-label">
            <a:extLst xmlns:a="http://schemas.openxmlformats.org/drawingml/2006/main">
              <a:ext uri="{FF2B5EF4-FFF2-40B4-BE49-F238E27FC236}">
                <a16:creationId xmlns:a16="http://schemas.microsoft.com/office/drawing/2014/main" id="{FE428AB9-DD7B-4D9B-8470-0757F9C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9021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Fisheries</a:t>
            </a:r>
          </a:p>
        </p:txBody>
      </p:sp>
      <p:sp>
        <p:nvSpPr>
          <p:cNvPr id="130" name="legend-lines">
            <a:extLst xmlns:a="http://schemas.openxmlformats.org/drawingml/2006/main">
              <a:ext uri="{FF2B5EF4-FFF2-40B4-BE49-F238E27FC236}">
                <a16:creationId xmlns:a16="http://schemas.microsoft.com/office/drawing/2014/main" id="{0DA7E2E9-B409-4337-9A25-48C905F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431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Solid: implemented software path     Dashed: hardware, optional or return path awaiting field verification</a:t>
            </a:r>
          </a:p>
        </p:txBody>
      </p:sp>
      <p:sp>
        <p:nvSpPr>
          <p:cNvPr id="131" name="legend-status">
            <a:extLst xmlns:a="http://schemas.openxmlformats.org/drawingml/2006/main">
              <a:ext uri="{FF2B5EF4-FFF2-40B4-BE49-F238E27FC236}">
                <a16:creationId xmlns:a16="http://schemas.microsoft.com/office/drawing/2014/main" id="{344C6A8D-4063-4EA5-AAEB-D35D184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4119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617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56174"/>
                </a:solidFill>
                <a:latin typeface="Arial"/>
                <a:ea typeface="Arial"/>
                <a:cs typeface="Arial"/>
              </a:rPr>
              <a:t>Current status: software is locally tested; public deployment, real-device LoRa range and local field-model validation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952611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2026-09-18T14:01:05.5950000Z</dcterms:created>
  <dcterms:modified xsi:type="dcterms:W3CDTF">2026-09-18T14:01:05.5950000Z</dcterms:modified>
</coreProperties>
</file>